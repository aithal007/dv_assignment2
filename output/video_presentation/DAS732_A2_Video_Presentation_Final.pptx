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gif" ContentType="image/gif"/>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16x9"/>
  <p:notesSz cx="6858000" cy="9144000"/>
  <p:defaultTextStyle>
    <a:defPPr>
      <a:defRPr lang="en-IN"/>
    </a:defPPr>
    <a:lvl1pPr marL="0" algn="l" defTabSz="457200" rtl="0" eaLnBrk="1" latinLnBrk="0" hangingPunct="1">
      <a:defRPr sz="1800" kern="1200" lang="en-IN">
        <a:solidFill>
          <a:schemeClr val="tx1"/>
        </a:solidFill>
        <a:latin typeface="+mn-lt"/>
        <a:ea typeface="+mn-ea"/>
        <a:cs typeface="+mn-cs"/>
      </a:defRPr>
    </a:lvl1pPr>
    <a:lvl2pPr marL="457200" algn="l" defTabSz="457200" rtl="0" eaLnBrk="1" latinLnBrk="0" hangingPunct="1">
      <a:defRPr sz="1800" kern="1200" lang="en-IN">
        <a:solidFill>
          <a:schemeClr val="tx1"/>
        </a:solidFill>
        <a:latin typeface="+mn-lt"/>
        <a:ea typeface="+mn-ea"/>
        <a:cs typeface="+mn-cs"/>
      </a:defRPr>
    </a:lvl2pPr>
    <a:lvl3pPr marL="914400" algn="l" defTabSz="457200" rtl="0" eaLnBrk="1" latinLnBrk="0" hangingPunct="1">
      <a:defRPr sz="1800" kern="1200" lang="en-IN">
        <a:solidFill>
          <a:schemeClr val="tx1"/>
        </a:solidFill>
        <a:latin typeface="+mn-lt"/>
        <a:ea typeface="+mn-ea"/>
        <a:cs typeface="+mn-cs"/>
      </a:defRPr>
    </a:lvl3pPr>
    <a:lvl4pPr marL="1371600" algn="l" defTabSz="457200" rtl="0" eaLnBrk="1" latinLnBrk="0" hangingPunct="1">
      <a:defRPr sz="1800" kern="1200" lang="en-IN">
        <a:solidFill>
          <a:schemeClr val="tx1"/>
        </a:solidFill>
        <a:latin typeface="+mn-lt"/>
        <a:ea typeface="+mn-ea"/>
        <a:cs typeface="+mn-cs"/>
      </a:defRPr>
    </a:lvl4pPr>
    <a:lvl5pPr marL="1828800" algn="l" defTabSz="457200" rtl="0" eaLnBrk="1" latinLnBrk="0" hangingPunct="1">
      <a:defRPr sz="1800" kern="1200" lang="en-IN">
        <a:solidFill>
          <a:schemeClr val="tx1"/>
        </a:solidFill>
        <a:latin typeface="+mn-lt"/>
        <a:ea typeface="+mn-ea"/>
        <a:cs typeface="+mn-cs"/>
      </a:defRPr>
    </a:lvl5pPr>
    <a:lvl6pPr marL="2286000" algn="l" defTabSz="457200" rtl="0" eaLnBrk="1" latinLnBrk="0" hangingPunct="1">
      <a:defRPr sz="1800" kern="1200" lang="en-IN">
        <a:solidFill>
          <a:schemeClr val="tx1"/>
        </a:solidFill>
        <a:latin typeface="+mn-lt"/>
        <a:ea typeface="+mn-ea"/>
        <a:cs typeface="+mn-cs"/>
      </a:defRPr>
    </a:lvl6pPr>
    <a:lvl7pPr marL="2743200" algn="l" defTabSz="457200" rtl="0" eaLnBrk="1" latinLnBrk="0" hangingPunct="1">
      <a:defRPr sz="1800" kern="1200" lang="en-IN">
        <a:solidFill>
          <a:schemeClr val="tx1"/>
        </a:solidFill>
        <a:latin typeface="+mn-lt"/>
        <a:ea typeface="+mn-ea"/>
        <a:cs typeface="+mn-cs"/>
      </a:defRPr>
    </a:lvl7pPr>
    <a:lvl8pPr marL="3200400" algn="l" defTabSz="457200" rtl="0" eaLnBrk="1" latinLnBrk="0" hangingPunct="1">
      <a:defRPr sz="1800" kern="1200" lang="en-IN">
        <a:solidFill>
          <a:schemeClr val="tx1"/>
        </a:solidFill>
        <a:latin typeface="+mn-lt"/>
        <a:ea typeface="+mn-ea"/>
        <a:cs typeface="+mn-cs"/>
      </a:defRPr>
    </a:lvl8pPr>
    <a:lvl9pPr marL="3657600" algn="l" defTabSz="457200" rtl="0" eaLnBrk="1" latinLnBrk="0" hangingPunct="1">
      <a:defRPr sz="1800" kern="1200" lang="en-I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I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IN"/>
          </a:p>
        </p:txBody>
      </p:sp>
    </p:spTree>
  </p:cSld>
  <p:clrMap bg1="lt1" tx1="dk1" bg2="lt2" tx2="dk2" accent1="accent1" accent2="accent2" accent3="accent3" accent4="accent4" accent5="accent5" accent6="accent6" hlink="hlink" folHlink="folHlink"/>
  <p:hf/>
  <p:notesStyle>
    <a:lvl1pPr marL="0" algn="l">
      <a:defRPr sz="1200" lang="en-I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What does the summary leave out?</a:t>
            </a:r>
          </a:p>
          <a:p>
            <a:pPr/>
            <a:endParaRPr lang="en-IN" dirty="0"/>
          </a:p>
          <a:p>
            <a:pPr/>
            <a:r>
              <a:rPr lang="en-IN" dirty="0"/>
              <a:t>Speaker: Parikshith</a:t>
            </a:r>
          </a:p>
          <a:p>
            <a:pPr/>
            <a:r>
              <a:rPr lang="en-IN" dirty="0"/>
              <a:t>Raw recording: 0:00-0:10 (10 seconds)</a:t>
            </a:r>
          </a:p>
          <a:p>
            <a:pPr/>
            <a:r>
              <a:rPr lang="en-IN" dirty="0"/>
              <a:t>Chapter: Internet</a:t>
            </a:r>
          </a:p>
          <a:p>
            <a:pPr/>
            <a:endParaRPr lang="en-IN" dirty="0"/>
          </a:p>
          <a:p>
            <a:pPr/>
            <a:r>
              <a:rPr lang="en-IN" dirty="0"/>
              <a:t>Narration</a:t>
            </a:r>
          </a:p>
          <a:p>
            <a:pPr/>
            <a:endParaRPr lang="en-IN" dirty="0"/>
          </a:p>
          <a:p>
            <a:pPr/>
            <a:r>
              <a:rPr lang="en-IN" dirty="0"/>
              <a:t>What do averages and snapshots leave out? We examine Internet first, then Weather, following the evidence to a conclusion.</a:t>
            </a:r>
          </a:p>
          <a:p>
            <a:pPr/>
            <a:endParaRPr lang="en-IN" dirty="0"/>
          </a:p>
          <a:p>
            <a:pPr/>
            <a:r>
              <a:rPr lang="en-IN" dirty="0"/>
              <a:t>On screen</a:t>
            </a:r>
          </a:p>
          <a:p>
            <a:pPr/>
            <a:endParaRPr lang="en-IN" dirty="0"/>
          </a:p>
          <a:p>
            <a:pPr/>
            <a:r>
              <a:rPr lang="en-IN" dirty="0"/>
              <a:t>Look inside groups. Follow the measurements. Check time.</a:t>
            </a:r>
          </a:p>
          <a:p>
            <a:pPr/>
            <a:endParaRPr lang="en-IN" dirty="0"/>
          </a:p>
          <a:p>
            <a:pPr/>
            <a:r>
              <a:rPr lang="en-IN" dirty="0"/>
              <a:t>Actions</a:t>
            </a:r>
          </a:p>
          <a:p>
            <a:pPr/>
            <a:endParaRPr lang="en-IN" dirty="0"/>
          </a:p>
          <a:p>
            <a:pPr/>
            <a:r>
              <a:rPr lang="en-IN" dirty="0"/>
              <a:t>State the main question. Explain that Internet finishes before Weather starts. Do not list every method.</a:t>
            </a:r>
          </a:p>
          <a:p>
            <a:pPr/>
            <a:endParaRPr lang="en-IN" dirty="0"/>
          </a:p>
          <a:p>
            <a:pPr/>
            <a:r>
              <a:rPr lang="en-IN" dirty="0"/>
              <a:t>Transition</a:t>
            </a:r>
          </a:p>
          <a:p>
            <a:pPr/>
            <a:endParaRPr lang="en-IN" dirty="0"/>
          </a:p>
          <a:p>
            <a:pPr/>
            <a:r>
              <a:rPr lang="en-IN" dirty="0"/>
              <a:t>Look inside groups. Follow the measurements. Check time.</a:t>
            </a:r>
          </a:p>
          <a:p>
            <a:pPr/>
            <a:endParaRPr lang="en-IN" dirty="0"/>
          </a:p>
          <a:p>
            <a:pPr/>
            <a:r>
              <a:rPr lang="en-IN" dirty="0"/>
              <a:t>Source</a:t>
            </a:r>
          </a:p>
          <a:p>
            <a:pPr/>
            <a:endParaRPr lang="en-IN" dirty="0"/>
          </a:p>
          <a:p>
            <a:pPr/>
            <a:r>
              <a:rPr lang="en-IN" dirty="0"/>
              <a:t>Current report: question and conclusions. Current report: ../pdf/DAS732_A2_Report_IEEE.pdf</a:t>
            </a:r>
          </a:p>
        </p:txBody>
      </p:sp>
    </p:spTree>
  </p:cSld>
  <p:clrMapOvr>
    <a:masterClrMapping/>
  </p:clrMapOvr>
</p: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idx="2"/>
          </ns0:nvPr>
        </ns0:nvSpPr>
        <ns0:spPr/>
      </ns0:sp>
      <ns0:sp>
        <ns0:nvSpPr>
          <ns0:cNvPr id="3" name="Notes Placeholder 2"/>
          <ns0:cNvSpPr>
            <ns1:spLocks noGrp="1"/>
          </ns0:cNvSpPr>
          <ns0:nvPr>
            <ns0:ph type="body" sz="quarter" idx="3"/>
          </ns0:nvPr>
        </ns0:nvSpPr>
        <ns0:spPr/>
        <ns0:txBody>
          <ns1:bodyPr/>
          <ns1:lstStyle/>
          <ns1:p>
            <ns1:pPr/>
            <ns1:r>
              <ns1:rPr lang="en-IN" dirty="0"/>
              <ns1:t>Parikshith | 10-35s raw
Madam confirmed that similarity networks are suitable. We now score all fifteen thousand nine hundred and thirty-one country pairs. This histogram shows their similarities. Our declared ninety-fifth-percentile threshold keeps seven hundred and ninety-seven links. Twelve countries have no pair above it, but remain in the data. The browser can show every pair or change the threshold.
Actions: Point to the histogram and cutoff. State that the top five percent is a transparent starting view, not an optimal or significant threshold. Keep the retained-edge count and isolated-node count visible.
Source: Updated report Figure 1; data/network_threshold_audit.json; all-pair scores.</ns1:t>
            </ns1:r>
          </ns1:p>
          <ns1:p>
            <ns1:pPr/>
            <ns1:endParaRPr lang="en-IN" dirty="0"/>
          </ns1:p>
          <ns1:p>
            <ns1:pPr/>
            <ns1:r>
              <ns1:rPr lang="en-IN" dirty="0"/>
              <ns1:t/>
            </ns1:r>
          </ns1:p>
          <ns1:p>
            <ns1:pPr/>
            <ns1:r>
              <ns1:rPr lang="en-IN" dirty="0"/>
              <ns1:t/>
            </ns1:r>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0:txBody>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idx="2"/>
          </ns0:nvPr>
        </ns0:nvSpPr>
        <ns0:spPr/>
      </ns0:sp>
      <ns0:sp>
        <ns0:nvSpPr>
          <ns0:cNvPr id="3" name="Notes Placeholder 2"/>
          <ns0:cNvSpPr>
            <ns1:spLocks noGrp="1"/>
          </ns0:cNvSpPr>
          <ns0:nvPr>
            <ns0:ph type="body" sz="quarter" idx="3"/>
          </ns0:nvPr>
        </ns0:nvSpPr>
        <ns0:spPr/>
        <ns0:txBody>
          <ns1:bodyPr/>
          <ns1:lstStyle/>
          <ns1:p>
            <ns1:pPr/>
            <ns1:r>
              <ns1:rPr lang="en-IN" dirty="0"/>
              <ns1:t>Parikshith | 35-65s raw
NodeTrix now uses the filtered graph. Group five retains ninety-three of its one hundred and five possible pairs. This excerpt shows five of its fifteen countries. Afghanistan has fourteen links within the full group, while Angola has seven. Teal means above our similarity threshold; white means below it. A shared group label still hides different relationships. These links describe profiles, not physical cables.
Actions: Read the five-country excerpt. Compare Afghanistan and Angola; state that 14 and 7 are degrees in the full 15-country group, not only in this excerpt. Explain the Angola-Burundi white cell. Do not count excerpt cells as the full 93 edges.
Source: Updated report Figure 3; output/network_revision/nodetrix_detail_matrix.csv and facts.json.</ns1:t>
            </ns1:r>
          </ns1:p>
          <ns1:p>
            <ns1:pPr/>
            <ns1:endParaRPr lang="en-IN" dirty="0"/>
          </ns1:p>
          <ns1:p>
            <ns1:pPr/>
            <ns1:r>
              <ns1:rPr lang="en-IN" dirty="0"/>
              <ns1:t/>
            </ns1:r>
          </ns1:p>
          <ns1:p>
            <ns1:pPr/>
            <ns1:r>
              <ns1:rPr lang="en-IN" dirty="0"/>
              <ns1:t/>
            </ns1:r>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1:p>
            <ns1:pPr/>
            <ns1:endParaRPr lang="en-IN" dirty="0"/>
          </ns1:p>
          <ns1:p>
            <ns1:pPr/>
            <ns1:r>
              <ns1:rPr lang="en-IN" dirty="0"/>
              <ns1:t/>
            </ns1:r>
          </ns1:p>
        </ns0:txBody>
      </ns0:sp>
    </ns0:spTree>
  </ns0:cSld>
  <ns0:clrMapOvr>
    <ns1:masterClrMapping/>
  </ns0:clrMapOvr>
</ns0: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Does high internet use mean high fixed broadband?</a:t>
            </a:r>
          </a:p>
          <a:p>
            <a:pPr/>
            <a:endParaRPr lang="en-IN" dirty="0"/>
          </a:p>
          <a:p>
            <a:pPr/>
            <a:r>
              <a:rPr lang="en-IN" dirty="0"/>
              <a:t>Speaker: Varshith</a:t>
            </a:r>
          </a:p>
          <a:p>
            <a:pPr/>
            <a:r>
              <a:rPr lang="en-IN" dirty="0"/>
              <a:t>Raw recording: 1:05-1:35 (30 seconds)</a:t>
            </a:r>
          </a:p>
          <a:p>
            <a:pPr/>
            <a:r>
              <a:rPr lang="en-IN" dirty="0"/>
              <a:t>Chapter: Internet</a:t>
            </a:r>
          </a:p>
          <a:p>
            <a:pPr/>
            <a:endParaRPr lang="en-IN" dirty="0"/>
          </a:p>
          <a:p>
            <a:pPr/>
            <a:r>
              <a:rPr lang="en-IN" dirty="0"/>
              <a:t>Narration</a:t>
            </a:r>
          </a:p>
          <a:p>
            <a:pPr/>
            <a:endParaRPr lang="en-IN" dirty="0"/>
          </a:p>
          <a:p>
            <a:pPr/>
            <a:r>
              <a:rPr lang="en-IN" dirty="0"/>
              <a:t>Does high internet use always come with high fixed broadband? One line follows the same country across four measurements. Each axis has its own scale. Read where the line crosses an axis, not the bend between axes. Faint lines keep the other countries visible. I select at least seventy percent internet use and at most five fixed-broadband subscriptions per hundred people.</a:t>
            </a:r>
          </a:p>
          <a:p>
            <a:pPr/>
            <a:endParaRPr lang="en-IN" dirty="0"/>
          </a:p>
          <a:p>
            <a:pPr/>
            <a:r>
              <a:rPr lang="en-IN" dirty="0"/>
              <a:t>On screen</a:t>
            </a:r>
          </a:p>
          <a:p>
            <a:pPr/>
            <a:endParaRPr lang="en-IN" dirty="0"/>
          </a:p>
          <a:p>
            <a:pPr/>
            <a:r>
              <a:rPr lang="en-IN" dirty="0"/>
              <a:t>Follow one country across all four axes.</a:t>
            </a:r>
          </a:p>
          <a:p>
            <a:pPr/>
            <a:endParaRPr lang="en-IN" dirty="0"/>
          </a:p>
          <a:p>
            <a:pPr/>
            <a:r>
              <a:rPr lang="en-IN" dirty="0"/>
              <a:t>Actions</a:t>
            </a:r>
          </a:p>
          <a:p>
            <a:pPr/>
            <a:endParaRPr lang="en-IN" dirty="0"/>
          </a:p>
          <a:p>
            <a:pPr/>
            <a:r>
              <a:rPr lang="en-IN" dirty="0"/>
              <a:t>Show the four axes, then point at the two brush ranges. On the live browser page, apply Inspect high adoption / low broadband. Focus on one selected line; do not demonstrate unrelated controls yet.</a:t>
            </a:r>
          </a:p>
          <a:p>
            <a:pPr/>
            <a:endParaRPr lang="en-IN" dirty="0"/>
          </a:p>
          <a:p>
            <a:pPr/>
            <a:r>
              <a:rPr lang="en-IN" dirty="0"/>
              <a:t>Transition</a:t>
            </a:r>
          </a:p>
          <a:p>
            <a:pPr/>
            <a:endParaRPr lang="en-IN" dirty="0"/>
          </a:p>
          <a:p>
            <a:pPr/>
            <a:r>
              <a:rPr lang="en-IN" dirty="0"/>
              <a:t>Follow one country across all four axes.</a:t>
            </a:r>
          </a:p>
          <a:p>
            <a:pPr/>
            <a:endParaRPr lang="en-IN" dirty="0"/>
          </a:p>
          <a:p>
            <a:pPr/>
            <a:r>
              <a:rPr lang="en-IN" dirty="0"/>
              <a:t>Source</a:t>
            </a:r>
          </a:p>
          <a:p>
            <a:pPr/>
            <a:endParaRPr lang="en-IN" dirty="0"/>
          </a:p>
          <a:p>
            <a:pPr/>
            <a:r>
              <a:rPr lang="en-IN" dirty="0"/>
              <a:t>Report Fig. 4, 5. Current report: ../pdf/DAS732_A2_Report_IEEE.pdf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Six countries break the simple expectation</a:t>
            </a:r>
          </a:p>
          <a:p>
            <a:pPr/>
            <a:endParaRPr lang="en-IN" dirty="0"/>
          </a:p>
          <a:p>
            <a:pPr/>
            <a:r>
              <a:rPr lang="en-IN" dirty="0"/>
              <a:t>Speaker: Varshith</a:t>
            </a:r>
          </a:p>
          <a:p>
            <a:pPr/>
            <a:r>
              <a:rPr lang="en-IN" dirty="0"/>
              <a:t>Raw recording: 1:35-2:10 (35 seconds)</a:t>
            </a:r>
          </a:p>
          <a:p>
            <a:pPr/>
            <a:r>
              <a:rPr lang="en-IN" dirty="0"/>
              <a:t>Chapter: Internet</a:t>
            </a:r>
          </a:p>
          <a:p>
            <a:pPr/>
            <a:endParaRPr lang="en-IN" dirty="0"/>
          </a:p>
          <a:p>
            <a:pPr/>
            <a:r>
              <a:rPr lang="en-IN" dirty="0"/>
              <a:t>Narration</a:t>
            </a:r>
          </a:p>
          <a:p>
            <a:pPr/>
            <a:endParaRPr lang="en-IN" dirty="0"/>
          </a:p>
          <a:p>
            <a:pPr/>
            <a:r>
              <a:rPr lang="en-IN" dirty="0"/>
              <a:t>Six of the one hundred and seventy-five matched countries meet both conditions. Their lines start high on internet use and cross low on fixed broadband. Cuba, Kuwait and South Africa are among them. I change the brush, then restore it, to demonstrate the selection. Fixed broadband alone therefore does not describe internet access. We cannot tell from this plot which connection each person uses.</a:t>
            </a:r>
          </a:p>
          <a:p>
            <a:pPr/>
            <a:endParaRPr lang="en-IN" dirty="0"/>
          </a:p>
          <a:p>
            <a:pPr/>
            <a:r>
              <a:rPr lang="en-IN" dirty="0"/>
              <a:t>On screen</a:t>
            </a:r>
          </a:p>
          <a:p>
            <a:pPr/>
            <a:endParaRPr lang="en-IN" dirty="0"/>
          </a:p>
          <a:p>
            <a:pPr/>
            <a:r>
              <a:rPr lang="en-IN" dirty="0"/>
              <a:t>High adoption can exist with little fixed broadband.</a:t>
            </a:r>
          </a:p>
          <a:p>
            <a:pPr/>
            <a:endParaRPr lang="en-IN" dirty="0"/>
          </a:p>
          <a:p>
            <a:pPr/>
            <a:r>
              <a:rPr lang="en-IN" dirty="0"/>
              <a:t>Actions</a:t>
            </a:r>
          </a:p>
          <a:p>
            <a:pPr/>
            <a:endParaRPr lang="en-IN" dirty="0"/>
          </a:p>
          <a:p>
            <a:pPr/>
            <a:r>
              <a:rPr lang="en-IN" dirty="0"/>
              <a:t>Record the real browser interaction from the slide link: apply the preset, move one brush slightly, then restore it. Keep six names and the 6-of-175 denominator visible. Return to the finding slide. Avoid a tour of every feature.</a:t>
            </a:r>
          </a:p>
          <a:p>
            <a:pPr/>
            <a:endParaRPr lang="en-IN" dirty="0"/>
          </a:p>
          <a:p>
            <a:pPr/>
            <a:r>
              <a:rPr lang="en-IN" dirty="0"/>
              <a:t>Transition</a:t>
            </a:r>
          </a:p>
          <a:p>
            <a:pPr/>
            <a:endParaRPr lang="en-IN" dirty="0"/>
          </a:p>
          <a:p>
            <a:pPr/>
            <a:r>
              <a:rPr lang="en-IN" dirty="0"/>
              <a:t>High adoption can exist with little fixed broadband.</a:t>
            </a:r>
          </a:p>
          <a:p>
            <a:pPr/>
            <a:endParaRPr lang="en-IN" dirty="0"/>
          </a:p>
          <a:p>
            <a:pPr/>
            <a:r>
              <a:rPr lang="en-IN" dirty="0"/>
              <a:t>Source</a:t>
            </a:r>
          </a:p>
          <a:p>
            <a:pPr/>
            <a:endParaRPr lang="en-IN" dirty="0"/>
          </a:p>
          <a:p>
            <a:pPr/>
            <a:r>
              <a:rPr lang="en-IN" dirty="0"/>
              <a:t>Report Fig. 5. Current report: ../pdf/DAS732_A2_Report_IEEE.pdf</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Progress does not mean everyone caught up</a:t>
            </a:r>
          </a:p>
          <a:p>
            <a:pPr/>
            <a:endParaRPr lang="en-IN" dirty="0"/>
          </a:p>
          <a:p>
            <a:pPr/>
            <a:r>
              <a:rPr lang="en-IN" dirty="0"/>
              <a:t>Speaker: Sindhoor</a:t>
            </a:r>
          </a:p>
          <a:p>
            <a:pPr/>
            <a:r>
              <a:rPr lang="en-IN" dirty="0"/>
              <a:t>Raw recording: 2:10-2:50 (40 seconds)</a:t>
            </a:r>
          </a:p>
          <a:p>
            <a:pPr/>
            <a:r>
              <a:rPr lang="en-IN" dirty="0"/>
              <a:t>Chapter: Internet</a:t>
            </a:r>
          </a:p>
          <a:p>
            <a:pPr/>
            <a:endParaRPr lang="en-IN" dirty="0"/>
          </a:p>
          <a:p>
            <a:pPr/>
            <a:r>
              <a:rPr lang="en-IN" dirty="0"/>
              <a:t>Narration</a:t>
            </a:r>
          </a:p>
          <a:p>
            <a:pPr/>
            <a:endParaRPr lang="en-IN" dirty="0"/>
          </a:p>
          <a:p>
            <a:pPr/>
            <a:r>
              <a:rPr lang="en-IN" dirty="0"/>
              <a:t>Has progress closed the divide? These ridgelines follow the same countries at five dates. Moving right means higher internet use. Each curve shows the spread of countries; small ticks mark individual countries. Africa’s median rises from about zero to thirty-two percent, but its final curve remains wide. Europe moves right and reaches a much higher median. Progress is clear, yet differences remain within and between regions. Curve height is not a count of people.</a:t>
            </a:r>
          </a:p>
          <a:p>
            <a:pPr/>
            <a:endParaRPr lang="en-IN" dirty="0"/>
          </a:p>
          <a:p>
            <a:pPr/>
            <a:r>
              <a:rPr lang="en-IN" dirty="0"/>
              <a:t>On screen</a:t>
            </a:r>
          </a:p>
          <a:p>
            <a:pPr/>
            <a:endParaRPr lang="en-IN" dirty="0"/>
          </a:p>
          <a:p>
            <a:pPr/>
            <a:r>
              <a:rPr lang="en-IN" dirty="0"/>
              <a:t>Compare where the curves sit AND how widely they spread.</a:t>
            </a:r>
          </a:p>
          <a:p>
            <a:pPr/>
            <a:endParaRPr lang="en-IN" dirty="0"/>
          </a:p>
          <a:p>
            <a:pPr/>
            <a:r>
              <a:rPr lang="en-IN" dirty="0"/>
              <a:t>Actions</a:t>
            </a:r>
          </a:p>
          <a:p>
            <a:pPr/>
            <a:endParaRPr lang="en-IN" dirty="0"/>
          </a:p>
          <a:p>
            <a:pPr/>
            <a:r>
              <a:rPr lang="en-IN" dirty="0"/>
              <a:t>Read the 0–100 horizontal scale once. Trace Africa from 2000 to 2020; point at the wide final curve and the country ticks. Then compare Europe on the SAME scale. These are two labelled panels selected from report Fig. 16, not all regions.</a:t>
            </a:r>
          </a:p>
          <a:p>
            <a:pPr/>
            <a:endParaRPr lang="en-IN" dirty="0"/>
          </a:p>
          <a:p>
            <a:pPr/>
            <a:r>
              <a:rPr lang="en-IN" dirty="0"/>
              <a:t>Transition</a:t>
            </a:r>
          </a:p>
          <a:p>
            <a:pPr/>
            <a:endParaRPr lang="en-IN" dirty="0"/>
          </a:p>
          <a:p>
            <a:pPr/>
            <a:r>
              <a:rPr lang="en-IN" dirty="0"/>
              <a:t>Compare where the curves sit AND how widely they spread.</a:t>
            </a:r>
          </a:p>
          <a:p>
            <a:pPr/>
            <a:endParaRPr lang="en-IN" dirty="0"/>
          </a:p>
          <a:p>
            <a:pPr/>
            <a:r>
              <a:rPr lang="en-IN" dirty="0"/>
              <a:t>Source</a:t>
            </a:r>
          </a:p>
          <a:p>
            <a:pPr/>
            <a:endParaRPr lang="en-IN" dirty="0"/>
          </a:p>
          <a:p>
            <a:pPr/>
            <a:r>
              <a:rPr lang="en-IN" dirty="0"/>
              <a:t>Report Fig. 16. Current report: ../pdf/DAS732_A2_Report_IEEE.pdf</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Internet: three findings, one answer</a:t>
            </a:r>
          </a:p>
          <a:p>
            <a:pPr/>
            <a:endParaRPr lang="en-IN" dirty="0"/>
          </a:p>
          <a:p>
            <a:pPr/>
            <a:r>
              <a:rPr lang="en-IN" dirty="0"/>
              <a:t>Speaker: Sindhoor</a:t>
            </a:r>
          </a:p>
          <a:p>
            <a:pPr/>
            <a:r>
              <a:rPr lang="en-IN" dirty="0"/>
              <a:t>Raw recording: 2:50-3:15 (25 seconds)</a:t>
            </a:r>
          </a:p>
          <a:p>
            <a:pPr/>
            <a:r>
              <a:rPr lang="en-IN" dirty="0"/>
              <a:t>Chapter: Internet</a:t>
            </a:r>
          </a:p>
          <a:p>
            <a:pPr/>
            <a:endParaRPr lang="en-IN" dirty="0"/>
          </a:p>
          <a:p>
            <a:pPr/>
            <a:r>
              <a:rPr lang="en-IN" dirty="0"/>
              <a:t>Narration</a:t>
            </a:r>
          </a:p>
          <a:p>
            <a:pPr/>
            <a:endParaRPr lang="en-IN" dirty="0"/>
          </a:p>
          <a:p>
            <a:pPr/>
            <a:r>
              <a:rPr lang="en-IN" dirty="0"/>
              <a:t>The internet evidence gives a connected answer. The matrix reveals different relationships inside one group. The selected profiles show high internet use with little fixed broadband. The ridgelines show progress with remaining gaps. A single adoption number cannot describe these differences. We need the relationships, other measurements and the spread of countries before saying the divide has closed.</a:t>
            </a:r>
          </a:p>
          <a:p>
            <a:pPr/>
            <a:endParaRPr lang="en-IN" dirty="0"/>
          </a:p>
          <a:p>
            <a:pPr/>
            <a:r>
              <a:rPr lang="en-IN" dirty="0"/>
              <a:t>On screen</a:t>
            </a:r>
          </a:p>
          <a:p>
            <a:pPr/>
            <a:endParaRPr lang="en-IN" dirty="0"/>
          </a:p>
          <a:p>
            <a:pPr/>
            <a:r>
              <a:rPr lang="en-IN" dirty="0"/>
              <a:t>A single adoption number cannot describe the whole connection profile.</a:t>
            </a:r>
          </a:p>
          <a:p>
            <a:pPr/>
            <a:endParaRPr lang="en-IN" dirty="0"/>
          </a:p>
          <a:p>
            <a:pPr/>
            <a:r>
              <a:rPr lang="en-IN" dirty="0"/>
              <a:t>Actions</a:t>
            </a:r>
          </a:p>
          <a:p>
            <a:pPr/>
            <a:endParaRPr lang="en-IN" dirty="0"/>
          </a:p>
          <a:p>
            <a:pPr/>
            <a:r>
              <a:rPr lang="en-IN" dirty="0"/>
              <a:t>Use the three numbered evidence statements to recap the reasoning. Introduce no new figure. Pause before the Weather section.</a:t>
            </a:r>
          </a:p>
          <a:p>
            <a:pPr/>
            <a:endParaRPr lang="en-IN" dirty="0"/>
          </a:p>
          <a:p>
            <a:pPr/>
            <a:r>
              <a:rPr lang="en-IN" dirty="0"/>
              <a:t>Transition</a:t>
            </a:r>
          </a:p>
          <a:p>
            <a:pPr/>
            <a:endParaRPr lang="en-IN" dirty="0"/>
          </a:p>
          <a:p>
            <a:pPr/>
            <a:r>
              <a:rPr lang="en-IN" dirty="0"/>
              <a:t>A single adoption number cannot describe the whole connection profile.</a:t>
            </a:r>
          </a:p>
          <a:p>
            <a:pPr/>
            <a:endParaRPr lang="en-IN" dirty="0"/>
          </a:p>
          <a:p>
            <a:pPr/>
            <a:r>
              <a:rPr lang="en-IN" dirty="0"/>
              <a:t>Source</a:t>
            </a:r>
          </a:p>
          <a:p>
            <a:pPr/>
            <a:endParaRPr lang="en-IN" dirty="0"/>
          </a:p>
          <a:p>
            <a:pPr/>
            <a:r>
              <a:rPr lang="en-IN" dirty="0"/>
              <a:t>Report Fig. 3, 5, 16. Current report: ../pdf/DAS732_A2_Report_IEEE.pdf</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Weather: can the same colour mislead us?</a:t>
            </a:r>
          </a:p>
          <a:p>
            <a:pPr/>
            <a:endParaRPr lang="en-IN" dirty="0"/>
          </a:p>
          <a:p>
            <a:pPr/>
            <a:r>
              <a:rPr lang="en-IN" dirty="0"/>
              <a:t>Speaker: Parikshith</a:t>
            </a:r>
          </a:p>
          <a:p>
            <a:pPr/>
            <a:r>
              <a:rPr lang="en-IN" dirty="0"/>
              <a:t>Raw recording: 3:15-3:45 (30 seconds)</a:t>
            </a:r>
          </a:p>
          <a:p>
            <a:pPr/>
            <a:r>
              <a:rPr lang="en-IN" dirty="0"/>
              <a:t>Chapter: Weather</a:t>
            </a:r>
          </a:p>
          <a:p>
            <a:pPr/>
            <a:endParaRPr lang="en-IN" dirty="0"/>
          </a:p>
          <a:p>
            <a:pPr/>
            <a:r>
              <a:rPr lang="en-IN" dirty="0"/>
              <a:t>Narration</a:t>
            </a:r>
          </a:p>
          <a:p>
            <a:pPr/>
            <a:endParaRPr lang="en-IN" dirty="0"/>
          </a:p>
          <a:p>
            <a:pPr/>
            <a:r>
              <a:rPr lang="en-IN" dirty="0"/>
              <a:t>We now move to ninety-two days of United States weather. These animations show the same temperature fields. The left legend stays fixed, so a colour keeps its temperature meaning across dates. The right legend resets each day. Local variation becomes clearer, but the same colour can mean a different temperature. Watch that changing legend. We use fixed scales to compare dates fairly.</a:t>
            </a:r>
          </a:p>
          <a:p>
            <a:pPr/>
            <a:endParaRPr lang="en-IN" dirty="0"/>
          </a:p>
          <a:p>
            <a:pPr/>
            <a:r>
              <a:rPr lang="en-IN" dirty="0"/>
              <a:t>On screen</a:t>
            </a:r>
          </a:p>
          <a:p>
            <a:pPr/>
            <a:endParaRPr lang="en-IN" dirty="0"/>
          </a:p>
          <a:p>
            <a:pPr/>
            <a:r>
              <a:rPr lang="en-IN" dirty="0"/>
              <a:t>Read the legend before comparing dates.</a:t>
            </a:r>
          </a:p>
          <a:p>
            <a:pPr/>
            <a:endParaRPr lang="en-IN" dirty="0"/>
          </a:p>
          <a:p>
            <a:pPr/>
            <a:r>
              <a:rPr lang="en-IN" dirty="0"/>
              <a:t>Actions</a:t>
            </a:r>
          </a:p>
          <a:p>
            <a:pPr/>
            <a:endParaRPr lang="en-IN" dirty="0"/>
          </a:p>
          <a:p>
            <a:pPr/>
            <a:r>
              <a:rPr lang="en-IN" dirty="0"/>
              <a:t>Stay in desktop PowerPoint Slide Show. Let both embedded GIFs complete at least two 6.4-second loops. Point to each colour bar; do not open another animation window.</a:t>
            </a:r>
          </a:p>
          <a:p>
            <a:pPr/>
            <a:endParaRPr lang="en-IN" dirty="0"/>
          </a:p>
          <a:p>
            <a:pPr/>
            <a:r>
              <a:rPr lang="en-IN" dirty="0"/>
              <a:t>Transition</a:t>
            </a:r>
          </a:p>
          <a:p>
            <a:pPr/>
            <a:endParaRPr lang="en-IN" dirty="0"/>
          </a:p>
          <a:p>
            <a:pPr/>
            <a:r>
              <a:rPr lang="en-IN" dirty="0"/>
              <a:t>Read the legend before comparing dates.</a:t>
            </a:r>
          </a:p>
          <a:p>
            <a:pPr/>
            <a:endParaRPr lang="en-IN" dirty="0"/>
          </a:p>
          <a:p>
            <a:pPr/>
            <a:r>
              <a:rPr lang="en-IN" dirty="0"/>
              <a:t>Source</a:t>
            </a:r>
          </a:p>
          <a:p>
            <a:pPr/>
            <a:endParaRPr lang="en-IN" dirty="0"/>
          </a:p>
          <a:p>
            <a:pPr/>
            <a:r>
              <a:rPr lang="en-IN" dirty="0"/>
              <a:t>Report Fig. 17, 18. Current report: ../pdf/DAS732_A2_Report_IEEE.pdf</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A monthly total cannot tell us when rain fell</a:t>
            </a:r>
          </a:p>
          <a:p>
            <a:pPr/>
            <a:endParaRPr lang="en-IN" dirty="0"/>
          </a:p>
          <a:p>
            <a:pPr/>
            <a:r>
              <a:rPr lang="en-IN" dirty="0"/>
              <a:t>Speaker: Parikshith</a:t>
            </a:r>
          </a:p>
          <a:p>
            <a:pPr/>
            <a:r>
              <a:rPr lang="en-IN" dirty="0"/>
              <a:t>Raw recording: 3:45-4:20 (35 seconds)</a:t>
            </a:r>
          </a:p>
          <a:p>
            <a:pPr/>
            <a:r>
              <a:rPr lang="en-IN" dirty="0"/>
              <a:t>Chapter: Weather</a:t>
            </a:r>
          </a:p>
          <a:p>
            <a:pPr/>
            <a:endParaRPr lang="en-IN" dirty="0"/>
          </a:p>
          <a:p>
            <a:pPr/>
            <a:r>
              <a:rPr lang="en-IN" dirty="0"/>
              <a:t>Narration</a:t>
            </a:r>
          </a:p>
          <a:p>
            <a:pPr/>
            <a:endParaRPr lang="en-IN" dirty="0"/>
          </a:p>
          <a:p>
            <a:pPr/>
            <a:r>
              <a:rPr lang="en-IN" dirty="0"/>
              <a:t>The left map shows September rainfall totals. The right map asks when that rain fell: what share arrived in the wettest five consecutive days? Bright areas have strongly concentrated rain. Across seventy-seven point six percent of the eligible area, at least half the monthly rain fell within five days. A monthly total therefore hides whether rain arrived steadily or in short bursts. Daily observations recover that timing.</a:t>
            </a:r>
          </a:p>
          <a:p>
            <a:pPr/>
            <a:endParaRPr lang="en-IN" dirty="0"/>
          </a:p>
          <a:p>
            <a:pPr/>
            <a:r>
              <a:rPr lang="en-IN" dirty="0"/>
              <a:t>On screen</a:t>
            </a:r>
          </a:p>
          <a:p>
            <a:pPr/>
            <a:endParaRPr lang="en-IN" dirty="0"/>
          </a:p>
          <a:p>
            <a:pPr/>
            <a:r>
              <a:rPr lang="en-IN" dirty="0"/>
              <a:t>The same month needs both a total and a timing view.</a:t>
            </a:r>
          </a:p>
          <a:p>
            <a:pPr/>
            <a:endParaRPr lang="en-IN" dirty="0"/>
          </a:p>
          <a:p>
            <a:pPr/>
            <a:r>
              <a:rPr lang="en-IN" dirty="0"/>
              <a:t>Actions</a:t>
            </a:r>
          </a:p>
          <a:p>
            <a:pPr/>
            <a:endParaRPr lang="en-IN" dirty="0"/>
          </a:p>
          <a:p>
            <a:pPr/>
            <a:r>
              <a:rPr lang="en-IN" dirty="0"/>
              <a:t>Read the monthly-total map on the left, then the wettest-five-day share on the right. Point to the 0–100% legend. State that 77.6% is eligible area, not a percentage of all rain. Eligible cells have September rainfall of at least 10 mm.</a:t>
            </a:r>
          </a:p>
          <a:p>
            <a:pPr/>
            <a:endParaRPr lang="en-IN" dirty="0"/>
          </a:p>
          <a:p>
            <a:pPr/>
            <a:r>
              <a:rPr lang="en-IN" dirty="0"/>
              <a:t>Transition</a:t>
            </a:r>
          </a:p>
          <a:p>
            <a:pPr/>
            <a:endParaRPr lang="en-IN" dirty="0"/>
          </a:p>
          <a:p>
            <a:pPr/>
            <a:r>
              <a:rPr lang="en-IN" dirty="0"/>
              <a:t>The same month needs both a total and a timing view.</a:t>
            </a:r>
          </a:p>
          <a:p>
            <a:pPr/>
            <a:endParaRPr lang="en-IN" dirty="0"/>
          </a:p>
          <a:p>
            <a:pPr/>
            <a:r>
              <a:rPr lang="en-IN" dirty="0"/>
              <a:t>Source</a:t>
            </a:r>
          </a:p>
          <a:p>
            <a:pPr/>
            <a:endParaRPr lang="en-IN" dirty="0"/>
          </a:p>
          <a:p>
            <a:pPr/>
            <a:r>
              <a:rPr lang="en-IN" dirty="0"/>
              <a:t>Report Fig. 23. Current report: ../pdf/DAS732_A2_Report_IEEE.pdf</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Contours let us follow temperature boundaries</a:t>
            </a:r>
          </a:p>
          <a:p>
            <a:pPr/>
            <a:endParaRPr lang="en-IN" dirty="0"/>
          </a:p>
          <a:p>
            <a:pPr/>
            <a:r>
              <a:rPr lang="en-IN" dirty="0"/>
              <a:t>Speaker: Sindhoor</a:t>
            </a:r>
          </a:p>
          <a:p>
            <a:pPr/>
            <a:r>
              <a:rPr lang="en-IN" dirty="0"/>
              <a:t>Raw recording: 4:20-4:45 (25 seconds)</a:t>
            </a:r>
          </a:p>
          <a:p>
            <a:pPr/>
            <a:r>
              <a:rPr lang="en-IN" dirty="0"/>
              <a:t>Chapter: Weather</a:t>
            </a:r>
          </a:p>
          <a:p>
            <a:pPr/>
            <a:endParaRPr lang="en-IN" dirty="0"/>
          </a:p>
          <a:p>
            <a:pPr/>
            <a:r>
              <a:rPr lang="en-IN" dirty="0"/>
              <a:t>Narration</a:t>
            </a:r>
          </a:p>
          <a:p>
            <a:pPr/>
            <a:endParaRPr lang="en-IN" dirty="0"/>
          </a:p>
          <a:p>
            <a:pPr/>
            <a:r>
              <a:rPr lang="en-IN" dirty="0"/>
              <a:t>Each contour line follows equal temperature, while filled bands show ranges. As dates advance, we can follow those boundaries. Smaller intervals expose more detail but create more lines to read. We choose an interval that keeps the regional pattern visible. More detail is useful only when it helps answer the question.</a:t>
            </a:r>
          </a:p>
          <a:p>
            <a:pPr/>
            <a:endParaRPr lang="en-IN" dirty="0"/>
          </a:p>
          <a:p>
            <a:pPr/>
            <a:r>
              <a:rPr lang="en-IN" dirty="0"/>
              <a:t>On screen</a:t>
            </a:r>
          </a:p>
          <a:p>
            <a:pPr/>
            <a:endParaRPr lang="en-IN" dirty="0"/>
          </a:p>
          <a:p>
            <a:pPr/>
            <a:r>
              <a:rPr lang="en-IN" dirty="0"/>
              <a:t>A contour follows equal temperature, not a state border.</a:t>
            </a:r>
          </a:p>
          <a:p>
            <a:pPr/>
            <a:endParaRPr lang="en-IN" dirty="0"/>
          </a:p>
          <a:p>
            <a:pPr/>
            <a:r>
              <a:rPr lang="en-IN" dirty="0"/>
              <a:t>Actions</a:t>
            </a:r>
          </a:p>
          <a:p>
            <a:pPr/>
            <a:endParaRPr lang="en-IN" dirty="0"/>
          </a:p>
          <a:p>
            <a:pPr/>
            <a:r>
              <a:rPr lang="en-IN" dirty="0"/>
              <a:t>Let the embedded contour GIF complete two loops. Point to one boundary and its value on the legend. Explain why changing the interval changes detail; keep the same temperature field as the reference.</a:t>
            </a:r>
          </a:p>
          <a:p>
            <a:pPr/>
            <a:endParaRPr lang="en-IN" dirty="0"/>
          </a:p>
          <a:p>
            <a:pPr/>
            <a:r>
              <a:rPr lang="en-IN" dirty="0"/>
              <a:t>Transition</a:t>
            </a:r>
          </a:p>
          <a:p>
            <a:pPr/>
            <a:endParaRPr lang="en-IN" dirty="0"/>
          </a:p>
          <a:p>
            <a:pPr/>
            <a:r>
              <a:rPr lang="en-IN" dirty="0"/>
              <a:t>A contour follows equal temperature, not a state border.</a:t>
            </a:r>
          </a:p>
          <a:p>
            <a:pPr/>
            <a:endParaRPr lang="en-IN" dirty="0"/>
          </a:p>
          <a:p>
            <a:pPr/>
            <a:r>
              <a:rPr lang="en-IN" dirty="0"/>
              <a:t>Source</a:t>
            </a:r>
          </a:p>
          <a:p>
            <a:pPr/>
            <a:endParaRPr lang="en-IN" dirty="0"/>
          </a:p>
          <a:p>
            <a:pPr/>
            <a:r>
              <a:rPr lang="en-IN" dirty="0"/>
              <a:t>Report Fig. 19. Current report: ../pdf/DAS732_A2_Report_IEEE.pdf</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How often and how long are different questions</a:t>
            </a:r>
          </a:p>
          <a:p>
            <a:pPr/>
            <a:endParaRPr lang="en-IN" dirty="0"/>
          </a:p>
          <a:p>
            <a:pPr/>
            <a:r>
              <a:rPr lang="en-IN" dirty="0"/>
              <a:t>Speaker: Sindhoor</a:t>
            </a:r>
          </a:p>
          <a:p>
            <a:pPr/>
            <a:r>
              <a:rPr lang="en-IN" dirty="0"/>
              <a:t>Raw recording: 4:45-5:25 (40 seconds)</a:t>
            </a:r>
          </a:p>
          <a:p>
            <a:pPr/>
            <a:r>
              <a:rPr lang="en-IN" dirty="0"/>
              <a:t>Chapter: Weather</a:t>
            </a:r>
          </a:p>
          <a:p>
            <a:pPr/>
            <a:endParaRPr lang="en-IN" dirty="0"/>
          </a:p>
          <a:p>
            <a:pPr/>
            <a:r>
              <a:rPr lang="en-IN" dirty="0"/>
              <a:t>Narration</a:t>
            </a:r>
          </a:p>
          <a:p>
            <a:pPr/>
            <a:endParaRPr lang="en-IN" dirty="0"/>
          </a:p>
          <a:p>
            <a:pPr/>
            <a:r>
              <a:rPr lang="en-IN" dirty="0"/>
              <a:t>The left map counts how often a place was both hot and dry. The right records its longest uninterrupted run. Hot means at least thirty-five degrees; dry means less than one millimetre of daily rain. Many qualifying days can be separated by breaks, so frequency cannot tell us persistence. The longest local run in this ninety-two-day window is sixty-seven days. Reading both maps separates repeated events from sustained conditions.</a:t>
            </a:r>
          </a:p>
          <a:p>
            <a:pPr/>
            <a:endParaRPr lang="en-IN" dirty="0"/>
          </a:p>
          <a:p>
            <a:pPr/>
            <a:r>
              <a:rPr lang="en-IN" dirty="0"/>
              <a:t>On screen</a:t>
            </a:r>
          </a:p>
          <a:p>
            <a:pPr/>
            <a:endParaRPr lang="en-IN" dirty="0"/>
          </a:p>
          <a:p>
            <a:pPr/>
            <a:r>
              <a:rPr lang="en-IN" dirty="0"/>
              <a:t>Frequent hot-and-dry days need not form one long spell.</a:t>
            </a:r>
          </a:p>
          <a:p>
            <a:pPr/>
            <a:endParaRPr lang="en-IN" dirty="0"/>
          </a:p>
          <a:p>
            <a:pPr/>
            <a:r>
              <a:rPr lang="en-IN" dirty="0"/>
              <a:t>Actions</a:t>
            </a:r>
          </a:p>
          <a:p>
            <a:pPr/>
            <a:endParaRPr lang="en-IN" dirty="0"/>
          </a:p>
          <a:p>
            <a:pPr/>
            <a:r>
              <a:rPr lang="en-IN" dirty="0"/>
              <a:t>Read the left frequency legend and the right run-length legend separately. Point to the southwest pattern and compare the maps; do not equate their colours because the units differ. The 67-day maximum is somewhere in the grid and is bounded by the study window.</a:t>
            </a:r>
          </a:p>
          <a:p>
            <a:pPr/>
            <a:endParaRPr lang="en-IN" dirty="0"/>
          </a:p>
          <a:p>
            <a:pPr/>
            <a:r>
              <a:rPr lang="en-IN" dirty="0"/>
              <a:t>Transition</a:t>
            </a:r>
          </a:p>
          <a:p>
            <a:pPr/>
            <a:endParaRPr lang="en-IN" dirty="0"/>
          </a:p>
          <a:p>
            <a:pPr/>
            <a:r>
              <a:rPr lang="en-IN" dirty="0"/>
              <a:t>Frequent hot-and-dry days need not form one long spell.</a:t>
            </a:r>
          </a:p>
          <a:p>
            <a:pPr/>
            <a:endParaRPr lang="en-IN" dirty="0"/>
          </a:p>
          <a:p>
            <a:pPr/>
            <a:r>
              <a:rPr lang="en-IN" dirty="0"/>
              <a:t>Source</a:t>
            </a:r>
          </a:p>
          <a:p>
            <a:pPr/>
            <a:endParaRPr lang="en-IN" dirty="0"/>
          </a:p>
          <a:p>
            <a:pPr/>
            <a:r>
              <a:rPr lang="en-IN" dirty="0"/>
              <a:t>Report Fig. 30. Current report: ../pdf/DAS732_A2_Report_IEEE.pdf</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Arrow length changes the pattern we notice</a:t>
            </a:r>
          </a:p>
          <a:p>
            <a:pPr/>
            <a:endParaRPr lang="en-IN" dirty="0"/>
          </a:p>
          <a:p>
            <a:pPr/>
            <a:r>
              <a:rPr lang="en-IN" dirty="0"/>
              <a:t>Speaker: Varshith</a:t>
            </a:r>
          </a:p>
          <a:p>
            <a:pPr/>
            <a:r>
              <a:rPr lang="en-IN" dirty="0"/>
              <a:t>Raw recording: 5:25-6:00 (35 seconds)</a:t>
            </a:r>
          </a:p>
          <a:p>
            <a:pPr/>
            <a:r>
              <a:rPr lang="en-IN" dirty="0"/>
              <a:t>Chapter: Weather</a:t>
            </a:r>
          </a:p>
          <a:p>
            <a:pPr/>
            <a:endParaRPr lang="en-IN" dirty="0"/>
          </a:p>
          <a:p>
            <a:pPr/>
            <a:r>
              <a:rPr lang="en-IN" dirty="0"/>
              <a:t>Narration</a:t>
            </a:r>
          </a:p>
          <a:p>
            <a:pPr/>
            <a:endParaRPr lang="en-IN" dirty="0"/>
          </a:p>
          <a:p>
            <a:pPr/>
            <a:r>
              <a:rPr lang="en-IN" dirty="0"/>
              <a:t>Both maps use the same wind field and sampled locations. On the left, arrow length grows with speed, so slow winds can be hard to follow. Equal lengths on the right make directions clearer; colour still shows speed. Arrows point where air moves, after converting the source wind-from direction. The measurements stay the same. We choose the view according to whether we need speed differences or direction patterns.</a:t>
            </a:r>
          </a:p>
          <a:p>
            <a:pPr/>
            <a:endParaRPr lang="en-IN" dirty="0"/>
          </a:p>
          <a:p>
            <a:pPr/>
            <a:r>
              <a:rPr lang="en-IN" dirty="0"/>
              <a:t>On screen</a:t>
            </a:r>
          </a:p>
          <a:p>
            <a:pPr/>
            <a:endParaRPr lang="en-IN" dirty="0"/>
          </a:p>
          <a:p>
            <a:pPr/>
            <a:r>
              <a:rPr lang="en-IN" dirty="0"/>
              <a:t>Use length for speed; use equal lengths to inspect direction.</a:t>
            </a:r>
          </a:p>
          <a:p>
            <a:pPr/>
            <a:endParaRPr lang="en-IN" dirty="0"/>
          </a:p>
          <a:p>
            <a:pPr/>
            <a:r>
              <a:rPr lang="en-IN" dirty="0"/>
              <a:t>Actions</a:t>
            </a:r>
          </a:p>
          <a:p>
            <a:pPr/>
            <a:endParaRPr lang="en-IN" dirty="0"/>
          </a:p>
          <a:p>
            <a:pPr/>
            <a:r>
              <a:rPr lang="en-IN" dirty="0"/>
              <a:t>Compare the same western-US area in the two panels. Both retain every fourth sampled grid cell from the source experiment. Point first to short arrows and then to matching equal-length arrows. Use the retained common speed colour key.</a:t>
            </a:r>
          </a:p>
          <a:p>
            <a:pPr/>
            <a:endParaRPr lang="en-IN" dirty="0"/>
          </a:p>
          <a:p>
            <a:pPr/>
            <a:r>
              <a:rPr lang="en-IN" dirty="0"/>
              <a:t>Transition</a:t>
            </a:r>
          </a:p>
          <a:p>
            <a:pPr/>
            <a:endParaRPr lang="en-IN" dirty="0"/>
          </a:p>
          <a:p>
            <a:pPr/>
            <a:r>
              <a:rPr lang="en-IN" dirty="0"/>
              <a:t>Use length for speed; use equal lengths to inspect direction.</a:t>
            </a:r>
          </a:p>
          <a:p>
            <a:pPr/>
            <a:endParaRPr lang="en-IN" dirty="0"/>
          </a:p>
          <a:p>
            <a:pPr/>
            <a:r>
              <a:rPr lang="en-IN" dirty="0"/>
              <a:t>Source</a:t>
            </a:r>
          </a:p>
          <a:p>
            <a:pPr/>
            <a:endParaRPr lang="en-IN" dirty="0"/>
          </a:p>
          <a:p>
            <a:pPr/>
            <a:r>
              <a:rPr lang="en-IN" dirty="0"/>
              <a:t>Report Fig. 26. Current report: ../pdf/DAS732_A2_Report_IEEE.pdf</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What do averages and snapshots leave out?</a:t>
            </a:r>
          </a:p>
          <a:p>
            <a:pPr/>
            <a:endParaRPr lang="en-IN" dirty="0"/>
          </a:p>
          <a:p>
            <a:pPr/>
            <a:r>
              <a:rPr lang="en-IN" dirty="0"/>
              <a:t>Speaker: Varshith</a:t>
            </a:r>
          </a:p>
          <a:p>
            <a:pPr/>
            <a:r>
              <a:rPr lang="en-IN" dirty="0"/>
              <a:t>Raw recording: 6:00-6:24 (24 seconds)</a:t>
            </a:r>
          </a:p>
          <a:p>
            <a:pPr/>
            <a:r>
              <a:rPr lang="en-IN" dirty="0"/>
              <a:t>Chapter: Weather</a:t>
            </a:r>
          </a:p>
          <a:p>
            <a:pPr/>
            <a:endParaRPr lang="en-IN" dirty="0"/>
          </a:p>
          <a:p>
            <a:pPr/>
            <a:r>
              <a:rPr lang="en-IN" dirty="0"/>
              <a:t>Narration</a:t>
            </a:r>
          </a:p>
          <a:p>
            <a:pPr/>
            <a:endParaRPr lang="en-IN" dirty="0"/>
          </a:p>
          <a:p>
            <a:pPr/>
            <a:r>
              <a:rPr lang="en-IN" dirty="0"/>
              <a:t>Our answer is that summaries leave out differences and time. For Internet, the group label and adoption number miss different country profiles and uneven progress. For Weather, monthly totals and event counts miss bursts and long uninterrupted spells. The strongest explanation therefore pairs the summary with the detail needed for the question, and draws its conclusion from that visible evidence.</a:t>
            </a:r>
          </a:p>
          <a:p>
            <a:pPr/>
            <a:endParaRPr lang="en-IN" dirty="0"/>
          </a:p>
          <a:p>
            <a:pPr/>
            <a:r>
              <a:rPr lang="en-IN" dirty="0"/>
              <a:t>On screen</a:t>
            </a:r>
          </a:p>
          <a:p>
            <a:pPr/>
            <a:endParaRPr lang="en-IN" dirty="0"/>
          </a:p>
          <a:p>
            <a:pPr/>
            <a:r>
              <a:rPr lang="en-IN" dirty="0"/>
              <a:t>Show the pattern, explain the evidence, state what follows.</a:t>
            </a:r>
          </a:p>
          <a:p>
            <a:pPr/>
            <a:endParaRPr lang="en-IN" dirty="0"/>
          </a:p>
          <a:p>
            <a:pPr/>
            <a:r>
              <a:rPr lang="en-IN" dirty="0"/>
              <a:t>Actions</a:t>
            </a:r>
          </a:p>
          <a:p>
            <a:pPr/>
            <a:endParaRPr lang="en-IN" dirty="0"/>
          </a:p>
          <a:p>
            <a:pPr/>
            <a:r>
              <a:rPr lang="en-IN" dirty="0"/>
              <a:t>Connect each conclusion to the named evidence already shown. Introduce no new numbers or chart. Advance to credits after the final sentence.</a:t>
            </a:r>
          </a:p>
          <a:p>
            <a:pPr/>
            <a:endParaRPr lang="en-IN" dirty="0"/>
          </a:p>
          <a:p>
            <a:pPr/>
            <a:r>
              <a:rPr lang="en-IN" dirty="0"/>
              <a:t>Transition</a:t>
            </a:r>
          </a:p>
          <a:p>
            <a:pPr/>
            <a:endParaRPr lang="en-IN" dirty="0"/>
          </a:p>
          <a:p>
            <a:pPr/>
            <a:r>
              <a:rPr lang="en-IN" dirty="0"/>
              <a:t>Show the pattern, explain the evidence, state what follows.</a:t>
            </a:r>
          </a:p>
          <a:p>
            <a:pPr/>
            <a:endParaRPr lang="en-IN" dirty="0"/>
          </a:p>
          <a:p>
            <a:pPr/>
            <a:r>
              <a:rPr lang="en-IN" dirty="0"/>
              <a:t>Source</a:t>
            </a:r>
          </a:p>
          <a:p>
            <a:pPr/>
            <a:endParaRPr lang="en-IN" dirty="0"/>
          </a:p>
          <a:p>
            <a:pPr/>
            <a:r>
              <a:rPr lang="en-IN" dirty="0"/>
              <a:t>Report Fig. 3, 5, 16, 23, 30. Current report: ../pdf/DAS732_A2_Report_IEEE.pdf</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Team Plot Twist</a:t>
            </a:r>
          </a:p>
          <a:p>
            <a:pPr/>
            <a:endParaRPr lang="en-IN" dirty="0"/>
          </a:p>
          <a:p>
            <a:pPr/>
            <a:r>
              <a:rPr lang="en-IN" dirty="0"/>
              <a:t>Speaker: Silent closing card</a:t>
            </a:r>
          </a:p>
          <a:p>
            <a:pPr/>
            <a:r>
              <a:rPr lang="en-IN" dirty="0"/>
              <a:t>Raw recording: 6:24-6:30 (6 seconds)</a:t>
            </a:r>
          </a:p>
          <a:p>
            <a:pPr/>
            <a:r>
              <a:rPr lang="en-IN" dirty="0"/>
              <a:t>Chapter: Weather</a:t>
            </a:r>
          </a:p>
          <a:p>
            <a:pPr/>
            <a:endParaRPr lang="en-IN" dirty="0"/>
          </a:p>
          <a:p>
            <a:pPr/>
            <a:r>
              <a:rPr lang="en-IN" dirty="0"/>
              <a:t>Narration</a:t>
            </a:r>
          </a:p>
          <a:p>
            <a:pPr/>
            <a:endParaRPr lang="en-IN" dirty="0"/>
          </a:p>
          <a:p>
            <a:pPr/>
            <a:r>
              <a:rPr lang="en-IN" dirty="0"/>
              <a:t>[Silent closing card]</a:t>
            </a:r>
          </a:p>
          <a:p>
            <a:pPr/>
            <a:endParaRPr lang="en-IN" dirty="0"/>
          </a:p>
          <a:p>
            <a:pPr/>
            <a:r>
              <a:rPr lang="en-IN" dirty="0"/>
              <a:t>On screen</a:t>
            </a:r>
          </a:p>
          <a:p>
            <a:pPr/>
            <a:endParaRPr lang="en-IN" dirty="0"/>
          </a:p>
          <a:p>
            <a:pPr/>
            <a:r>
              <a:rPr lang="en-IN" dirty="0"/>
              <a:t>Internet complete. Weather complete.</a:t>
            </a:r>
          </a:p>
          <a:p>
            <a:pPr/>
            <a:endParaRPr lang="en-IN" dirty="0"/>
          </a:p>
          <a:p>
            <a:pPr/>
            <a:r>
              <a:rPr lang="en-IN" dirty="0"/>
              <a:t>Actions</a:t>
            </a:r>
          </a:p>
          <a:p>
            <a:pPr/>
            <a:endParaRPr lang="en-IN" dirty="0"/>
          </a:p>
          <a:p>
            <a:pPr/>
            <a:r>
              <a:rPr lang="en-IN" dirty="0"/>
              <a:t>Hold for six seconds. End recording.</a:t>
            </a:r>
          </a:p>
          <a:p>
            <a:pPr/>
            <a:endParaRPr lang="en-IN" dirty="0"/>
          </a:p>
          <a:p>
            <a:pPr/>
            <a:r>
              <a:rPr lang="en-IN" dirty="0"/>
              <a:t>Transition</a:t>
            </a:r>
          </a:p>
          <a:p>
            <a:pPr/>
            <a:endParaRPr lang="en-IN" dirty="0"/>
          </a:p>
          <a:p>
            <a:pPr/>
            <a:r>
              <a:rPr lang="en-IN" dirty="0"/>
              <a:t>Internet complete. Weather complete.</a:t>
            </a:r>
          </a:p>
          <a:p>
            <a:pPr/>
            <a:endParaRPr lang="en-IN" dirty="0"/>
          </a:p>
          <a:p>
            <a:pPr/>
            <a:r>
              <a:rPr lang="en-IN" dirty="0"/>
              <a:t>Source</a:t>
            </a:r>
          </a:p>
          <a:p>
            <a:pPr/>
            <a:endParaRPr lang="en-IN" dirty="0"/>
          </a:p>
          <a:p>
            <a:pPr/>
            <a:r>
              <a:rPr lang="en-IN" dirty="0"/>
              <a:t>Current report: question and conclusions. Current report: ../pdf/DAS732_A2_Report_IEEE.pdf</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ocused_stor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IN" smtClean="0"/>
              <a:t>1/27/13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FF6DA9-008F-8B48-92A6-B652298478BF}"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ocused_stor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IN">
                <a:solidFill>
                  <a:schemeClr val="tx1">
                    <a:tint val="75000"/>
                  </a:schemeClr>
                </a:solidFill>
              </a:defRPr>
            </a:lvl1pPr>
          </a:lstStyle>
          <a:p>
            <a:fld id="{5BCAD085-E8A6-8845-BD4E-CB4CCA059FC4}" type="datetimeFigureOut">
              <a:rPr lang="en-IN" smtClean="0"/>
              <a:t>1/27/13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IN">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IN">
                <a:solidFill>
                  <a:schemeClr val="tx1">
                    <a:tint val="75000"/>
                  </a:schemeClr>
                </a:solidFill>
              </a:defRPr>
            </a:lvl1pPr>
          </a:lstStyle>
          <a:p>
            <a:fld id="{C1FF6DA9-008F-8B48-92A6-B652298478BF}"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en-I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en-I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en-I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en-I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en-I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en-I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en-I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en-I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en-I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en-IN">
          <a:solidFill>
            <a:schemeClr val="tx1"/>
          </a:solidFill>
          <a:latin typeface="+mn-lt"/>
          <a:ea typeface="+mn-ea"/>
          <a:cs typeface="+mn-cs"/>
        </a:defRPr>
      </a:lvl9pPr>
    </p:bodyStyle>
    <p:otherStyle>
      <a:defPPr>
        <a:defRPr lang="en-IN"/>
      </a:defPPr>
      <a:lvl1pPr marL="0" algn="l" defTabSz="457200" rtl="0" eaLnBrk="1" latinLnBrk="0" hangingPunct="1">
        <a:defRPr sz="1800" kern="1200" lang="en-IN">
          <a:solidFill>
            <a:schemeClr val="tx1"/>
          </a:solidFill>
          <a:latin typeface="+mn-lt"/>
          <a:ea typeface="+mn-ea"/>
          <a:cs typeface="+mn-cs"/>
        </a:defRPr>
      </a:lvl1pPr>
      <a:lvl2pPr marL="457200" algn="l" defTabSz="457200" rtl="0" eaLnBrk="1" latinLnBrk="0" hangingPunct="1">
        <a:defRPr sz="1800" kern="1200" lang="en-IN">
          <a:solidFill>
            <a:schemeClr val="tx1"/>
          </a:solidFill>
          <a:latin typeface="+mn-lt"/>
          <a:ea typeface="+mn-ea"/>
          <a:cs typeface="+mn-cs"/>
        </a:defRPr>
      </a:lvl2pPr>
      <a:lvl3pPr marL="914400" algn="l" defTabSz="457200" rtl="0" eaLnBrk="1" latinLnBrk="0" hangingPunct="1">
        <a:defRPr sz="1800" kern="1200" lang="en-IN">
          <a:solidFill>
            <a:schemeClr val="tx1"/>
          </a:solidFill>
          <a:latin typeface="+mn-lt"/>
          <a:ea typeface="+mn-ea"/>
          <a:cs typeface="+mn-cs"/>
        </a:defRPr>
      </a:lvl3pPr>
      <a:lvl4pPr marL="1371600" algn="l" defTabSz="457200" rtl="0" eaLnBrk="1" latinLnBrk="0" hangingPunct="1">
        <a:defRPr sz="1800" kern="1200" lang="en-IN">
          <a:solidFill>
            <a:schemeClr val="tx1"/>
          </a:solidFill>
          <a:latin typeface="+mn-lt"/>
          <a:ea typeface="+mn-ea"/>
          <a:cs typeface="+mn-cs"/>
        </a:defRPr>
      </a:lvl4pPr>
      <a:lvl5pPr marL="1828800" algn="l" defTabSz="457200" rtl="0" eaLnBrk="1" latinLnBrk="0" hangingPunct="1">
        <a:defRPr sz="1800" kern="1200" lang="en-IN">
          <a:solidFill>
            <a:schemeClr val="tx1"/>
          </a:solidFill>
          <a:latin typeface="+mn-lt"/>
          <a:ea typeface="+mn-ea"/>
          <a:cs typeface="+mn-cs"/>
        </a:defRPr>
      </a:lvl5pPr>
      <a:lvl6pPr marL="2286000" algn="l" defTabSz="457200" rtl="0" eaLnBrk="1" latinLnBrk="0" hangingPunct="1">
        <a:defRPr sz="1800" kern="1200" lang="en-IN">
          <a:solidFill>
            <a:schemeClr val="tx1"/>
          </a:solidFill>
          <a:latin typeface="+mn-lt"/>
          <a:ea typeface="+mn-ea"/>
          <a:cs typeface="+mn-cs"/>
        </a:defRPr>
      </a:lvl6pPr>
      <a:lvl7pPr marL="2743200" algn="l" defTabSz="457200" rtl="0" eaLnBrk="1" latinLnBrk="0" hangingPunct="1">
        <a:defRPr sz="1800" kern="1200" lang="en-IN">
          <a:solidFill>
            <a:schemeClr val="tx1"/>
          </a:solidFill>
          <a:latin typeface="+mn-lt"/>
          <a:ea typeface="+mn-ea"/>
          <a:cs typeface="+mn-cs"/>
        </a:defRPr>
      </a:lvl7pPr>
      <a:lvl8pPr marL="3200400" algn="l" defTabSz="457200" rtl="0" eaLnBrk="1" latinLnBrk="0" hangingPunct="1">
        <a:defRPr sz="1800" kern="1200" lang="en-IN">
          <a:solidFill>
            <a:schemeClr val="tx1"/>
          </a:solidFill>
          <a:latin typeface="+mn-lt"/>
          <a:ea typeface="+mn-ea"/>
          <a:cs typeface="+mn-cs"/>
        </a:defRPr>
      </a:lvl8pPr>
      <a:lvl9pPr marL="3657600" algn="l" defTabSz="457200" rtl="0" eaLnBrk="1" latinLnBrk="0" hangingPunct="1">
        <a:defRPr sz="1800" kern="1200" lang="en-I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ns0:Relationships xmlns:ns0="http://schemas.openxmlformats.org/package/2006/relationships"><ns0:Relationship Type="http://schemas.openxmlformats.org/officeDocument/2006/relationships/slideLayout" Target="../slideLayouts/slideLayout7.xml" Id="Ra4c4cd1b329a47e7" /><ns0:Relationship Type="http://schemas.openxmlformats.org/officeDocument/2006/relationships/image" Target="../media/network29_2_image.png" Id="R39ddece7a0394458" /><ns0:Relationship Id="rIdNetworkNotes" Type="http://schemas.openxmlformats.org/officeDocument/2006/relationships/notesSlide" Target="../notesSlides/notesSlide2.xml" />
</ns0:Relationships>
</file>

<file path=ppt/slides/_rels/slide3.xml.rels><?xml version='1.0' encoding='utf-8'?>
<ns0:Relationships xmlns:ns0="http://schemas.openxmlformats.org/package/2006/relationships"><ns0:Relationship Type="http://schemas.openxmlformats.org/officeDocument/2006/relationships/slideLayout" Target="../slideLayouts/slideLayout7.xml" Id="R0dda58857b4b454a" /><ns0:Relationship Type="http://schemas.openxmlformats.org/officeDocument/2006/relationships/image" Target="../media/network29_3_image2.png" Id="R8b483375020b4c9c" /><ns0:Relationship Id="rIdNetworkNotes" Type="http://schemas.openxmlformats.org/officeDocument/2006/relationships/notesSlide" Target="../notesSlides/notesSlide3.xml" />
</ns0: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75a7cd49f09d7b0.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75a7cd49f09d7b0.png"/>
  <Relationship Id="rId3" Type="http://schemas.openxmlformats.org/officeDocument/2006/relationships/hyperlink" Target="http://127.0.0.1:8765/web/index.html" TargetMode="External"/>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f0abb0a4f7adbd1.png"/>
  <Relationship Id="rId3" Type="http://schemas.openxmlformats.org/officeDocument/2006/relationships/image" Target="../media/image_e88da80c54af7084.pn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8fe10e6c54b1627.gif"/>
  <Relationship Id="rId3" Type="http://schemas.openxmlformats.org/officeDocument/2006/relationships/image" Target="../media/image_791ad6cefba43a8d.gif"/>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70dc32648bf0134.png"/>
  <Relationship Id="rId3" Type="http://schemas.openxmlformats.org/officeDocument/2006/relationships/image" Target="../media/image_92dbf9b4bb0f1acd.png"/>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ae4b63396ff0973.gif"/>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67783cb9fa38c62.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2170ab7f034143b.png"/>
  <Relationship Id="rId3" Type="http://schemas.openxmlformats.org/officeDocument/2006/relationships/image" Target="../media/image_48d90192955bb975.png"/>
  <Relationship Id="rId4" Type="http://schemas.openxmlformats.org/officeDocument/2006/relationships/image" Target="../media/image_5a9b62c5e24b7ad9.png"/>
  <Relationship Id="rId5"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638"/>
        </a:solidFill>
        <a:effectLst/>
      </p:bgPr>
    </p:bg>
    <p:spTree>
      <p:nvGrpSpPr>
        <p:cNvPr id="1" name=""/>
        <p:cNvGrpSpPr/>
        <p:nvPr/>
      </p:nvGrpSpPr>
      <p:grpSpPr>
        <a:xfrm>
          <a:off x="0" y="0"/>
          <a:ext cx="0" cy="0"/>
          <a:chOff x="0" y="0"/>
          <a:chExt cx="0" cy="0"/>
        </a:xfrm>
      </p:grpSpPr>
      <p:sp>
        <p:nvSpPr>
          <p:cNvPr id="2" name="background-1"/>
          <p:cNvSpPr/>
          <p:nvPr/>
        </p:nvSpPr>
        <p:spPr>
          <a:xfrm>
            <a:off x="7191375" y="0"/>
            <a:ext cx="5000625" cy="6858000"/>
          </a:xfrm>
          <a:prstGeom prst="rect">
            <a:avLst/>
          </a:prstGeom>
          <a:solidFill>
            <a:srgbClr val="087F83"/>
          </a:solidFill>
          <a:ln>
            <a:noFill/>
          </a:ln>
        </p:spPr>
      </p:sp>
      <p:grpSp>
        <p:nvGrpSpPr>
          <p:cNvPr id="4" name="identity-1"/>
          <p:cNvGrpSpPr/>
          <p:nvPr/>
        </p:nvGrpSpPr>
        <p:grpSpPr>
          <a:xfrm>
            <a:off x="451104" y="324231"/>
            <a:ext cx="2621465" cy="234696"/>
            <a:chOff x="451104" y="324231"/>
            <a:chExt cx="2621465" cy="234696"/>
          </a:xfrm>
        </p:grpSpPr>
        <p:sp>
          <p:nvSpPr>
            <p:cNvPr id="3" name="TextBox 3"/>
            <p:cNvSpPr txBox="1"/>
            <p:nvPr/>
          </p:nvSpPr>
          <p:spPr>
            <a:xfrm>
              <a:off x="451104" y="324231"/>
              <a:ext cx="2621465" cy="234696"/>
            </a:xfrm>
            <a:prstGeom prst="rect">
              <a:avLst/>
            </a:prstGeom>
            <a:noFill/>
            <a:ln>
              <a:noFill/>
            </a:ln>
          </p:spPr>
          <p:txBody>
            <a:bodyPr wrap="none" lIns="0" tIns="0" rIns="0" bIns="0" anchor="t" anchorCtr="0">
              <a:spAutoFit/>
            </a:bodyPr>
            <a:lstStyle/>
            <a:p>
              <a:pPr algn="l"/>
              <a:r>
                <a:rPr lang="en-IN" sz="1200" b="1" dirty="0">
                  <a:solidFill>
                    <a:srgbClr val="8FD4D0"/>
                  </a:solidFill>
                  <a:latin typeface="Segoe UI"/>
                  <a:ea typeface="Segoe UI"/>
                  <a:cs typeface="Segoe UI"/>
                </a:rPr>
                <a:t>DAS732 / DATA VISUALIZATION</a:t>
              </a:r>
            </a:p>
          </p:txBody>
        </p:sp>
      </p:grpSp>
      <p:grpSp>
        <p:nvGrpSpPr>
          <p:cNvPr id="6" name="identity-2"/>
          <p:cNvGrpSpPr/>
          <p:nvPr/>
        </p:nvGrpSpPr>
        <p:grpSpPr>
          <a:xfrm>
            <a:off x="457200" y="5772150"/>
            <a:ext cx="11277600" cy="9525"/>
            <a:chOff x="457200" y="5772150"/>
            <a:chExt cx="11277600" cy="9525"/>
          </a:xfrm>
        </p:grpSpPr>
        <p:sp>
          <p:nvSpPr>
            <p:cNvPr id="5" name="Line 5"/>
            <p:cNvSpPr/>
            <p:nvPr/>
          </p:nvSpPr>
          <p:spPr>
            <a:xfrm>
              <a:off x="457200" y="5772150"/>
              <a:ext cx="11277600" cy="9525"/>
            </a:xfrm>
            <a:custGeom>
              <a:avLst/>
              <a:gdLst/>
              <a:ahLst/>
              <a:cxnLst/>
              <a:rect l="l" t="t" r="r" b="b"/>
              <a:pathLst>
                <a:path w="11277600" h="9525">
                  <a:moveTo>
                    <a:pt x="0" y="0"/>
                  </a:moveTo>
                  <a:lnTo>
                    <a:pt x="11277600" y="0"/>
                  </a:lnTo>
                </a:path>
              </a:pathLst>
            </a:custGeom>
            <a:noFill/>
            <a:ln w="9525">
              <a:solidFill>
                <a:srgbClr val="7AB3B5"/>
              </a:solidFill>
            </a:ln>
          </p:spPr>
        </p:sp>
      </p:grpSp>
      <p:grpSp>
        <p:nvGrpSpPr>
          <p:cNvPr id="8" name="identity-3"/>
          <p:cNvGrpSpPr/>
          <p:nvPr/>
        </p:nvGrpSpPr>
        <p:grpSpPr>
          <a:xfrm>
            <a:off x="457581" y="5996559"/>
            <a:ext cx="3588907" cy="352044"/>
            <a:chOff x="457581" y="5996559"/>
            <a:chExt cx="3588907" cy="352044"/>
          </a:xfrm>
        </p:grpSpPr>
        <p:sp>
          <p:nvSpPr>
            <p:cNvPr id="7" name="TextBox 7"/>
            <p:cNvSpPr txBox="1"/>
            <p:nvPr/>
          </p:nvSpPr>
          <p:spPr>
            <a:xfrm>
              <a:off x="457581" y="5996559"/>
              <a:ext cx="3588907" cy="352044"/>
            </a:xfrm>
            <a:prstGeom prst="rect">
              <a:avLst/>
            </a:prstGeom>
            <a:noFill/>
            <a:ln>
              <a:noFill/>
            </a:ln>
          </p:spPr>
          <p:txBody>
            <a:bodyPr wrap="none" lIns="0" tIns="0" rIns="0" bIns="0" anchor="t" anchorCtr="0">
              <a:spAutoFit/>
            </a:bodyPr>
            <a:lstStyle/>
            <a:p>
              <a:pPr algn="l"/>
              <a:r>
                <a:rPr lang="en-IN" sz="1800" b="1" dirty="0">
                  <a:solidFill>
                    <a:srgbClr val="F5F2EA"/>
                  </a:solidFill>
                  <a:latin typeface="Segoe UI"/>
                  <a:ea typeface="Segoe UI"/>
                  <a:cs typeface="Segoe UI"/>
                </a:rPr>
                <a:t>Internet first → Weather second</a:t>
              </a:r>
            </a:p>
          </p:txBody>
        </p:sp>
      </p:grpSp>
      <p:grpSp>
        <p:nvGrpSpPr>
          <p:cNvPr id="12" name="title-1"/>
          <p:cNvGrpSpPr/>
          <p:nvPr/>
        </p:nvGrpSpPr>
        <p:grpSpPr>
          <a:xfrm>
            <a:off x="419100" y="1389380"/>
            <a:ext cx="5013009" cy="2960370"/>
            <a:chOff x="419100" y="1389380"/>
            <a:chExt cx="5013009" cy="2960370"/>
          </a:xfrm>
        </p:grpSpPr>
        <p:sp>
          <p:nvSpPr>
            <p:cNvPr id="9" name="TextBox 9"/>
            <p:cNvSpPr txBox="1"/>
            <p:nvPr/>
          </p:nvSpPr>
          <p:spPr>
            <a:xfrm>
              <a:off x="419100" y="1389380"/>
              <a:ext cx="4122683" cy="1162050"/>
            </a:xfrm>
            <a:prstGeom prst="rect">
              <a:avLst/>
            </a:prstGeom>
            <a:noFill/>
            <a:ln>
              <a:noFill/>
            </a:ln>
          </p:spPr>
          <p:txBody>
            <a:bodyPr wrap="none" lIns="0" tIns="0" rIns="0" bIns="0" anchor="t" anchorCtr="0">
              <a:spAutoFit/>
            </a:bodyPr>
            <a:lstStyle/>
            <a:p>
              <a:pPr algn="l"/>
              <a:r>
                <a:rPr lang="en-IN" sz="6000" b="1" dirty="0">
                  <a:solidFill>
                    <a:srgbClr val="F5F2EA"/>
                  </a:solidFill>
                  <a:latin typeface="Segoe UI"/>
                  <a:ea typeface="Segoe UI"/>
                  <a:cs typeface="Segoe UI"/>
                </a:rPr>
                <a:t>What does</a:t>
              </a:r>
            </a:p>
          </p:txBody>
        </p:sp>
        <p:sp>
          <p:nvSpPr>
            <p:cNvPr id="10" name="TextBox 10"/>
            <p:cNvSpPr txBox="1"/>
            <p:nvPr/>
          </p:nvSpPr>
          <p:spPr>
            <a:xfrm>
              <a:off x="419100" y="2288540"/>
              <a:ext cx="5013009" cy="1162050"/>
            </a:xfrm>
            <a:prstGeom prst="rect">
              <a:avLst/>
            </a:prstGeom>
            <a:noFill/>
            <a:ln>
              <a:noFill/>
            </a:ln>
          </p:spPr>
          <p:txBody>
            <a:bodyPr wrap="none" lIns="0" tIns="0" rIns="0" bIns="0" anchor="t" anchorCtr="0">
              <a:spAutoFit/>
            </a:bodyPr>
            <a:lstStyle/>
            <a:p>
              <a:pPr algn="l"/>
              <a:r>
                <a:rPr lang="en-IN" sz="6000" b="1" dirty="0">
                  <a:solidFill>
                    <a:srgbClr val="F5F2EA"/>
                  </a:solidFill>
                  <a:latin typeface="Segoe UI"/>
                  <a:ea typeface="Segoe UI"/>
                  <a:cs typeface="Segoe UI"/>
                </a:rPr>
                <a:t>the summary</a:t>
              </a:r>
            </a:p>
          </p:txBody>
        </p:sp>
        <p:sp>
          <p:nvSpPr>
            <p:cNvPr id="11" name="TextBox 11"/>
            <p:cNvSpPr txBox="1"/>
            <p:nvPr/>
          </p:nvSpPr>
          <p:spPr>
            <a:xfrm>
              <a:off x="419100" y="3187700"/>
              <a:ext cx="3887451" cy="1162050"/>
            </a:xfrm>
            <a:prstGeom prst="rect">
              <a:avLst/>
            </a:prstGeom>
            <a:noFill/>
            <a:ln>
              <a:noFill/>
            </a:ln>
          </p:spPr>
          <p:txBody>
            <a:bodyPr wrap="none" lIns="0" tIns="0" rIns="0" bIns="0" anchor="t" anchorCtr="0">
              <a:spAutoFit/>
            </a:bodyPr>
            <a:lstStyle/>
            <a:p>
              <a:pPr algn="l"/>
              <a:r>
                <a:rPr lang="en-IN" sz="6000" b="1" dirty="0">
                  <a:solidFill>
                    <a:srgbClr val="F5F2EA"/>
                  </a:solidFill>
                  <a:latin typeface="Segoe UI"/>
                  <a:ea typeface="Segoe UI"/>
                  <a:cs typeface="Segoe UI"/>
                </a:rPr>
                <a:t>leave out?</a:t>
              </a:r>
            </a:p>
          </p:txBody>
        </p:sp>
      </p:grpSp>
      <p:grpSp>
        <p:nvGrpSpPr>
          <p:cNvPr id="14" name="subtitle-1"/>
          <p:cNvGrpSpPr/>
          <p:nvPr/>
        </p:nvGrpSpPr>
        <p:grpSpPr>
          <a:xfrm>
            <a:off x="456057" y="4682998"/>
            <a:ext cx="5643187" cy="410718"/>
            <a:chOff x="456057" y="4682998"/>
            <a:chExt cx="5643187" cy="410718"/>
          </a:xfrm>
        </p:grpSpPr>
        <p:sp>
          <p:nvSpPr>
            <p:cNvPr id="13" name="TextBox 13"/>
            <p:cNvSpPr txBox="1"/>
            <p:nvPr/>
          </p:nvSpPr>
          <p:spPr>
            <a:xfrm>
              <a:off x="456057" y="4682998"/>
              <a:ext cx="5643187" cy="410718"/>
            </a:xfrm>
            <a:prstGeom prst="rect">
              <a:avLst/>
            </a:prstGeom>
            <a:noFill/>
            <a:ln>
              <a:noFill/>
            </a:ln>
          </p:spPr>
          <p:txBody>
            <a:bodyPr wrap="none" lIns="0" tIns="0" rIns="0" bIns="0" anchor="t" anchorCtr="0">
              <a:spAutoFit/>
            </a:bodyPr>
            <a:lstStyle/>
            <a:p>
              <a:pPr algn="l"/>
              <a:r>
                <a:rPr lang="en-IN" sz="2100" dirty="0">
                  <a:solidFill>
                    <a:srgbClr val="B8CFD9"/>
                  </a:solidFill>
                  <a:latin typeface="Segoe UI"/>
                  <a:ea typeface="Segoe UI"/>
                  <a:cs typeface="Segoe UI"/>
                </a:rPr>
                <a:t>Internet and Weather / an evidence-led story</a:t>
              </a:r>
            </a:p>
          </p:txBody>
        </p:sp>
      </p:grpSp>
      <p:grpSp>
        <p:nvGrpSpPr>
          <p:cNvPr id="16" name="route-1"/>
          <p:cNvGrpSpPr/>
          <p:nvPr/>
        </p:nvGrpSpPr>
        <p:grpSpPr>
          <a:xfrm>
            <a:off x="7631811" y="1587754"/>
            <a:ext cx="544589" cy="645414"/>
            <a:chOff x="7631811" y="1587754"/>
            <a:chExt cx="544589" cy="645414"/>
          </a:xfrm>
        </p:grpSpPr>
        <p:sp>
          <p:nvSpPr>
            <p:cNvPr id="15" name="TextBox 15"/>
            <p:cNvSpPr txBox="1"/>
            <p:nvPr/>
          </p:nvSpPr>
          <p:spPr>
            <a:xfrm>
              <a:off x="7631811" y="1587754"/>
              <a:ext cx="544589" cy="645414"/>
            </a:xfrm>
            <a:prstGeom prst="rect">
              <a:avLst/>
            </a:prstGeom>
            <a:noFill/>
            <a:ln>
              <a:noFill/>
            </a:ln>
          </p:spPr>
          <p:txBody>
            <a:bodyPr wrap="none" lIns="0" tIns="0" rIns="0" bIns="0" anchor="t" anchorCtr="0">
              <a:spAutoFit/>
            </a:bodyPr>
            <a:lstStyle/>
            <a:p>
              <a:pPr algn="l"/>
              <a:r>
                <a:rPr lang="en-IN" sz="3300" b="1" dirty="0">
                  <a:solidFill>
                    <a:srgbClr val="90E0DB"/>
                  </a:solidFill>
                  <a:latin typeface="Segoe UI"/>
                  <a:ea typeface="Segoe UI"/>
                  <a:cs typeface="Segoe UI"/>
                </a:rPr>
                <a:t>01</a:t>
              </a:r>
            </a:p>
          </p:txBody>
        </p:sp>
      </p:grpSp>
      <p:grpSp>
        <p:nvGrpSpPr>
          <p:cNvPr id="18" name="route-2"/>
          <p:cNvGrpSpPr/>
          <p:nvPr/>
        </p:nvGrpSpPr>
        <p:grpSpPr>
          <a:xfrm>
            <a:off x="7637907" y="2149348"/>
            <a:ext cx="2880058" cy="410718"/>
            <a:chOff x="7637907" y="2149348"/>
            <a:chExt cx="2880058" cy="410718"/>
          </a:xfrm>
        </p:grpSpPr>
        <p:sp>
          <p:nvSpPr>
            <p:cNvPr id="17" name="TextBox 17"/>
            <p:cNvSpPr txBox="1"/>
            <p:nvPr/>
          </p:nvSpPr>
          <p:spPr>
            <a:xfrm>
              <a:off x="7637907" y="2149348"/>
              <a:ext cx="2880058" cy="410718"/>
            </a:xfrm>
            <a:prstGeom prst="rect">
              <a:avLst/>
            </a:prstGeom>
            <a:noFill/>
            <a:ln>
              <a:noFill/>
            </a:ln>
          </p:spPr>
          <p:txBody>
            <a:bodyPr wrap="none" lIns="0" tIns="0" rIns="0" bIns="0" anchor="t" anchorCtr="0">
              <a:spAutoFit/>
            </a:bodyPr>
            <a:lstStyle/>
            <a:p>
              <a:pPr algn="l"/>
              <a:r>
                <a:rPr lang="en-IN" sz="2100" b="1" dirty="0">
                  <a:solidFill>
                    <a:srgbClr val="F5F2EA"/>
                  </a:solidFill>
                  <a:latin typeface="Segoe UI"/>
                  <a:ea typeface="Segoe UI"/>
                  <a:cs typeface="Segoe UI"/>
                </a:rPr>
                <a:t>Country relationships</a:t>
              </a:r>
            </a:p>
          </p:txBody>
        </p:sp>
      </p:grpSp>
      <p:grpSp>
        <p:nvGrpSpPr>
          <p:cNvPr id="20" name="route-3"/>
          <p:cNvGrpSpPr/>
          <p:nvPr/>
        </p:nvGrpSpPr>
        <p:grpSpPr>
          <a:xfrm>
            <a:off x="7631811" y="2921254"/>
            <a:ext cx="544589" cy="645414"/>
            <a:chOff x="7631811" y="2921254"/>
            <a:chExt cx="544589" cy="645414"/>
          </a:xfrm>
        </p:grpSpPr>
        <p:sp>
          <p:nvSpPr>
            <p:cNvPr id="19" name="TextBox 19"/>
            <p:cNvSpPr txBox="1"/>
            <p:nvPr/>
          </p:nvSpPr>
          <p:spPr>
            <a:xfrm>
              <a:off x="7631811" y="2921254"/>
              <a:ext cx="544589" cy="645414"/>
            </a:xfrm>
            <a:prstGeom prst="rect">
              <a:avLst/>
            </a:prstGeom>
            <a:noFill/>
            <a:ln>
              <a:noFill/>
            </a:ln>
          </p:spPr>
          <p:txBody>
            <a:bodyPr wrap="none" lIns="0" tIns="0" rIns="0" bIns="0" anchor="t" anchorCtr="0">
              <a:spAutoFit/>
            </a:bodyPr>
            <a:lstStyle/>
            <a:p>
              <a:pPr algn="l"/>
              <a:r>
                <a:rPr lang="en-IN" sz="3300" b="1" dirty="0">
                  <a:solidFill>
                    <a:srgbClr val="90E0DB"/>
                  </a:solidFill>
                  <a:latin typeface="Segoe UI"/>
                  <a:ea typeface="Segoe UI"/>
                  <a:cs typeface="Segoe UI"/>
                </a:rPr>
                <a:t>02</a:t>
              </a:r>
            </a:p>
          </p:txBody>
        </p:sp>
      </p:grpSp>
      <p:grpSp>
        <p:nvGrpSpPr>
          <p:cNvPr id="22" name="route-4"/>
          <p:cNvGrpSpPr/>
          <p:nvPr/>
        </p:nvGrpSpPr>
        <p:grpSpPr>
          <a:xfrm>
            <a:off x="7637907" y="3482848"/>
            <a:ext cx="2263797" cy="410718"/>
            <a:chOff x="7637907" y="3482848"/>
            <a:chExt cx="2263797" cy="410718"/>
          </a:xfrm>
        </p:grpSpPr>
        <p:sp>
          <p:nvSpPr>
            <p:cNvPr id="21" name="TextBox 21"/>
            <p:cNvSpPr txBox="1"/>
            <p:nvPr/>
          </p:nvSpPr>
          <p:spPr>
            <a:xfrm>
              <a:off x="7637907" y="3482848"/>
              <a:ext cx="2263797" cy="410718"/>
            </a:xfrm>
            <a:prstGeom prst="rect">
              <a:avLst/>
            </a:prstGeom>
            <a:noFill/>
            <a:ln>
              <a:noFill/>
            </a:ln>
          </p:spPr>
          <p:txBody>
            <a:bodyPr wrap="none" lIns="0" tIns="0" rIns="0" bIns="0" anchor="t" anchorCtr="0">
              <a:spAutoFit/>
            </a:bodyPr>
            <a:lstStyle/>
            <a:p>
              <a:pPr algn="l"/>
              <a:r>
                <a:rPr lang="en-IN" sz="2100" b="1" dirty="0">
                  <a:solidFill>
                    <a:srgbClr val="F5F2EA"/>
                  </a:solidFill>
                  <a:latin typeface="Segoe UI"/>
                  <a:ea typeface="Segoe UI"/>
                  <a:cs typeface="Segoe UI"/>
                </a:rPr>
                <a:t>Uneven progress</a:t>
              </a:r>
            </a:p>
          </p:txBody>
        </p:sp>
      </p:grpSp>
      <p:grpSp>
        <p:nvGrpSpPr>
          <p:cNvPr id="24" name="route-5"/>
          <p:cNvGrpSpPr/>
          <p:nvPr/>
        </p:nvGrpSpPr>
        <p:grpSpPr>
          <a:xfrm>
            <a:off x="7631811" y="4254754"/>
            <a:ext cx="544589" cy="645414"/>
            <a:chOff x="7631811" y="4254754"/>
            <a:chExt cx="544589" cy="645414"/>
          </a:xfrm>
        </p:grpSpPr>
        <p:sp>
          <p:nvSpPr>
            <p:cNvPr id="23" name="TextBox 23"/>
            <p:cNvSpPr txBox="1"/>
            <p:nvPr/>
          </p:nvSpPr>
          <p:spPr>
            <a:xfrm>
              <a:off x="7631811" y="4254754"/>
              <a:ext cx="544589" cy="645414"/>
            </a:xfrm>
            <a:prstGeom prst="rect">
              <a:avLst/>
            </a:prstGeom>
            <a:noFill/>
            <a:ln>
              <a:noFill/>
            </a:ln>
          </p:spPr>
          <p:txBody>
            <a:bodyPr wrap="none" lIns="0" tIns="0" rIns="0" bIns="0" anchor="t" anchorCtr="0">
              <a:spAutoFit/>
            </a:bodyPr>
            <a:lstStyle/>
            <a:p>
              <a:pPr algn="l"/>
              <a:r>
                <a:rPr lang="en-IN" sz="3300" b="1" dirty="0">
                  <a:solidFill>
                    <a:srgbClr val="90E0DB"/>
                  </a:solidFill>
                  <a:latin typeface="Segoe UI"/>
                  <a:ea typeface="Segoe UI"/>
                  <a:cs typeface="Segoe UI"/>
                </a:rPr>
                <a:t>03</a:t>
              </a:r>
            </a:p>
          </p:txBody>
        </p:sp>
      </p:grpSp>
      <p:grpSp>
        <p:nvGrpSpPr>
          <p:cNvPr id="26" name="route-6"/>
          <p:cNvGrpSpPr/>
          <p:nvPr/>
        </p:nvGrpSpPr>
        <p:grpSpPr>
          <a:xfrm>
            <a:off x="7637907" y="4816348"/>
            <a:ext cx="3005564" cy="410718"/>
            <a:chOff x="7637907" y="4816348"/>
            <a:chExt cx="3005564" cy="410718"/>
          </a:xfrm>
        </p:grpSpPr>
        <p:sp>
          <p:nvSpPr>
            <p:cNvPr id="25" name="TextBox 25"/>
            <p:cNvSpPr txBox="1"/>
            <p:nvPr/>
          </p:nvSpPr>
          <p:spPr>
            <a:xfrm>
              <a:off x="7637907" y="4816348"/>
              <a:ext cx="3005564" cy="410718"/>
            </a:xfrm>
            <a:prstGeom prst="rect">
              <a:avLst/>
            </a:prstGeom>
            <a:noFill/>
            <a:ln>
              <a:noFill/>
            </a:ln>
          </p:spPr>
          <p:txBody>
            <a:bodyPr wrap="none" lIns="0" tIns="0" rIns="0" bIns="0" anchor="t" anchorCtr="0">
              <a:spAutoFit/>
            </a:bodyPr>
            <a:lstStyle/>
            <a:p>
              <a:pPr algn="l"/>
              <a:r>
                <a:rPr lang="en-IN" sz="2100" b="1" dirty="0">
                  <a:solidFill>
                    <a:srgbClr val="F5F2EA"/>
                  </a:solidFill>
                  <a:latin typeface="Segoe UI"/>
                  <a:ea typeface="Segoe UI"/>
                  <a:cs typeface="Segoe UI"/>
                </a:rPr>
                <a:t>Weather through time</a:t>
              </a:r>
            </a:p>
          </p:txBody>
        </p:sp>
      </p:grpSp>
    </p:spTree>
  </p:cSld>
  <p:clrMapOvr>
    <a:masterClrMapping/>
  </p:clrMapOvr>
  <p:transition xmlns:p14="http://schemas.microsoft.com/office/powerpoint/2010/main" p14:dur="300">
    <p:fade/>
  </p:transition>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45DB1D-F48A-43B7-9022-A233EFD862FA}"/>
              </a:ext>
            </a:extLst>
          </p:cNvPr>
          <p:cNvSpPr>
            <a:spLocks xmlns:a="http://schemas.openxmlformats.org/drawingml/2006/main" noGrp="1"/>
          </p:cNvSpPr>
          <p:nvPr/>
        </p:nvSpPr>
        <p:spPr>
          <a:xfrm xmlns:a="http://schemas.openxmlformats.org/drawingml/2006/main">
            <a:off x="400050" y="23812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87F83"/>
                </a:solidFill>
                <a:latin typeface="Segoe UI"/>
                <a:ea typeface="Segoe UI"/>
                <a:cs typeface="Segoe UI"/>
              </a:defRPr>
            </a:defPPr>
            <a:lvl1pPr>
              <a:defRPr sz="1200" b="1">
                <a:solidFill>
                  <a:srgbClr val="087F83"/>
                </a:solidFill>
                <a:latin typeface="Segoe UI"/>
                <a:ea typeface="Segoe UI"/>
                <a:cs typeface="Segoe UI"/>
              </a:defRPr>
            </a:lvl1pPr>
            <a:lvl2pPr>
              <a:defRPr sz="1200" b="1">
                <a:solidFill>
                  <a:srgbClr val="087F83"/>
                </a:solidFill>
                <a:latin typeface="Segoe UI"/>
                <a:ea typeface="Segoe UI"/>
                <a:cs typeface="Segoe UI"/>
              </a:defRPr>
            </a:lvl2pPr>
            <a:lvl3pPr>
              <a:defRPr sz="1200" b="1">
                <a:solidFill>
                  <a:srgbClr val="087F83"/>
                </a:solidFill>
                <a:latin typeface="Segoe UI"/>
                <a:ea typeface="Segoe UI"/>
                <a:cs typeface="Segoe UI"/>
              </a:defRPr>
            </a:lvl3pPr>
            <a:lvl4pPr>
              <a:defRPr sz="1200" b="1">
                <a:solidFill>
                  <a:srgbClr val="087F83"/>
                </a:solidFill>
                <a:latin typeface="Segoe UI"/>
                <a:ea typeface="Segoe UI"/>
                <a:cs typeface="Segoe UI"/>
              </a:defRPr>
            </a:lvl4pPr>
            <a:lvl5pPr>
              <a:defRPr sz="1200" b="1">
                <a:solidFill>
                  <a:srgbClr val="087F83"/>
                </a:solidFill>
                <a:latin typeface="Segoe UI"/>
                <a:ea typeface="Segoe UI"/>
                <a:cs typeface="Segoe UI"/>
              </a:defRPr>
            </a:lvl5pPr>
            <a:lvl6pPr>
              <a:defRPr sz="1200" b="1">
                <a:solidFill>
                  <a:srgbClr val="087F83"/>
                </a:solidFill>
                <a:latin typeface="Segoe UI"/>
                <a:ea typeface="Segoe UI"/>
                <a:cs typeface="Segoe UI"/>
              </a:defRPr>
            </a:lvl6pPr>
            <a:lvl7pPr>
              <a:defRPr sz="1200" b="1">
                <a:solidFill>
                  <a:srgbClr val="087F83"/>
                </a:solidFill>
                <a:latin typeface="Segoe UI"/>
                <a:ea typeface="Segoe UI"/>
                <a:cs typeface="Segoe UI"/>
              </a:defRPr>
            </a:lvl7pPr>
            <a:lvl8pPr>
              <a:defRPr sz="1200" b="1">
                <a:solidFill>
                  <a:srgbClr val="087F83"/>
                </a:solidFill>
                <a:latin typeface="Segoe UI"/>
                <a:ea typeface="Segoe UI"/>
                <a:cs typeface="Segoe UI"/>
              </a:defRPr>
            </a:lvl8pPr>
            <a:lvl9pPr>
              <a:defRPr sz="1200" b="1">
                <a:solidFill>
                  <a:srgbClr val="087F83"/>
                </a:solidFill>
                <a:latin typeface="Segoe UI"/>
                <a:ea typeface="Segoe UI"/>
                <a:cs typeface="Segoe UI"/>
              </a:defRPr>
            </a:lvl9pPr>
          </a:lstStyle>
          <a:p xmlns:a="http://schemas.openxmlformats.org/drawingml/2006/main">
            <a:pPr>
              <a:defRPr sz="1200" b="1">
                <a:solidFill>
                  <a:srgbClr val="087F83"/>
                </a:solidFill>
                <a:latin typeface="Segoe UI"/>
                <a:ea typeface="Segoe UI"/>
                <a:cs typeface="Segoe UI"/>
              </a:defRPr>
            </a:pPr>
            <a:r>
              <a:rPr sz="1200" b="1">
                <a:solidFill>
                  <a:srgbClr val="087F83"/>
                </a:solidFill>
                <a:latin typeface="Segoe UI"/>
                <a:ea typeface="Segoe UI"/>
                <a:cs typeface="Segoe UI"/>
              </a:rPr>
              <a:t>INTERNET / COUNTRY SIMILARITY</a:t>
            </a:r>
          </a:p>
        </p:txBody>
      </p:sp>
      <p:sp>
        <p:nvSpPr>
          <p:cNvPr id="2" name="">
            <a:extLst xmlns:a="http://schemas.openxmlformats.org/drawingml/2006/main">
              <a:ext uri="{FF2B5EF4-FFF2-40B4-BE49-F238E27FC236}">
                <a16:creationId xmlns:a16="http://schemas.microsoft.com/office/drawing/2014/main" id="{A6DCFB85-C16A-4E9A-B288-EC1E9E8492D1}"/>
              </a:ext>
            </a:extLst>
          </p:cNvPr>
          <p:cNvSpPr>
            <a:spLocks xmlns:a="http://schemas.openxmlformats.org/drawingml/2006/main" noGrp="1"/>
          </p:cNvSpPr>
          <p:nvPr/>
        </p:nvSpPr>
        <p:spPr>
          <a:xfrm xmlns:a="http://schemas.openxmlformats.org/drawingml/2006/main">
            <a:off x="381000" y="666750"/>
            <a:ext cx="11334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02638"/>
                </a:solidFill>
                <a:latin typeface="Segoe UI"/>
                <a:ea typeface="Segoe UI"/>
                <a:cs typeface="Segoe UI"/>
              </a:defRPr>
            </a:defPPr>
            <a:lvl1pPr>
              <a:defRPr sz="3150" b="1">
                <a:solidFill>
                  <a:srgbClr val="102638"/>
                </a:solidFill>
                <a:latin typeface="Segoe UI"/>
                <a:ea typeface="Segoe UI"/>
                <a:cs typeface="Segoe UI"/>
              </a:defRPr>
            </a:lvl1pPr>
            <a:lvl2pPr>
              <a:defRPr sz="3150" b="1">
                <a:solidFill>
                  <a:srgbClr val="102638"/>
                </a:solidFill>
                <a:latin typeface="Segoe UI"/>
                <a:ea typeface="Segoe UI"/>
                <a:cs typeface="Segoe UI"/>
              </a:defRPr>
            </a:lvl2pPr>
            <a:lvl3pPr>
              <a:defRPr sz="3150" b="1">
                <a:solidFill>
                  <a:srgbClr val="102638"/>
                </a:solidFill>
                <a:latin typeface="Segoe UI"/>
                <a:ea typeface="Segoe UI"/>
                <a:cs typeface="Segoe UI"/>
              </a:defRPr>
            </a:lvl3pPr>
            <a:lvl4pPr>
              <a:defRPr sz="3150" b="1">
                <a:solidFill>
                  <a:srgbClr val="102638"/>
                </a:solidFill>
                <a:latin typeface="Segoe UI"/>
                <a:ea typeface="Segoe UI"/>
                <a:cs typeface="Segoe UI"/>
              </a:defRPr>
            </a:lvl4pPr>
            <a:lvl5pPr>
              <a:defRPr sz="3150" b="1">
                <a:solidFill>
                  <a:srgbClr val="102638"/>
                </a:solidFill>
                <a:latin typeface="Segoe UI"/>
                <a:ea typeface="Segoe UI"/>
                <a:cs typeface="Segoe UI"/>
              </a:defRPr>
            </a:lvl5pPr>
            <a:lvl6pPr>
              <a:defRPr sz="3150" b="1">
                <a:solidFill>
                  <a:srgbClr val="102638"/>
                </a:solidFill>
                <a:latin typeface="Segoe UI"/>
                <a:ea typeface="Segoe UI"/>
                <a:cs typeface="Segoe UI"/>
              </a:defRPr>
            </a:lvl6pPr>
            <a:lvl7pPr>
              <a:defRPr sz="3150" b="1">
                <a:solidFill>
                  <a:srgbClr val="102638"/>
                </a:solidFill>
                <a:latin typeface="Segoe UI"/>
                <a:ea typeface="Segoe UI"/>
                <a:cs typeface="Segoe UI"/>
              </a:defRPr>
            </a:lvl7pPr>
            <a:lvl8pPr>
              <a:defRPr sz="3150" b="1">
                <a:solidFill>
                  <a:srgbClr val="102638"/>
                </a:solidFill>
                <a:latin typeface="Segoe UI"/>
                <a:ea typeface="Segoe UI"/>
                <a:cs typeface="Segoe UI"/>
              </a:defRPr>
            </a:lvl8pPr>
            <a:lvl9pPr>
              <a:defRPr sz="3150" b="1">
                <a:solidFill>
                  <a:srgbClr val="102638"/>
                </a:solidFill>
                <a:latin typeface="Segoe UI"/>
                <a:ea typeface="Segoe UI"/>
                <a:cs typeface="Segoe UI"/>
              </a:defRPr>
            </a:lvl9pPr>
          </a:lstStyle>
          <a:p xmlns:a="http://schemas.openxmlformats.org/drawingml/2006/main">
            <a:pPr>
              <a:defRPr sz="3150" b="1">
                <a:solidFill>
                  <a:srgbClr val="102638"/>
                </a:solidFill>
                <a:latin typeface="Segoe UI"/>
                <a:ea typeface="Segoe UI"/>
                <a:cs typeface="Segoe UI"/>
              </a:defRPr>
            </a:pPr>
            <a:r>
              <a:rPr sz="3150" b="1">
                <a:solidFill>
                  <a:srgbClr val="102638"/>
                </a:solidFill>
                <a:latin typeface="Segoe UI"/>
                <a:ea typeface="Segoe UI"/>
                <a:cs typeface="Segoe UI"/>
              </a:rPr>
              <a:t>Similarity needs a visible threshold</a:t>
            </a:r>
          </a:p>
        </p:txBody>
      </p:sp>
      <p:pic>
        <p:nvPicPr>
          <p:cNvPr id="3" name="">
            <a:extLst xmlns:a="http://schemas.openxmlformats.org/drawingml/2006/main">
              <a:ext uri="{FF2B5EF4-FFF2-40B4-BE49-F238E27FC236}">
                <a16:creationId xmlns:a16="http://schemas.microsoft.com/office/drawing/2014/main" id="{7A5800AC-21CC-4DDC-8E43-A0A055C351FF}"/>
              </a:ext>
            </a:extLst>
          </p:cNvPr>
          <p:cNvPicPr>
            <a:picLocks xmlns:a="http://schemas.openxmlformats.org/drawingml/2006/main" noChangeAspect="1"/>
          </p:cNvPicPr>
          <p:nvPr/>
        </p:nvPicPr>
        <p:blipFill>
          <a:blip xmlns:r="http://schemas.openxmlformats.org/officeDocument/2006/relationships" xmlns:a="http://schemas.openxmlformats.org/drawingml/2006/main" r:embed="R39ddece7a0394458"/>
          <a:stretch xmlns:a="http://schemas.openxmlformats.org/drawingml/2006/main"/>
        </p:blipFill>
        <p:spPr>
          <a:xfrm xmlns:a="http://schemas.openxmlformats.org/drawingml/2006/main">
            <a:off x="1125376" y="1619250"/>
            <a:ext cx="9941249" cy="3286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95A3BAA-A044-442C-9E38-43746CF28CA5}"/>
              </a:ext>
            </a:extLst>
          </p:cNvPr>
          <p:cNvSpPr>
            <a:spLocks xmlns:a="http://schemas.openxmlformats.org/drawingml/2006/main" noGrp="1"/>
          </p:cNvSpPr>
          <p:nvPr/>
        </p:nvSpPr>
        <p:spPr>
          <a:xfrm xmlns:a="http://schemas.openxmlformats.org/drawingml/2006/main">
            <a:off x="400050" y="5143500"/>
            <a:ext cx="11334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1">
                <a:solidFill>
                  <a:srgbClr val="087F83"/>
                </a:solidFill>
                <a:latin typeface="Segoe UI"/>
                <a:ea typeface="Segoe UI"/>
                <a:cs typeface="Segoe UI"/>
              </a:defRPr>
            </a:defPPr>
            <a:lvl1pPr>
              <a:defRPr sz="2550" b="1">
                <a:solidFill>
                  <a:srgbClr val="087F83"/>
                </a:solidFill>
                <a:latin typeface="Segoe UI"/>
                <a:ea typeface="Segoe UI"/>
                <a:cs typeface="Segoe UI"/>
              </a:defRPr>
            </a:lvl1pPr>
            <a:lvl2pPr>
              <a:defRPr sz="2550" b="1">
                <a:solidFill>
                  <a:srgbClr val="087F83"/>
                </a:solidFill>
                <a:latin typeface="Segoe UI"/>
                <a:ea typeface="Segoe UI"/>
                <a:cs typeface="Segoe UI"/>
              </a:defRPr>
            </a:lvl2pPr>
            <a:lvl3pPr>
              <a:defRPr sz="2550" b="1">
                <a:solidFill>
                  <a:srgbClr val="087F83"/>
                </a:solidFill>
                <a:latin typeface="Segoe UI"/>
                <a:ea typeface="Segoe UI"/>
                <a:cs typeface="Segoe UI"/>
              </a:defRPr>
            </a:lvl3pPr>
            <a:lvl4pPr>
              <a:defRPr sz="2550" b="1">
                <a:solidFill>
                  <a:srgbClr val="087F83"/>
                </a:solidFill>
                <a:latin typeface="Segoe UI"/>
                <a:ea typeface="Segoe UI"/>
                <a:cs typeface="Segoe UI"/>
              </a:defRPr>
            </a:lvl4pPr>
            <a:lvl5pPr>
              <a:defRPr sz="2550" b="1">
                <a:solidFill>
                  <a:srgbClr val="087F83"/>
                </a:solidFill>
                <a:latin typeface="Segoe UI"/>
                <a:ea typeface="Segoe UI"/>
                <a:cs typeface="Segoe UI"/>
              </a:defRPr>
            </a:lvl5pPr>
            <a:lvl6pPr>
              <a:defRPr sz="2550" b="1">
                <a:solidFill>
                  <a:srgbClr val="087F83"/>
                </a:solidFill>
                <a:latin typeface="Segoe UI"/>
                <a:ea typeface="Segoe UI"/>
                <a:cs typeface="Segoe UI"/>
              </a:defRPr>
            </a:lvl6pPr>
            <a:lvl7pPr>
              <a:defRPr sz="2550" b="1">
                <a:solidFill>
                  <a:srgbClr val="087F83"/>
                </a:solidFill>
                <a:latin typeface="Segoe UI"/>
                <a:ea typeface="Segoe UI"/>
                <a:cs typeface="Segoe UI"/>
              </a:defRPr>
            </a:lvl7pPr>
            <a:lvl8pPr>
              <a:defRPr sz="2550" b="1">
                <a:solidFill>
                  <a:srgbClr val="087F83"/>
                </a:solidFill>
                <a:latin typeface="Segoe UI"/>
                <a:ea typeface="Segoe UI"/>
                <a:cs typeface="Segoe UI"/>
              </a:defRPr>
            </a:lvl8pPr>
            <a:lvl9pPr>
              <a:defRPr sz="2550" b="1">
                <a:solidFill>
                  <a:srgbClr val="087F83"/>
                </a:solidFill>
                <a:latin typeface="Segoe UI"/>
                <a:ea typeface="Segoe UI"/>
                <a:cs typeface="Segoe UI"/>
              </a:defRPr>
            </a:lvl9pPr>
          </a:lstStyle>
          <a:p xmlns:a="http://schemas.openxmlformats.org/drawingml/2006/main">
            <a:pPr>
              <a:defRPr sz="2550" b="1">
                <a:solidFill>
                  <a:srgbClr val="087F83"/>
                </a:solidFill>
                <a:latin typeface="Segoe UI"/>
                <a:ea typeface="Segoe UI"/>
                <a:cs typeface="Segoe UI"/>
              </a:defRPr>
            </a:pPr>
            <a:r>
              <a:rPr sz="2550" b="1">
                <a:solidFill>
                  <a:srgbClr val="087F83"/>
                </a:solidFill>
                <a:latin typeface="Segoe UI"/>
                <a:ea typeface="Segoe UI"/>
                <a:cs typeface="Segoe UI"/>
              </a:rPr>
              <a:t>15,931 possible pairs  →  797 retained links</a:t>
            </a:r>
          </a:p>
        </p:txBody>
      </p:sp>
      <p:sp>
        <p:nvSpPr>
          <p:cNvPr id="5" name="">
            <a:extLst xmlns:a="http://schemas.openxmlformats.org/drawingml/2006/main">
              <a:ext uri="{FF2B5EF4-FFF2-40B4-BE49-F238E27FC236}">
                <a16:creationId xmlns:a16="http://schemas.microsoft.com/office/drawing/2014/main" id="{BC71EFBF-FA46-41BB-B6AD-3A8AC221B917}"/>
              </a:ext>
            </a:extLst>
          </p:cNvPr>
          <p:cNvSpPr>
            <a:spLocks xmlns:a="http://schemas.openxmlformats.org/drawingml/2006/main" noGrp="1"/>
          </p:cNvSpPr>
          <p:nvPr/>
        </p:nvSpPr>
        <p:spPr>
          <a:xfrm xmlns:a="http://schemas.openxmlformats.org/drawingml/2006/main">
            <a:off x="400050" y="5762625"/>
            <a:ext cx="1133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102638"/>
                </a:solidFill>
                <a:latin typeface="Segoe UI"/>
                <a:ea typeface="Segoe UI"/>
                <a:cs typeface="Segoe UI"/>
              </a:defRPr>
            </a:defPPr>
            <a:lvl1pPr>
              <a:defRPr sz="1875" b="0">
                <a:solidFill>
                  <a:srgbClr val="102638"/>
                </a:solidFill>
                <a:latin typeface="Segoe UI"/>
                <a:ea typeface="Segoe UI"/>
                <a:cs typeface="Segoe UI"/>
              </a:defRPr>
            </a:lvl1pPr>
            <a:lvl2pPr>
              <a:defRPr sz="1875" b="0">
                <a:solidFill>
                  <a:srgbClr val="102638"/>
                </a:solidFill>
                <a:latin typeface="Segoe UI"/>
                <a:ea typeface="Segoe UI"/>
                <a:cs typeface="Segoe UI"/>
              </a:defRPr>
            </a:lvl2pPr>
            <a:lvl3pPr>
              <a:defRPr sz="1875" b="0">
                <a:solidFill>
                  <a:srgbClr val="102638"/>
                </a:solidFill>
                <a:latin typeface="Segoe UI"/>
                <a:ea typeface="Segoe UI"/>
                <a:cs typeface="Segoe UI"/>
              </a:defRPr>
            </a:lvl3pPr>
            <a:lvl4pPr>
              <a:defRPr sz="1875" b="0">
                <a:solidFill>
                  <a:srgbClr val="102638"/>
                </a:solidFill>
                <a:latin typeface="Segoe UI"/>
                <a:ea typeface="Segoe UI"/>
                <a:cs typeface="Segoe UI"/>
              </a:defRPr>
            </a:lvl4pPr>
            <a:lvl5pPr>
              <a:defRPr sz="1875" b="0">
                <a:solidFill>
                  <a:srgbClr val="102638"/>
                </a:solidFill>
                <a:latin typeface="Segoe UI"/>
                <a:ea typeface="Segoe UI"/>
                <a:cs typeface="Segoe UI"/>
              </a:defRPr>
            </a:lvl5pPr>
            <a:lvl6pPr>
              <a:defRPr sz="1875" b="0">
                <a:solidFill>
                  <a:srgbClr val="102638"/>
                </a:solidFill>
                <a:latin typeface="Segoe UI"/>
                <a:ea typeface="Segoe UI"/>
                <a:cs typeface="Segoe UI"/>
              </a:defRPr>
            </a:lvl6pPr>
            <a:lvl7pPr>
              <a:defRPr sz="1875" b="0">
                <a:solidFill>
                  <a:srgbClr val="102638"/>
                </a:solidFill>
                <a:latin typeface="Segoe UI"/>
                <a:ea typeface="Segoe UI"/>
                <a:cs typeface="Segoe UI"/>
              </a:defRPr>
            </a:lvl7pPr>
            <a:lvl8pPr>
              <a:defRPr sz="1875" b="0">
                <a:solidFill>
                  <a:srgbClr val="102638"/>
                </a:solidFill>
                <a:latin typeface="Segoe UI"/>
                <a:ea typeface="Segoe UI"/>
                <a:cs typeface="Segoe UI"/>
              </a:defRPr>
            </a:lvl8pPr>
            <a:lvl9pPr>
              <a:defRPr sz="1875" b="0">
                <a:solidFill>
                  <a:srgbClr val="102638"/>
                </a:solidFill>
                <a:latin typeface="Segoe UI"/>
                <a:ea typeface="Segoe UI"/>
                <a:cs typeface="Segoe UI"/>
              </a:defRPr>
            </a:lvl9pPr>
          </a:lstStyle>
          <a:p xmlns:a="http://schemas.openxmlformats.org/drawingml/2006/main">
            <a:pPr>
              <a:defRPr sz="1875" b="0">
                <a:solidFill>
                  <a:srgbClr val="102638"/>
                </a:solidFill>
                <a:latin typeface="Segoe UI"/>
                <a:ea typeface="Segoe UI"/>
                <a:cs typeface="Segoe UI"/>
              </a:defRPr>
            </a:pPr>
            <a:r>
              <a:rPr sz="1875" b="0">
                <a:solidFill>
                  <a:srgbClr val="102638"/>
                </a:solidFill>
                <a:latin typeface="Segoe UI"/>
                <a:ea typeface="Segoe UI"/>
                <a:cs typeface="Segoe UI"/>
              </a:rPr>
              <a:t>P95 threshold: 0.569763  |  12 isolated countries retained</a:t>
            </a:r>
          </a:p>
        </p:txBody>
      </p:sp>
      <p:sp>
        <p:nvSpPr>
          <p:cNvPr id="6" name="">
            <a:extLst xmlns:a="http://schemas.openxmlformats.org/drawingml/2006/main">
              <a:ext uri="{FF2B5EF4-FFF2-40B4-BE49-F238E27FC236}">
                <a16:creationId xmlns:a16="http://schemas.microsoft.com/office/drawing/2014/main" id="{BE9DEC1B-7B68-4E00-BCBA-2528B6C9F6B0}"/>
              </a:ext>
            </a:extLst>
          </p:cNvPr>
          <p:cNvSpPr>
            <a:spLocks xmlns:a="http://schemas.openxmlformats.org/drawingml/2006/main" noGrp="1"/>
          </p:cNvSpPr>
          <p:nvPr/>
        </p:nvSpPr>
        <p:spPr>
          <a:xfrm xmlns:a="http://schemas.openxmlformats.org/drawingml/2006/main">
            <a:off x="400050" y="651510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00" b="0">
                <a:solidFill>
                  <a:srgbClr val="536878"/>
                </a:solidFill>
                <a:latin typeface="Segoe UI"/>
                <a:ea typeface="Segoe UI"/>
                <a:cs typeface="Segoe UI"/>
              </a:defRPr>
            </a:defPPr>
            <a:lvl1pPr>
              <a:defRPr sz="900" b="0">
                <a:solidFill>
                  <a:srgbClr val="536878"/>
                </a:solidFill>
                <a:latin typeface="Segoe UI"/>
                <a:ea typeface="Segoe UI"/>
                <a:cs typeface="Segoe UI"/>
              </a:defRPr>
            </a:lvl1pPr>
            <a:lvl2pPr>
              <a:defRPr sz="900" b="0">
                <a:solidFill>
                  <a:srgbClr val="536878"/>
                </a:solidFill>
                <a:latin typeface="Segoe UI"/>
                <a:ea typeface="Segoe UI"/>
                <a:cs typeface="Segoe UI"/>
              </a:defRPr>
            </a:lvl2pPr>
            <a:lvl3pPr>
              <a:defRPr sz="900" b="0">
                <a:solidFill>
                  <a:srgbClr val="536878"/>
                </a:solidFill>
                <a:latin typeface="Segoe UI"/>
                <a:ea typeface="Segoe UI"/>
                <a:cs typeface="Segoe UI"/>
              </a:defRPr>
            </a:lvl3pPr>
            <a:lvl4pPr>
              <a:defRPr sz="900" b="0">
                <a:solidFill>
                  <a:srgbClr val="536878"/>
                </a:solidFill>
                <a:latin typeface="Segoe UI"/>
                <a:ea typeface="Segoe UI"/>
                <a:cs typeface="Segoe UI"/>
              </a:defRPr>
            </a:lvl4pPr>
            <a:lvl5pPr>
              <a:defRPr sz="900" b="0">
                <a:solidFill>
                  <a:srgbClr val="536878"/>
                </a:solidFill>
                <a:latin typeface="Segoe UI"/>
                <a:ea typeface="Segoe UI"/>
                <a:cs typeface="Segoe UI"/>
              </a:defRPr>
            </a:lvl5pPr>
            <a:lvl6pPr>
              <a:defRPr sz="900" b="0">
                <a:solidFill>
                  <a:srgbClr val="536878"/>
                </a:solidFill>
                <a:latin typeface="Segoe UI"/>
                <a:ea typeface="Segoe UI"/>
                <a:cs typeface="Segoe UI"/>
              </a:defRPr>
            </a:lvl6pPr>
            <a:lvl7pPr>
              <a:defRPr sz="900" b="0">
                <a:solidFill>
                  <a:srgbClr val="536878"/>
                </a:solidFill>
                <a:latin typeface="Segoe UI"/>
                <a:ea typeface="Segoe UI"/>
                <a:cs typeface="Segoe UI"/>
              </a:defRPr>
            </a:lvl7pPr>
            <a:lvl8pPr>
              <a:defRPr sz="900" b="0">
                <a:solidFill>
                  <a:srgbClr val="536878"/>
                </a:solidFill>
                <a:latin typeface="Segoe UI"/>
                <a:ea typeface="Segoe UI"/>
                <a:cs typeface="Segoe UI"/>
              </a:defRPr>
            </a:lvl8pPr>
            <a:lvl9pPr>
              <a:defRPr sz="900" b="0">
                <a:solidFill>
                  <a:srgbClr val="536878"/>
                </a:solidFill>
                <a:latin typeface="Segoe UI"/>
                <a:ea typeface="Segoe UI"/>
                <a:cs typeface="Segoe UI"/>
              </a:defRPr>
            </a:lvl9pPr>
          </a:lstStyle>
          <a:p xmlns:a="http://schemas.openxmlformats.org/drawingml/2006/main">
            <a:pPr>
              <a:defRPr sz="900" b="0">
                <a:solidFill>
                  <a:srgbClr val="536878"/>
                </a:solidFill>
                <a:latin typeface="Segoe UI"/>
                <a:ea typeface="Segoe UI"/>
                <a:cs typeface="Segoe UI"/>
              </a:defRPr>
            </a:pPr>
            <a:r>
              <a:rPr sz="900" b="0">
                <a:solidFill>
                  <a:srgbClr val="536878"/>
                </a:solidFill>
                <a:latin typeface="Segoe UI"/>
                <a:ea typeface="Segoe UI"/>
                <a:cs typeface="Segoe UI"/>
              </a:rPr>
              <a:t>Source: report Figs. 1 and 3; all-pair threshold audit. Similar profiles, not physical cables.</a:t>
            </a:r>
          </a:p>
        </p:txBody>
      </p:sp>
    </p:spTree>
    <p:extLst>
      <p:ext uri="{BB962C8B-B14F-4D97-AF65-F5344CB8AC3E}">
        <p14:creationId xmlns:p14="http://schemas.microsoft.com/office/powerpoint/2010/main" val="1415479456"/>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8E7B00A-3B22-4EED-8592-CDCA0BBA5CDF}"/>
              </a:ext>
            </a:extLst>
          </p:cNvPr>
          <p:cNvSpPr>
            <a:spLocks xmlns:a="http://schemas.openxmlformats.org/drawingml/2006/main" noGrp="1"/>
          </p:cNvSpPr>
          <p:nvPr/>
        </p:nvSpPr>
        <p:spPr>
          <a:xfrm xmlns:a="http://schemas.openxmlformats.org/drawingml/2006/main">
            <a:off x="400050" y="23812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87F83"/>
                </a:solidFill>
                <a:latin typeface="Segoe UI"/>
                <a:ea typeface="Segoe UI"/>
                <a:cs typeface="Segoe UI"/>
              </a:defRPr>
            </a:defPPr>
            <a:lvl1pPr>
              <a:defRPr sz="1200" b="1">
                <a:solidFill>
                  <a:srgbClr val="087F83"/>
                </a:solidFill>
                <a:latin typeface="Segoe UI"/>
                <a:ea typeface="Segoe UI"/>
                <a:cs typeface="Segoe UI"/>
              </a:defRPr>
            </a:lvl1pPr>
            <a:lvl2pPr>
              <a:defRPr sz="1200" b="1">
                <a:solidFill>
                  <a:srgbClr val="087F83"/>
                </a:solidFill>
                <a:latin typeface="Segoe UI"/>
                <a:ea typeface="Segoe UI"/>
                <a:cs typeface="Segoe UI"/>
              </a:defRPr>
            </a:lvl2pPr>
            <a:lvl3pPr>
              <a:defRPr sz="1200" b="1">
                <a:solidFill>
                  <a:srgbClr val="087F83"/>
                </a:solidFill>
                <a:latin typeface="Segoe UI"/>
                <a:ea typeface="Segoe UI"/>
                <a:cs typeface="Segoe UI"/>
              </a:defRPr>
            </a:lvl3pPr>
            <a:lvl4pPr>
              <a:defRPr sz="1200" b="1">
                <a:solidFill>
                  <a:srgbClr val="087F83"/>
                </a:solidFill>
                <a:latin typeface="Segoe UI"/>
                <a:ea typeface="Segoe UI"/>
                <a:cs typeface="Segoe UI"/>
              </a:defRPr>
            </a:lvl4pPr>
            <a:lvl5pPr>
              <a:defRPr sz="1200" b="1">
                <a:solidFill>
                  <a:srgbClr val="087F83"/>
                </a:solidFill>
                <a:latin typeface="Segoe UI"/>
                <a:ea typeface="Segoe UI"/>
                <a:cs typeface="Segoe UI"/>
              </a:defRPr>
            </a:lvl5pPr>
            <a:lvl6pPr>
              <a:defRPr sz="1200" b="1">
                <a:solidFill>
                  <a:srgbClr val="087F83"/>
                </a:solidFill>
                <a:latin typeface="Segoe UI"/>
                <a:ea typeface="Segoe UI"/>
                <a:cs typeface="Segoe UI"/>
              </a:defRPr>
            </a:lvl6pPr>
            <a:lvl7pPr>
              <a:defRPr sz="1200" b="1">
                <a:solidFill>
                  <a:srgbClr val="087F83"/>
                </a:solidFill>
                <a:latin typeface="Segoe UI"/>
                <a:ea typeface="Segoe UI"/>
                <a:cs typeface="Segoe UI"/>
              </a:defRPr>
            </a:lvl7pPr>
            <a:lvl8pPr>
              <a:defRPr sz="1200" b="1">
                <a:solidFill>
                  <a:srgbClr val="087F83"/>
                </a:solidFill>
                <a:latin typeface="Segoe UI"/>
                <a:ea typeface="Segoe UI"/>
                <a:cs typeface="Segoe UI"/>
              </a:defRPr>
            </a:lvl8pPr>
            <a:lvl9pPr>
              <a:defRPr sz="1200" b="1">
                <a:solidFill>
                  <a:srgbClr val="087F83"/>
                </a:solidFill>
                <a:latin typeface="Segoe UI"/>
                <a:ea typeface="Segoe UI"/>
                <a:cs typeface="Segoe UI"/>
              </a:defRPr>
            </a:lvl9pPr>
          </a:lstStyle>
          <a:p xmlns:a="http://schemas.openxmlformats.org/drawingml/2006/main">
            <a:pPr>
              <a:defRPr sz="1200" b="1">
                <a:solidFill>
                  <a:srgbClr val="087F83"/>
                </a:solidFill>
                <a:latin typeface="Segoe UI"/>
                <a:ea typeface="Segoe UI"/>
                <a:cs typeface="Segoe UI"/>
              </a:defRPr>
            </a:pPr>
            <a:r>
              <a:rPr sz="1200" b="1">
                <a:solidFill>
                  <a:srgbClr val="087F83"/>
                </a:solidFill>
                <a:latin typeface="Segoe UI"/>
                <a:ea typeface="Segoe UI"/>
                <a:cs typeface="Segoe UI"/>
              </a:rPr>
              <a:t>INTERNET / COUNTRY SIMILARITY</a:t>
            </a:r>
          </a:p>
        </p:txBody>
      </p:sp>
      <p:sp>
        <p:nvSpPr>
          <p:cNvPr id="2" name="">
            <a:extLst xmlns:a="http://schemas.openxmlformats.org/drawingml/2006/main">
              <a:ext uri="{FF2B5EF4-FFF2-40B4-BE49-F238E27FC236}">
                <a16:creationId xmlns:a16="http://schemas.microsoft.com/office/drawing/2014/main" id="{4979E9DB-0809-42A9-B994-1F804A5D3549}"/>
              </a:ext>
            </a:extLst>
          </p:cNvPr>
          <p:cNvSpPr>
            <a:spLocks xmlns:a="http://schemas.openxmlformats.org/drawingml/2006/main" noGrp="1"/>
          </p:cNvSpPr>
          <p:nvPr/>
        </p:nvSpPr>
        <p:spPr>
          <a:xfrm xmlns:a="http://schemas.openxmlformats.org/drawingml/2006/main">
            <a:off x="381000" y="666750"/>
            <a:ext cx="11334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02638"/>
                </a:solidFill>
                <a:latin typeface="Segoe UI"/>
                <a:ea typeface="Segoe UI"/>
                <a:cs typeface="Segoe UI"/>
              </a:defRPr>
            </a:defPPr>
            <a:lvl1pPr>
              <a:defRPr sz="3150" b="1">
                <a:solidFill>
                  <a:srgbClr val="102638"/>
                </a:solidFill>
                <a:latin typeface="Segoe UI"/>
                <a:ea typeface="Segoe UI"/>
                <a:cs typeface="Segoe UI"/>
              </a:defRPr>
            </a:lvl1pPr>
            <a:lvl2pPr>
              <a:defRPr sz="3150" b="1">
                <a:solidFill>
                  <a:srgbClr val="102638"/>
                </a:solidFill>
                <a:latin typeface="Segoe UI"/>
                <a:ea typeface="Segoe UI"/>
                <a:cs typeface="Segoe UI"/>
              </a:defRPr>
            </a:lvl2pPr>
            <a:lvl3pPr>
              <a:defRPr sz="3150" b="1">
                <a:solidFill>
                  <a:srgbClr val="102638"/>
                </a:solidFill>
                <a:latin typeface="Segoe UI"/>
                <a:ea typeface="Segoe UI"/>
                <a:cs typeface="Segoe UI"/>
              </a:defRPr>
            </a:lvl3pPr>
            <a:lvl4pPr>
              <a:defRPr sz="3150" b="1">
                <a:solidFill>
                  <a:srgbClr val="102638"/>
                </a:solidFill>
                <a:latin typeface="Segoe UI"/>
                <a:ea typeface="Segoe UI"/>
                <a:cs typeface="Segoe UI"/>
              </a:defRPr>
            </a:lvl4pPr>
            <a:lvl5pPr>
              <a:defRPr sz="3150" b="1">
                <a:solidFill>
                  <a:srgbClr val="102638"/>
                </a:solidFill>
                <a:latin typeface="Segoe UI"/>
                <a:ea typeface="Segoe UI"/>
                <a:cs typeface="Segoe UI"/>
              </a:defRPr>
            </a:lvl5pPr>
            <a:lvl6pPr>
              <a:defRPr sz="3150" b="1">
                <a:solidFill>
                  <a:srgbClr val="102638"/>
                </a:solidFill>
                <a:latin typeface="Segoe UI"/>
                <a:ea typeface="Segoe UI"/>
                <a:cs typeface="Segoe UI"/>
              </a:defRPr>
            </a:lvl6pPr>
            <a:lvl7pPr>
              <a:defRPr sz="3150" b="1">
                <a:solidFill>
                  <a:srgbClr val="102638"/>
                </a:solidFill>
                <a:latin typeface="Segoe UI"/>
                <a:ea typeface="Segoe UI"/>
                <a:cs typeface="Segoe UI"/>
              </a:defRPr>
            </a:lvl7pPr>
            <a:lvl8pPr>
              <a:defRPr sz="3150" b="1">
                <a:solidFill>
                  <a:srgbClr val="102638"/>
                </a:solidFill>
                <a:latin typeface="Segoe UI"/>
                <a:ea typeface="Segoe UI"/>
                <a:cs typeface="Segoe UI"/>
              </a:defRPr>
            </a:lvl8pPr>
            <a:lvl9pPr>
              <a:defRPr sz="3150" b="1">
                <a:solidFill>
                  <a:srgbClr val="102638"/>
                </a:solidFill>
                <a:latin typeface="Segoe UI"/>
                <a:ea typeface="Segoe UI"/>
                <a:cs typeface="Segoe UI"/>
              </a:defRPr>
            </a:lvl9pPr>
          </a:lstStyle>
          <a:p xmlns:a="http://schemas.openxmlformats.org/drawingml/2006/main">
            <a:pPr>
              <a:defRPr sz="3150" b="1">
                <a:solidFill>
                  <a:srgbClr val="102638"/>
                </a:solidFill>
                <a:latin typeface="Segoe UI"/>
                <a:ea typeface="Segoe UI"/>
                <a:cs typeface="Segoe UI"/>
              </a:defRPr>
            </a:pPr>
            <a:r>
              <a:rPr sz="3150" b="1">
                <a:solidFill>
                  <a:srgbClr val="102638"/>
                </a:solidFill>
                <a:latin typeface="Segoe UI"/>
                <a:ea typeface="Segoe UI"/>
                <a:cs typeface="Segoe UI"/>
              </a:rPr>
              <a:t>Groups still contain unequal relationships</a:t>
            </a:r>
          </a:p>
        </p:txBody>
      </p:sp>
      <p:pic>
        <p:nvPicPr>
          <p:cNvPr id="3" name="">
            <a:extLst xmlns:a="http://schemas.openxmlformats.org/drawingml/2006/main">
              <a:ext uri="{FF2B5EF4-FFF2-40B4-BE49-F238E27FC236}">
                <a16:creationId xmlns:a16="http://schemas.microsoft.com/office/drawing/2014/main" id="{44CB3785-E702-4095-9023-7D5799D93FDE}"/>
              </a:ext>
            </a:extLst>
          </p:cNvPr>
          <p:cNvPicPr>
            <a:picLocks xmlns:a="http://schemas.openxmlformats.org/drawingml/2006/main" noChangeAspect="1"/>
          </p:cNvPicPr>
          <p:nvPr/>
        </p:nvPicPr>
        <p:blipFill>
          <a:blip xmlns:r="http://schemas.openxmlformats.org/officeDocument/2006/relationships" xmlns:a="http://schemas.openxmlformats.org/drawingml/2006/main" r:embed="R8b483375020b4c9c"/>
          <a:stretch xmlns:a="http://schemas.openxmlformats.org/drawingml/2006/main"/>
        </p:blipFill>
        <p:spPr>
          <a:xfrm xmlns:a="http://schemas.openxmlformats.org/drawingml/2006/main">
            <a:off x="1801666" y="1619250"/>
            <a:ext cx="4683418"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D6B82AF-E4E7-4F89-8A22-294D362B91B4}"/>
              </a:ext>
            </a:extLst>
          </p:cNvPr>
          <p:cNvSpPr>
            <a:spLocks xmlns:a="http://schemas.openxmlformats.org/drawingml/2006/main" noGrp="1"/>
          </p:cNvSpPr>
          <p:nvPr/>
        </p:nvSpPr>
        <p:spPr>
          <a:xfrm xmlns:a="http://schemas.openxmlformats.org/drawingml/2006/main">
            <a:off x="8286750" y="1905000"/>
            <a:ext cx="342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350" b="1">
                <a:solidFill>
                  <a:srgbClr val="087F83"/>
                </a:solidFill>
                <a:latin typeface="Segoe UI"/>
                <a:ea typeface="Segoe UI"/>
                <a:cs typeface="Segoe UI"/>
              </a:defRPr>
            </a:defPPr>
            <a:lvl1pPr>
              <a:defRPr sz="4350" b="1">
                <a:solidFill>
                  <a:srgbClr val="087F83"/>
                </a:solidFill>
                <a:latin typeface="Segoe UI"/>
                <a:ea typeface="Segoe UI"/>
                <a:cs typeface="Segoe UI"/>
              </a:defRPr>
            </a:lvl1pPr>
            <a:lvl2pPr>
              <a:defRPr sz="4350" b="1">
                <a:solidFill>
                  <a:srgbClr val="087F83"/>
                </a:solidFill>
                <a:latin typeface="Segoe UI"/>
                <a:ea typeface="Segoe UI"/>
                <a:cs typeface="Segoe UI"/>
              </a:defRPr>
            </a:lvl2pPr>
            <a:lvl3pPr>
              <a:defRPr sz="4350" b="1">
                <a:solidFill>
                  <a:srgbClr val="087F83"/>
                </a:solidFill>
                <a:latin typeface="Segoe UI"/>
                <a:ea typeface="Segoe UI"/>
                <a:cs typeface="Segoe UI"/>
              </a:defRPr>
            </a:lvl3pPr>
            <a:lvl4pPr>
              <a:defRPr sz="4350" b="1">
                <a:solidFill>
                  <a:srgbClr val="087F83"/>
                </a:solidFill>
                <a:latin typeface="Segoe UI"/>
                <a:ea typeface="Segoe UI"/>
                <a:cs typeface="Segoe UI"/>
              </a:defRPr>
            </a:lvl4pPr>
            <a:lvl5pPr>
              <a:defRPr sz="4350" b="1">
                <a:solidFill>
                  <a:srgbClr val="087F83"/>
                </a:solidFill>
                <a:latin typeface="Segoe UI"/>
                <a:ea typeface="Segoe UI"/>
                <a:cs typeface="Segoe UI"/>
              </a:defRPr>
            </a:lvl5pPr>
            <a:lvl6pPr>
              <a:defRPr sz="4350" b="1">
                <a:solidFill>
                  <a:srgbClr val="087F83"/>
                </a:solidFill>
                <a:latin typeface="Segoe UI"/>
                <a:ea typeface="Segoe UI"/>
                <a:cs typeface="Segoe UI"/>
              </a:defRPr>
            </a:lvl6pPr>
            <a:lvl7pPr>
              <a:defRPr sz="4350" b="1">
                <a:solidFill>
                  <a:srgbClr val="087F83"/>
                </a:solidFill>
                <a:latin typeface="Segoe UI"/>
                <a:ea typeface="Segoe UI"/>
                <a:cs typeface="Segoe UI"/>
              </a:defRPr>
            </a:lvl7pPr>
            <a:lvl8pPr>
              <a:defRPr sz="4350" b="1">
                <a:solidFill>
                  <a:srgbClr val="087F83"/>
                </a:solidFill>
                <a:latin typeface="Segoe UI"/>
                <a:ea typeface="Segoe UI"/>
                <a:cs typeface="Segoe UI"/>
              </a:defRPr>
            </a:lvl8pPr>
            <a:lvl9pPr>
              <a:defRPr sz="4350" b="1">
                <a:solidFill>
                  <a:srgbClr val="087F83"/>
                </a:solidFill>
                <a:latin typeface="Segoe UI"/>
                <a:ea typeface="Segoe UI"/>
                <a:cs typeface="Segoe UI"/>
              </a:defRPr>
            </a:lvl9pPr>
          </a:lstStyle>
          <a:p xmlns:a="http://schemas.openxmlformats.org/drawingml/2006/main">
            <a:pPr>
              <a:defRPr sz="4350" b="1">
                <a:solidFill>
                  <a:srgbClr val="087F83"/>
                </a:solidFill>
                <a:latin typeface="Segoe UI"/>
                <a:ea typeface="Segoe UI"/>
                <a:cs typeface="Segoe UI"/>
              </a:defRPr>
            </a:pPr>
            <a:r>
              <a:rPr sz="4350" b="1">
                <a:solidFill>
                  <a:srgbClr val="087F83"/>
                </a:solidFill>
                <a:latin typeface="Segoe UI"/>
                <a:ea typeface="Segoe UI"/>
                <a:cs typeface="Segoe UI"/>
              </a:rPr>
              <a:t>93 / 105</a:t>
            </a:r>
          </a:p>
        </p:txBody>
      </p:sp>
      <p:sp>
        <p:nvSpPr>
          <p:cNvPr id="5" name="">
            <a:extLst xmlns:a="http://schemas.openxmlformats.org/drawingml/2006/main">
              <a:ext uri="{FF2B5EF4-FFF2-40B4-BE49-F238E27FC236}">
                <a16:creationId xmlns:a16="http://schemas.microsoft.com/office/drawing/2014/main" id="{348A91A0-EAB7-456D-8AF4-9D2CD1352207}"/>
              </a:ext>
            </a:extLst>
          </p:cNvPr>
          <p:cNvSpPr>
            <a:spLocks xmlns:a="http://schemas.openxmlformats.org/drawingml/2006/main" noGrp="1"/>
          </p:cNvSpPr>
          <p:nvPr/>
        </p:nvSpPr>
        <p:spPr>
          <a:xfrm xmlns:a="http://schemas.openxmlformats.org/drawingml/2006/main">
            <a:off x="8286750" y="276225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102638"/>
                </a:solidFill>
                <a:latin typeface="Segoe UI"/>
                <a:ea typeface="Segoe UI"/>
                <a:cs typeface="Segoe UI"/>
              </a:defRPr>
            </a:defPPr>
            <a:lvl1pPr>
              <a:defRPr sz="1875" b="0">
                <a:solidFill>
                  <a:srgbClr val="102638"/>
                </a:solidFill>
                <a:latin typeface="Segoe UI"/>
                <a:ea typeface="Segoe UI"/>
                <a:cs typeface="Segoe UI"/>
              </a:defRPr>
            </a:lvl1pPr>
            <a:lvl2pPr>
              <a:defRPr sz="1875" b="0">
                <a:solidFill>
                  <a:srgbClr val="102638"/>
                </a:solidFill>
                <a:latin typeface="Segoe UI"/>
                <a:ea typeface="Segoe UI"/>
                <a:cs typeface="Segoe UI"/>
              </a:defRPr>
            </a:lvl2pPr>
            <a:lvl3pPr>
              <a:defRPr sz="1875" b="0">
                <a:solidFill>
                  <a:srgbClr val="102638"/>
                </a:solidFill>
                <a:latin typeface="Segoe UI"/>
                <a:ea typeface="Segoe UI"/>
                <a:cs typeface="Segoe UI"/>
              </a:defRPr>
            </a:lvl3pPr>
            <a:lvl4pPr>
              <a:defRPr sz="1875" b="0">
                <a:solidFill>
                  <a:srgbClr val="102638"/>
                </a:solidFill>
                <a:latin typeface="Segoe UI"/>
                <a:ea typeface="Segoe UI"/>
                <a:cs typeface="Segoe UI"/>
              </a:defRPr>
            </a:lvl4pPr>
            <a:lvl5pPr>
              <a:defRPr sz="1875" b="0">
                <a:solidFill>
                  <a:srgbClr val="102638"/>
                </a:solidFill>
                <a:latin typeface="Segoe UI"/>
                <a:ea typeface="Segoe UI"/>
                <a:cs typeface="Segoe UI"/>
              </a:defRPr>
            </a:lvl5pPr>
            <a:lvl6pPr>
              <a:defRPr sz="1875" b="0">
                <a:solidFill>
                  <a:srgbClr val="102638"/>
                </a:solidFill>
                <a:latin typeface="Segoe UI"/>
                <a:ea typeface="Segoe UI"/>
                <a:cs typeface="Segoe UI"/>
              </a:defRPr>
            </a:lvl6pPr>
            <a:lvl7pPr>
              <a:defRPr sz="1875" b="0">
                <a:solidFill>
                  <a:srgbClr val="102638"/>
                </a:solidFill>
                <a:latin typeface="Segoe UI"/>
                <a:ea typeface="Segoe UI"/>
                <a:cs typeface="Segoe UI"/>
              </a:defRPr>
            </a:lvl7pPr>
            <a:lvl8pPr>
              <a:defRPr sz="1875" b="0">
                <a:solidFill>
                  <a:srgbClr val="102638"/>
                </a:solidFill>
                <a:latin typeface="Segoe UI"/>
                <a:ea typeface="Segoe UI"/>
                <a:cs typeface="Segoe UI"/>
              </a:defRPr>
            </a:lvl8pPr>
            <a:lvl9pPr>
              <a:defRPr sz="1875" b="0">
                <a:solidFill>
                  <a:srgbClr val="102638"/>
                </a:solidFill>
                <a:latin typeface="Segoe UI"/>
                <a:ea typeface="Segoe UI"/>
                <a:cs typeface="Segoe UI"/>
              </a:defRPr>
            </a:lvl9pPr>
          </a:lstStyle>
          <a:p xmlns:a="http://schemas.openxmlformats.org/drawingml/2006/main">
            <a:pPr>
              <a:defRPr sz="1875" b="0">
                <a:solidFill>
                  <a:srgbClr val="102638"/>
                </a:solidFill>
                <a:latin typeface="Segoe UI"/>
                <a:ea typeface="Segoe UI"/>
                <a:cs typeface="Segoe UI"/>
              </a:defRPr>
            </a:pPr>
            <a:r>
              <a:rPr sz="1875" b="0">
                <a:solidFill>
                  <a:srgbClr val="102638"/>
                </a:solidFill>
                <a:latin typeface="Segoe UI"/>
                <a:ea typeface="Segoe UI"/>
                <a:cs typeface="Segoe UI"/>
              </a:rPr>
              <a:t>pairs retained in group 5</a:t>
            </a:r>
          </a:p>
        </p:txBody>
      </p:sp>
      <p:sp>
        <p:nvSpPr>
          <p:cNvPr id="6" name="">
            <a:extLst xmlns:a="http://schemas.openxmlformats.org/drawingml/2006/main">
              <a:ext uri="{FF2B5EF4-FFF2-40B4-BE49-F238E27FC236}">
                <a16:creationId xmlns:a16="http://schemas.microsoft.com/office/drawing/2014/main" id="{0A06F600-41DE-4EDD-BD92-B5AF362C940E}"/>
              </a:ext>
            </a:extLst>
          </p:cNvPr>
          <p:cNvSpPr>
            <a:spLocks xmlns:a="http://schemas.openxmlformats.org/drawingml/2006/main" noGrp="1"/>
          </p:cNvSpPr>
          <p:nvPr/>
        </p:nvSpPr>
        <p:spPr>
          <a:xfrm xmlns:a="http://schemas.openxmlformats.org/drawingml/2006/main">
            <a:off x="8286750" y="36385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102638"/>
                </a:solidFill>
                <a:latin typeface="Segoe UI"/>
                <a:ea typeface="Segoe UI"/>
                <a:cs typeface="Segoe UI"/>
              </a:defRPr>
            </a:defPPr>
            <a:lvl1pPr>
              <a:defRPr sz="1725" b="1">
                <a:solidFill>
                  <a:srgbClr val="102638"/>
                </a:solidFill>
                <a:latin typeface="Segoe UI"/>
                <a:ea typeface="Segoe UI"/>
                <a:cs typeface="Segoe UI"/>
              </a:defRPr>
            </a:lvl1pPr>
            <a:lvl2pPr>
              <a:defRPr sz="1725" b="1">
                <a:solidFill>
                  <a:srgbClr val="102638"/>
                </a:solidFill>
                <a:latin typeface="Segoe UI"/>
                <a:ea typeface="Segoe UI"/>
                <a:cs typeface="Segoe UI"/>
              </a:defRPr>
            </a:lvl2pPr>
            <a:lvl3pPr>
              <a:defRPr sz="1725" b="1">
                <a:solidFill>
                  <a:srgbClr val="102638"/>
                </a:solidFill>
                <a:latin typeface="Segoe UI"/>
                <a:ea typeface="Segoe UI"/>
                <a:cs typeface="Segoe UI"/>
              </a:defRPr>
            </a:lvl3pPr>
            <a:lvl4pPr>
              <a:defRPr sz="1725" b="1">
                <a:solidFill>
                  <a:srgbClr val="102638"/>
                </a:solidFill>
                <a:latin typeface="Segoe UI"/>
                <a:ea typeface="Segoe UI"/>
                <a:cs typeface="Segoe UI"/>
              </a:defRPr>
            </a:lvl4pPr>
            <a:lvl5pPr>
              <a:defRPr sz="1725" b="1">
                <a:solidFill>
                  <a:srgbClr val="102638"/>
                </a:solidFill>
                <a:latin typeface="Segoe UI"/>
                <a:ea typeface="Segoe UI"/>
                <a:cs typeface="Segoe UI"/>
              </a:defRPr>
            </a:lvl5pPr>
            <a:lvl6pPr>
              <a:defRPr sz="1725" b="1">
                <a:solidFill>
                  <a:srgbClr val="102638"/>
                </a:solidFill>
                <a:latin typeface="Segoe UI"/>
                <a:ea typeface="Segoe UI"/>
                <a:cs typeface="Segoe UI"/>
              </a:defRPr>
            </a:lvl6pPr>
            <a:lvl7pPr>
              <a:defRPr sz="1725" b="1">
                <a:solidFill>
                  <a:srgbClr val="102638"/>
                </a:solidFill>
                <a:latin typeface="Segoe UI"/>
                <a:ea typeface="Segoe UI"/>
                <a:cs typeface="Segoe UI"/>
              </a:defRPr>
            </a:lvl7pPr>
            <a:lvl8pPr>
              <a:defRPr sz="1725" b="1">
                <a:solidFill>
                  <a:srgbClr val="102638"/>
                </a:solidFill>
                <a:latin typeface="Segoe UI"/>
                <a:ea typeface="Segoe UI"/>
                <a:cs typeface="Segoe UI"/>
              </a:defRPr>
            </a:lvl8pPr>
            <a:lvl9pPr>
              <a:defRPr sz="1725" b="1">
                <a:solidFill>
                  <a:srgbClr val="102638"/>
                </a:solidFill>
                <a:latin typeface="Segoe UI"/>
                <a:ea typeface="Segoe UI"/>
                <a:cs typeface="Segoe UI"/>
              </a:defRPr>
            </a:lvl9pPr>
          </a:lstStyle>
          <a:p xmlns:a="http://schemas.openxmlformats.org/drawingml/2006/main">
            <a:pPr>
              <a:defRPr sz="1725" b="1">
                <a:solidFill>
                  <a:srgbClr val="102638"/>
                </a:solidFill>
                <a:latin typeface="Segoe UI"/>
                <a:ea typeface="Segoe UI"/>
                <a:cs typeface="Segoe UI"/>
              </a:defRPr>
            </a:pPr>
            <a:r>
              <a:rPr sz="1725" b="1">
                <a:solidFill>
                  <a:srgbClr val="102638"/>
                </a:solidFill>
                <a:latin typeface="Segoe UI"/>
                <a:ea typeface="Segoe UI"/>
                <a:cs typeface="Segoe UI"/>
              </a:rPr>
              <a:t>Full-group degrees</a:t>
            </a:r>
          </a:p>
        </p:txBody>
      </p:sp>
      <p:sp>
        <p:nvSpPr>
          <p:cNvPr id="7" name="">
            <a:extLst xmlns:a="http://schemas.openxmlformats.org/drawingml/2006/main">
              <a:ext uri="{FF2B5EF4-FFF2-40B4-BE49-F238E27FC236}">
                <a16:creationId xmlns:a16="http://schemas.microsoft.com/office/drawing/2014/main" id="{F5F8D1D5-A58E-41AC-AD0B-4F8CD1E945D2}"/>
              </a:ext>
            </a:extLst>
          </p:cNvPr>
          <p:cNvSpPr>
            <a:spLocks xmlns:a="http://schemas.openxmlformats.org/drawingml/2006/main" noGrp="1"/>
          </p:cNvSpPr>
          <p:nvPr/>
        </p:nvSpPr>
        <p:spPr>
          <a:xfrm xmlns:a="http://schemas.openxmlformats.org/drawingml/2006/main">
            <a:off x="8286750" y="4162425"/>
            <a:ext cx="333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00" b="0">
                <a:solidFill>
                  <a:srgbClr val="102638"/>
                </a:solidFill>
                <a:latin typeface="Segoe UI"/>
                <a:ea typeface="Segoe UI"/>
                <a:cs typeface="Segoe UI"/>
              </a:defRPr>
            </a:defPPr>
            <a:lvl1pPr>
              <a:defRPr sz="2100" b="0">
                <a:solidFill>
                  <a:srgbClr val="102638"/>
                </a:solidFill>
                <a:latin typeface="Segoe UI"/>
                <a:ea typeface="Segoe UI"/>
                <a:cs typeface="Segoe UI"/>
              </a:defRPr>
            </a:lvl1pPr>
            <a:lvl2pPr>
              <a:defRPr sz="2100" b="0">
                <a:solidFill>
                  <a:srgbClr val="102638"/>
                </a:solidFill>
                <a:latin typeface="Segoe UI"/>
                <a:ea typeface="Segoe UI"/>
                <a:cs typeface="Segoe UI"/>
              </a:defRPr>
            </a:lvl2pPr>
            <a:lvl3pPr>
              <a:defRPr sz="2100" b="0">
                <a:solidFill>
                  <a:srgbClr val="102638"/>
                </a:solidFill>
                <a:latin typeface="Segoe UI"/>
                <a:ea typeface="Segoe UI"/>
                <a:cs typeface="Segoe UI"/>
              </a:defRPr>
            </a:lvl3pPr>
            <a:lvl4pPr>
              <a:defRPr sz="2100" b="0">
                <a:solidFill>
                  <a:srgbClr val="102638"/>
                </a:solidFill>
                <a:latin typeface="Segoe UI"/>
                <a:ea typeface="Segoe UI"/>
                <a:cs typeface="Segoe UI"/>
              </a:defRPr>
            </a:lvl4pPr>
            <a:lvl5pPr>
              <a:defRPr sz="2100" b="0">
                <a:solidFill>
                  <a:srgbClr val="102638"/>
                </a:solidFill>
                <a:latin typeface="Segoe UI"/>
                <a:ea typeface="Segoe UI"/>
                <a:cs typeface="Segoe UI"/>
              </a:defRPr>
            </a:lvl5pPr>
            <a:lvl6pPr>
              <a:defRPr sz="2100" b="0">
                <a:solidFill>
                  <a:srgbClr val="102638"/>
                </a:solidFill>
                <a:latin typeface="Segoe UI"/>
                <a:ea typeface="Segoe UI"/>
                <a:cs typeface="Segoe UI"/>
              </a:defRPr>
            </a:lvl6pPr>
            <a:lvl7pPr>
              <a:defRPr sz="2100" b="0">
                <a:solidFill>
                  <a:srgbClr val="102638"/>
                </a:solidFill>
                <a:latin typeface="Segoe UI"/>
                <a:ea typeface="Segoe UI"/>
                <a:cs typeface="Segoe UI"/>
              </a:defRPr>
            </a:lvl7pPr>
            <a:lvl8pPr>
              <a:defRPr sz="2100" b="0">
                <a:solidFill>
                  <a:srgbClr val="102638"/>
                </a:solidFill>
                <a:latin typeface="Segoe UI"/>
                <a:ea typeface="Segoe UI"/>
                <a:cs typeface="Segoe UI"/>
              </a:defRPr>
            </a:lvl8pPr>
            <a:lvl9pPr>
              <a:defRPr sz="2100" b="0">
                <a:solidFill>
                  <a:srgbClr val="102638"/>
                </a:solidFill>
                <a:latin typeface="Segoe UI"/>
                <a:ea typeface="Segoe UI"/>
                <a:cs typeface="Segoe UI"/>
              </a:defRPr>
            </a:lvl9pPr>
          </a:lstStyle>
          <a:p xmlns:a="http://schemas.openxmlformats.org/drawingml/2006/main">
            <a:pPr>
              <a:defRPr sz="2100" b="0">
                <a:solidFill>
                  <a:srgbClr val="102638"/>
                </a:solidFill>
                <a:latin typeface="Segoe UI"/>
                <a:ea typeface="Segoe UI"/>
                <a:cs typeface="Segoe UI"/>
              </a:defRPr>
            </a:pPr>
            <a:r>
              <a:rPr sz="2100" b="0">
                <a:solidFill>
                  <a:srgbClr val="102638"/>
                </a:solidFill>
                <a:latin typeface="Segoe UI"/>
                <a:ea typeface="Segoe UI"/>
                <a:cs typeface="Segoe UI"/>
              </a:rPr>
              <a:t>Afghanistan: 14</a:t>
            </a:r>
          </a:p>
          <a:p xmlns:a="http://schemas.openxmlformats.org/drawingml/2006/main">
            <a:pPr>
              <a:defRPr sz="2100" b="0">
                <a:solidFill>
                  <a:srgbClr val="102638"/>
                </a:solidFill>
                <a:latin typeface="Segoe UI"/>
                <a:ea typeface="Segoe UI"/>
                <a:cs typeface="Segoe UI"/>
              </a:defRPr>
            </a:pPr>
            <a:r>
              <a:rPr sz="2100" b="0">
                <a:solidFill>
                  <a:srgbClr val="102638"/>
                </a:solidFill>
                <a:latin typeface="Segoe UI"/>
                <a:ea typeface="Segoe UI"/>
                <a:cs typeface="Segoe UI"/>
              </a:rPr>
              <a:t>Angola: 7</a:t>
            </a:r>
          </a:p>
        </p:txBody>
      </p:sp>
      <p:sp>
        <p:nvSpPr>
          <p:cNvPr id="8" name="">
            <a:extLst xmlns:a="http://schemas.openxmlformats.org/drawingml/2006/main">
              <a:ext uri="{FF2B5EF4-FFF2-40B4-BE49-F238E27FC236}">
                <a16:creationId xmlns:a16="http://schemas.microsoft.com/office/drawing/2014/main" id="{E0A25CED-B381-4E8D-8F89-EF5172A71C82}"/>
              </a:ext>
            </a:extLst>
          </p:cNvPr>
          <p:cNvSpPr>
            <a:spLocks xmlns:a="http://schemas.openxmlformats.org/drawingml/2006/main" noGrp="1"/>
          </p:cNvSpPr>
          <p:nvPr/>
        </p:nvSpPr>
        <p:spPr>
          <a:xfrm xmlns:a="http://schemas.openxmlformats.org/drawingml/2006/main">
            <a:off x="400050" y="6067425"/>
            <a:ext cx="1133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087F83"/>
                </a:solidFill>
                <a:latin typeface="Segoe UI"/>
                <a:ea typeface="Segoe UI"/>
                <a:cs typeface="Segoe UI"/>
              </a:defRPr>
            </a:defPPr>
            <a:lvl1pPr>
              <a:defRPr sz="1725" b="1">
                <a:solidFill>
                  <a:srgbClr val="087F83"/>
                </a:solidFill>
                <a:latin typeface="Segoe UI"/>
                <a:ea typeface="Segoe UI"/>
                <a:cs typeface="Segoe UI"/>
              </a:defRPr>
            </a:lvl1pPr>
            <a:lvl2pPr>
              <a:defRPr sz="1725" b="1">
                <a:solidFill>
                  <a:srgbClr val="087F83"/>
                </a:solidFill>
                <a:latin typeface="Segoe UI"/>
                <a:ea typeface="Segoe UI"/>
                <a:cs typeface="Segoe UI"/>
              </a:defRPr>
            </a:lvl2pPr>
            <a:lvl3pPr>
              <a:defRPr sz="1725" b="1">
                <a:solidFill>
                  <a:srgbClr val="087F83"/>
                </a:solidFill>
                <a:latin typeface="Segoe UI"/>
                <a:ea typeface="Segoe UI"/>
                <a:cs typeface="Segoe UI"/>
              </a:defRPr>
            </a:lvl3pPr>
            <a:lvl4pPr>
              <a:defRPr sz="1725" b="1">
                <a:solidFill>
                  <a:srgbClr val="087F83"/>
                </a:solidFill>
                <a:latin typeface="Segoe UI"/>
                <a:ea typeface="Segoe UI"/>
                <a:cs typeface="Segoe UI"/>
              </a:defRPr>
            </a:lvl4pPr>
            <a:lvl5pPr>
              <a:defRPr sz="1725" b="1">
                <a:solidFill>
                  <a:srgbClr val="087F83"/>
                </a:solidFill>
                <a:latin typeface="Segoe UI"/>
                <a:ea typeface="Segoe UI"/>
                <a:cs typeface="Segoe UI"/>
              </a:defRPr>
            </a:lvl5pPr>
            <a:lvl6pPr>
              <a:defRPr sz="1725" b="1">
                <a:solidFill>
                  <a:srgbClr val="087F83"/>
                </a:solidFill>
                <a:latin typeface="Segoe UI"/>
                <a:ea typeface="Segoe UI"/>
                <a:cs typeface="Segoe UI"/>
              </a:defRPr>
            </a:lvl6pPr>
            <a:lvl7pPr>
              <a:defRPr sz="1725" b="1">
                <a:solidFill>
                  <a:srgbClr val="087F83"/>
                </a:solidFill>
                <a:latin typeface="Segoe UI"/>
                <a:ea typeface="Segoe UI"/>
                <a:cs typeface="Segoe UI"/>
              </a:defRPr>
            </a:lvl7pPr>
            <a:lvl8pPr>
              <a:defRPr sz="1725" b="1">
                <a:solidFill>
                  <a:srgbClr val="087F83"/>
                </a:solidFill>
                <a:latin typeface="Segoe UI"/>
                <a:ea typeface="Segoe UI"/>
                <a:cs typeface="Segoe UI"/>
              </a:defRPr>
            </a:lvl8pPr>
            <a:lvl9pPr>
              <a:defRPr sz="1725" b="1">
                <a:solidFill>
                  <a:srgbClr val="087F83"/>
                </a:solidFill>
                <a:latin typeface="Segoe UI"/>
                <a:ea typeface="Segoe UI"/>
                <a:cs typeface="Segoe UI"/>
              </a:defRPr>
            </a:lvl9pPr>
          </a:lstStyle>
          <a:p xmlns:a="http://schemas.openxmlformats.org/drawingml/2006/main">
            <a:pPr>
              <a:defRPr sz="1725" b="1">
                <a:solidFill>
                  <a:srgbClr val="087F83"/>
                </a:solidFill>
                <a:latin typeface="Segoe UI"/>
                <a:ea typeface="Segoe UI"/>
                <a:cs typeface="Segoe UI"/>
              </a:defRPr>
            </a:pPr>
            <a:r>
              <a:rPr sz="1725" b="1">
                <a:solidFill>
                  <a:srgbClr val="087F83"/>
                </a:solidFill>
                <a:latin typeface="Segoe UI"/>
                <a:ea typeface="Segoe UI"/>
                <a:cs typeface="Segoe UI"/>
              </a:rPr>
              <a:t>White means below the threshold, not an unmeasured pair.</a:t>
            </a:r>
          </a:p>
        </p:txBody>
      </p:sp>
      <p:sp>
        <p:nvSpPr>
          <p:cNvPr id="9" name="">
            <a:extLst xmlns:a="http://schemas.openxmlformats.org/drawingml/2006/main">
              <a:ext uri="{FF2B5EF4-FFF2-40B4-BE49-F238E27FC236}">
                <a16:creationId xmlns:a16="http://schemas.microsoft.com/office/drawing/2014/main" id="{F28B6DCE-2D34-4047-8EF5-AE4CD6FF736D}"/>
              </a:ext>
            </a:extLst>
          </p:cNvPr>
          <p:cNvSpPr>
            <a:spLocks xmlns:a="http://schemas.openxmlformats.org/drawingml/2006/main" noGrp="1"/>
          </p:cNvSpPr>
          <p:nvPr/>
        </p:nvSpPr>
        <p:spPr>
          <a:xfrm xmlns:a="http://schemas.openxmlformats.org/drawingml/2006/main">
            <a:off x="400050" y="6515100"/>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00" b="0">
                <a:solidFill>
                  <a:srgbClr val="536878"/>
                </a:solidFill>
                <a:latin typeface="Segoe UI"/>
                <a:ea typeface="Segoe UI"/>
                <a:cs typeface="Segoe UI"/>
              </a:defRPr>
            </a:defPPr>
            <a:lvl1pPr>
              <a:defRPr sz="900" b="0">
                <a:solidFill>
                  <a:srgbClr val="536878"/>
                </a:solidFill>
                <a:latin typeface="Segoe UI"/>
                <a:ea typeface="Segoe UI"/>
                <a:cs typeface="Segoe UI"/>
              </a:defRPr>
            </a:lvl1pPr>
            <a:lvl2pPr>
              <a:defRPr sz="900" b="0">
                <a:solidFill>
                  <a:srgbClr val="536878"/>
                </a:solidFill>
                <a:latin typeface="Segoe UI"/>
                <a:ea typeface="Segoe UI"/>
                <a:cs typeface="Segoe UI"/>
              </a:defRPr>
            </a:lvl2pPr>
            <a:lvl3pPr>
              <a:defRPr sz="900" b="0">
                <a:solidFill>
                  <a:srgbClr val="536878"/>
                </a:solidFill>
                <a:latin typeface="Segoe UI"/>
                <a:ea typeface="Segoe UI"/>
                <a:cs typeface="Segoe UI"/>
              </a:defRPr>
            </a:lvl3pPr>
            <a:lvl4pPr>
              <a:defRPr sz="900" b="0">
                <a:solidFill>
                  <a:srgbClr val="536878"/>
                </a:solidFill>
                <a:latin typeface="Segoe UI"/>
                <a:ea typeface="Segoe UI"/>
                <a:cs typeface="Segoe UI"/>
              </a:defRPr>
            </a:lvl4pPr>
            <a:lvl5pPr>
              <a:defRPr sz="900" b="0">
                <a:solidFill>
                  <a:srgbClr val="536878"/>
                </a:solidFill>
                <a:latin typeface="Segoe UI"/>
                <a:ea typeface="Segoe UI"/>
                <a:cs typeface="Segoe UI"/>
              </a:defRPr>
            </a:lvl5pPr>
            <a:lvl6pPr>
              <a:defRPr sz="900" b="0">
                <a:solidFill>
                  <a:srgbClr val="536878"/>
                </a:solidFill>
                <a:latin typeface="Segoe UI"/>
                <a:ea typeface="Segoe UI"/>
                <a:cs typeface="Segoe UI"/>
              </a:defRPr>
            </a:lvl6pPr>
            <a:lvl7pPr>
              <a:defRPr sz="900" b="0">
                <a:solidFill>
                  <a:srgbClr val="536878"/>
                </a:solidFill>
                <a:latin typeface="Segoe UI"/>
                <a:ea typeface="Segoe UI"/>
                <a:cs typeface="Segoe UI"/>
              </a:defRPr>
            </a:lvl7pPr>
            <a:lvl8pPr>
              <a:defRPr sz="900" b="0">
                <a:solidFill>
                  <a:srgbClr val="536878"/>
                </a:solidFill>
                <a:latin typeface="Segoe UI"/>
                <a:ea typeface="Segoe UI"/>
                <a:cs typeface="Segoe UI"/>
              </a:defRPr>
            </a:lvl8pPr>
            <a:lvl9pPr>
              <a:defRPr sz="900" b="0">
                <a:solidFill>
                  <a:srgbClr val="536878"/>
                </a:solidFill>
                <a:latin typeface="Segoe UI"/>
                <a:ea typeface="Segoe UI"/>
                <a:cs typeface="Segoe UI"/>
              </a:defRPr>
            </a:lvl9pPr>
          </a:lstStyle>
          <a:p xmlns:a="http://schemas.openxmlformats.org/drawingml/2006/main">
            <a:pPr>
              <a:defRPr sz="900" b="0">
                <a:solidFill>
                  <a:srgbClr val="536878"/>
                </a:solidFill>
                <a:latin typeface="Segoe UI"/>
                <a:ea typeface="Segoe UI"/>
                <a:cs typeface="Segoe UI"/>
              </a:defRPr>
            </a:pPr>
            <a:r>
              <a:rPr sz="900" b="0">
                <a:solidFill>
                  <a:srgbClr val="536878"/>
                </a:solidFill>
                <a:latin typeface="Segoe UI"/>
                <a:ea typeface="Segoe UI"/>
                <a:cs typeface="Segoe UI"/>
              </a:rPr>
              <a:t>Source: report Figs. 1 and 3; all-pair threshold audit. Similar profiles, not physical cables.</a:t>
            </a:r>
          </a:p>
        </p:txBody>
      </p:sp>
    </p:spTree>
    <p:extLst>
      <p:ext uri="{BB962C8B-B14F-4D97-AF65-F5344CB8AC3E}">
        <p14:creationId xmlns:p14="http://schemas.microsoft.com/office/powerpoint/2010/main" val="1405756980"/>
      </p:ext>
    </p:extLst>
  </p:cSl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background-1"/>
          <p:cNvSpPr/>
          <p:nvPr/>
        </p:nvSpPr>
        <p:spPr>
          <a:xfrm>
            <a:off x="0" y="0"/>
            <a:ext cx="114300" cy="6858000"/>
          </a:xfrm>
          <a:prstGeom prst="rect">
            <a:avLst/>
          </a:prstGeom>
          <a:solidFill>
            <a:srgbClr val="087F83"/>
          </a:solidFill>
          <a:ln>
            <a:noFill/>
          </a:ln>
        </p:spPr>
      </p:sp>
      <p:sp>
        <p:nvSpPr>
          <p:cNvPr id="3" name="background-2"/>
          <p:cNvSpPr/>
          <p:nvPr/>
        </p:nvSpPr>
        <p:spPr>
          <a:xfrm>
            <a:off x="381000" y="6486525"/>
            <a:ext cx="1609725" cy="38100"/>
          </a:xfrm>
          <a:prstGeom prst="rect">
            <a:avLst/>
          </a:prstGeom>
          <a:solidFill>
            <a:srgbClr val="CFD8D7"/>
          </a:solidFill>
          <a:ln>
            <a:noFill/>
          </a:ln>
        </p:spPr>
      </p:sp>
      <p:sp>
        <p:nvSpPr>
          <p:cNvPr id="4" name="background-3"/>
          <p:cNvSpPr/>
          <p:nvPr/>
        </p:nvSpPr>
        <p:spPr>
          <a:xfrm>
            <a:off x="2105025" y="6486525"/>
            <a:ext cx="1609725" cy="38100"/>
          </a:xfrm>
          <a:prstGeom prst="rect">
            <a:avLst/>
          </a:prstGeom>
          <a:solidFill>
            <a:srgbClr val="087F83"/>
          </a:solidFill>
          <a:ln>
            <a:noFill/>
          </a:ln>
        </p:spPr>
      </p:sp>
      <p:sp>
        <p:nvSpPr>
          <p:cNvPr id="5" name="background-4"/>
          <p:cNvSpPr/>
          <p:nvPr/>
        </p:nvSpPr>
        <p:spPr>
          <a:xfrm>
            <a:off x="3829050" y="6486525"/>
            <a:ext cx="1609725" cy="38100"/>
          </a:xfrm>
          <a:prstGeom prst="rect">
            <a:avLst/>
          </a:prstGeom>
          <a:solidFill>
            <a:srgbClr val="CFD8D7"/>
          </a:solidFill>
          <a:ln>
            <a:noFill/>
          </a:ln>
        </p:spPr>
      </p:sp>
      <p:sp>
        <p:nvSpPr>
          <p:cNvPr id="6" name="background-5"/>
          <p:cNvSpPr/>
          <p:nvPr/>
        </p:nvSpPr>
        <p:spPr>
          <a:xfrm>
            <a:off x="5553075" y="6486525"/>
            <a:ext cx="1609725" cy="38100"/>
          </a:xfrm>
          <a:prstGeom prst="rect">
            <a:avLst/>
          </a:prstGeom>
          <a:solidFill>
            <a:srgbClr val="CFD8D7"/>
          </a:solidFill>
          <a:ln>
            <a:noFill/>
          </a:ln>
        </p:spPr>
      </p:sp>
      <p:sp>
        <p:nvSpPr>
          <p:cNvPr id="7" name="background-6"/>
          <p:cNvSpPr/>
          <p:nvPr/>
        </p:nvSpPr>
        <p:spPr>
          <a:xfrm>
            <a:off x="381000" y="1809750"/>
            <a:ext cx="8334375" cy="4171950"/>
          </a:xfrm>
          <a:prstGeom prst="rect">
            <a:avLst/>
          </a:prstGeom>
          <a:solidFill>
            <a:srgbClr val="FFFFFF"/>
          </a:solidFill>
          <a:ln>
            <a:noFill/>
          </a:ln>
        </p:spPr>
      </p:sp>
      <p:grpSp>
        <p:nvGrpSpPr>
          <p:cNvPr id="9" name="chapter-1"/>
          <p:cNvGrpSpPr/>
          <p:nvPr/>
        </p:nvGrpSpPr>
        <p:grpSpPr>
          <a:xfrm>
            <a:off x="374904" y="209931"/>
            <a:ext cx="829088" cy="234696"/>
            <a:chOff x="374904" y="209931"/>
            <a:chExt cx="829088" cy="234696"/>
          </a:xfrm>
        </p:grpSpPr>
        <p:sp>
          <p:nvSpPr>
            <p:cNvPr id="8" name="TextBox 8"/>
            <p:cNvSpPr txBox="1"/>
            <p:nvPr/>
          </p:nvSpPr>
          <p:spPr>
            <a:xfrm>
              <a:off x="374904" y="209931"/>
              <a:ext cx="829088" cy="234696"/>
            </a:xfrm>
            <a:prstGeom prst="rect">
              <a:avLst/>
            </a:prstGeom>
            <a:noFill/>
            <a:ln>
              <a:noFill/>
            </a:ln>
          </p:spPr>
          <p:txBody>
            <a:bodyPr wrap="none" lIns="0" tIns="0" rIns="0" bIns="0" anchor="t" anchorCtr="0">
              <a:spAutoFit/>
            </a:bodyPr>
            <a:lstStyle/>
            <a:p>
              <a:pPr algn="l"/>
              <a:r>
                <a:rPr lang="en-IN" sz="1200" b="1" dirty="0">
                  <a:solidFill>
                    <a:srgbClr val="087F83"/>
                  </a:solidFill>
                  <a:latin typeface="Segoe UI"/>
                  <a:ea typeface="Segoe UI"/>
                  <a:cs typeface="Segoe UI"/>
                </a:rPr>
                <a:t>INTERNET</a:t>
              </a:r>
            </a:p>
          </p:txBody>
        </p:sp>
      </p:grpSp>
      <p:grpSp>
        <p:nvGrpSpPr>
          <p:cNvPr id="11" name="chapter-2"/>
          <p:cNvGrpSpPr/>
          <p:nvPr/>
        </p:nvGrpSpPr>
        <p:grpSpPr>
          <a:xfrm>
            <a:off x="11042904" y="219456"/>
            <a:ext cx="511993" cy="234696"/>
            <a:chOff x="11042904" y="219456"/>
            <a:chExt cx="511993" cy="234696"/>
          </a:xfrm>
        </p:grpSpPr>
        <p:sp>
          <p:nvSpPr>
            <p:cNvPr id="10" name="TextBox 10"/>
            <p:cNvSpPr txBox="1"/>
            <p:nvPr/>
          </p:nvSpPr>
          <p:spPr>
            <a:xfrm>
              <a:off x="11042904" y="219456"/>
              <a:ext cx="511993" cy="234696"/>
            </a:xfrm>
            <a:prstGeom prst="rect">
              <a:avLst/>
            </a:prstGeom>
            <a:noFill/>
            <a:ln>
              <a:noFill/>
            </a:ln>
          </p:spPr>
          <p:txBody>
            <a:bodyPr wrap="none" lIns="0" tIns="0" rIns="0" bIns="0" anchor="t" anchorCtr="0">
              <a:spAutoFit/>
            </a:bodyPr>
            <a:lstStyle/>
            <a:p>
              <a:pPr algn="l"/>
              <a:r>
                <a:rPr lang="en-IN" sz="1200" dirty="0">
                  <a:solidFill>
                    <a:srgbClr val="536878"/>
                  </a:solidFill>
                  <a:latin typeface="Segoe UI"/>
                  <a:ea typeface="Segoe UI"/>
                  <a:cs typeface="Segoe UI"/>
                </a:rPr>
                <a:t>04 / 14</a:t>
              </a:r>
            </a:p>
          </p:txBody>
        </p:sp>
      </p:grpSp>
      <p:grpSp>
        <p:nvGrpSpPr>
          <p:cNvPr id="13" name="title-1"/>
          <p:cNvGrpSpPr/>
          <p:nvPr/>
        </p:nvGrpSpPr>
        <p:grpSpPr>
          <a:xfrm>
            <a:off x="364236" y="616204"/>
            <a:ext cx="10888451" cy="645414"/>
            <a:chOff x="364236" y="616204"/>
            <a:chExt cx="10888451" cy="645414"/>
          </a:xfrm>
        </p:grpSpPr>
        <p:sp>
          <p:nvSpPr>
            <p:cNvPr id="12" name="TextBox 12"/>
            <p:cNvSpPr txBox="1"/>
            <p:nvPr/>
          </p:nvSpPr>
          <p:spPr>
            <a:xfrm>
              <a:off x="364236" y="616204"/>
              <a:ext cx="10888451" cy="645414"/>
            </a:xfrm>
            <a:prstGeom prst="rect">
              <a:avLst/>
            </a:prstGeom>
            <a:noFill/>
            <a:ln>
              <a:noFill/>
            </a:ln>
          </p:spPr>
          <p:txBody>
            <a:bodyPr wrap="none" lIns="0" tIns="0" rIns="0" bIns="0" anchor="t" anchorCtr="0">
              <a:spAutoFit/>
            </a:bodyPr>
            <a:lstStyle/>
            <a:p>
              <a:pPr algn="l"/>
              <a:r>
                <a:rPr lang="en-IN" sz="3300" b="1" dirty="0">
                  <a:solidFill>
                    <a:srgbClr val="102638"/>
                  </a:solidFill>
                  <a:latin typeface="Segoe UI"/>
                  <a:ea typeface="Segoe UI"/>
                  <a:cs typeface="Segoe UI"/>
                </a:rPr>
                <a:t>Does high internet use mean high fixed broadband?</a:t>
              </a:r>
            </a:p>
          </p:txBody>
        </p:sp>
      </p:grpSp>
      <p:grpSp>
        <p:nvGrpSpPr>
          <p:cNvPr id="15" name="question-1"/>
          <p:cNvGrpSpPr/>
          <p:nvPr/>
        </p:nvGrpSpPr>
        <p:grpSpPr>
          <a:xfrm>
            <a:off x="392430" y="1169670"/>
            <a:ext cx="7990466" cy="293370"/>
            <a:chOff x="392430" y="1169670"/>
            <a:chExt cx="7990466" cy="293370"/>
          </a:xfrm>
        </p:grpSpPr>
        <p:sp>
          <p:nvSpPr>
            <p:cNvPr id="14" name="TextBox 14"/>
            <p:cNvSpPr txBox="1"/>
            <p:nvPr/>
          </p:nvSpPr>
          <p:spPr>
            <a:xfrm>
              <a:off x="392430" y="1169670"/>
              <a:ext cx="7990466" cy="293370"/>
            </a:xfrm>
            <a:prstGeom prst="rect">
              <a:avLst/>
            </a:prstGeom>
            <a:noFill/>
            <a:ln>
              <a:noFill/>
            </a:ln>
          </p:spPr>
          <p:txBody>
            <a:bodyPr wrap="none" lIns="0" tIns="0" rIns="0" bIns="0" anchor="t" anchorCtr="0">
              <a:spAutoFit/>
            </a:bodyPr>
            <a:lstStyle/>
            <a:p>
              <a:pPr algn="l"/>
              <a:r>
                <a:rPr lang="en-IN" sz="1500" dirty="0">
                  <a:solidFill>
                    <a:srgbClr val="536878"/>
                  </a:solidFill>
                  <a:latin typeface="Segoe UI"/>
                  <a:ea typeface="Segoe UI"/>
                  <a:cs typeface="Segoe UI"/>
                </a:rPr>
                <a:t>Expectation: higher adoption should mean more fixed broadband. Does every country fit?</a:t>
              </a:r>
            </a:p>
          </p:txBody>
        </p:sp>
      </p:grpSp>
      <p:sp>
        <p:nvSpPr>
          <p:cNvPr id="16" name="Line 16"/>
          <p:cNvSpPr/>
          <p:nvPr/>
        </p:nvSpPr>
        <p:spPr>
          <a:xfrm>
            <a:off x="381000" y="1571625"/>
            <a:ext cx="11334750" cy="9525"/>
          </a:xfrm>
          <a:custGeom>
            <a:avLst/>
            <a:gdLst/>
            <a:ahLst/>
            <a:cxnLst/>
            <a:rect l="l" t="t" r="r" b="b"/>
            <a:pathLst>
              <a:path w="11334750" h="9525">
                <a:moveTo>
                  <a:pt x="0" y="0"/>
                </a:moveTo>
                <a:lnTo>
                  <a:pt x="11334750" y="0"/>
                </a:lnTo>
              </a:path>
            </a:pathLst>
          </a:custGeom>
          <a:noFill/>
          <a:ln w="9525">
            <a:solidFill>
              <a:srgbClr val="B8C6CA"/>
            </a:solidFill>
          </a:ln>
        </p:spPr>
      </p:sp>
      <p:grpSp>
        <p:nvGrpSpPr>
          <p:cNvPr id="18" name="progress-1"/>
          <p:cNvGrpSpPr/>
          <p:nvPr/>
        </p:nvGrpSpPr>
        <p:grpSpPr>
          <a:xfrm>
            <a:off x="375666" y="6589649"/>
            <a:ext cx="723062" cy="205359"/>
            <a:chOff x="375666" y="6589649"/>
            <a:chExt cx="723062" cy="205359"/>
          </a:xfrm>
        </p:grpSpPr>
        <p:sp>
          <p:nvSpPr>
            <p:cNvPr id="17" name="TextBox 17"/>
            <p:cNvSpPr txBox="1"/>
            <p:nvPr/>
          </p:nvSpPr>
          <p:spPr>
            <a:xfrm>
              <a:off x="375666" y="6589649"/>
              <a:ext cx="72306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QUESTION</a:t>
              </a:r>
            </a:p>
          </p:txBody>
        </p:sp>
      </p:grpSp>
      <p:grpSp>
        <p:nvGrpSpPr>
          <p:cNvPr id="20" name="progress-2"/>
          <p:cNvGrpSpPr/>
          <p:nvPr/>
        </p:nvGrpSpPr>
        <p:grpSpPr>
          <a:xfrm>
            <a:off x="2099691" y="6589649"/>
            <a:ext cx="1135453" cy="205359"/>
            <a:chOff x="2099691" y="6589649"/>
            <a:chExt cx="1135453" cy="205359"/>
          </a:xfrm>
        </p:grpSpPr>
        <p:sp>
          <p:nvSpPr>
            <p:cNvPr id="19" name="TextBox 19"/>
            <p:cNvSpPr txBox="1"/>
            <p:nvPr/>
          </p:nvSpPr>
          <p:spPr>
            <a:xfrm>
              <a:off x="2099691" y="6589649"/>
              <a:ext cx="1135453" cy="205359"/>
            </a:xfrm>
            <a:prstGeom prst="rect">
              <a:avLst/>
            </a:prstGeom>
            <a:noFill/>
            <a:ln>
              <a:noFill/>
            </a:ln>
          </p:spPr>
          <p:txBody>
            <a:bodyPr wrap="none" lIns="0" tIns="0" rIns="0" bIns="0" anchor="t" anchorCtr="0">
              <a:spAutoFit/>
            </a:bodyPr>
            <a:lstStyle/>
            <a:p>
              <a:pPr algn="l"/>
              <a:r>
                <a:rPr lang="en-IN" sz="1050" b="1" dirty="0">
                  <a:solidFill>
                    <a:srgbClr val="102638"/>
                  </a:solidFill>
                  <a:latin typeface="Segoe UI"/>
                  <a:ea typeface="Segoe UI"/>
                  <a:cs typeface="Segoe UI"/>
                </a:rPr>
                <a:t>READ THE PLOT</a:t>
              </a:r>
            </a:p>
          </p:txBody>
        </p:sp>
      </p:grpSp>
      <p:grpSp>
        <p:nvGrpSpPr>
          <p:cNvPr id="22" name="progress-3"/>
          <p:cNvGrpSpPr/>
          <p:nvPr/>
        </p:nvGrpSpPr>
        <p:grpSpPr>
          <a:xfrm>
            <a:off x="3823716" y="6589649"/>
            <a:ext cx="678749" cy="205359"/>
            <a:chOff x="3823716" y="6589649"/>
            <a:chExt cx="678749" cy="205359"/>
          </a:xfrm>
        </p:grpSpPr>
        <p:sp>
          <p:nvSpPr>
            <p:cNvPr id="21" name="TextBox 21"/>
            <p:cNvSpPr txBox="1"/>
            <p:nvPr/>
          </p:nvSpPr>
          <p:spPr>
            <a:xfrm>
              <a:off x="3823716" y="6589649"/>
              <a:ext cx="678749"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EVIDENCE</a:t>
              </a:r>
            </a:p>
          </p:txBody>
        </p:sp>
      </p:grpSp>
      <p:grpSp>
        <p:nvGrpSpPr>
          <p:cNvPr id="24" name="progress-4"/>
          <p:cNvGrpSpPr/>
          <p:nvPr/>
        </p:nvGrpSpPr>
        <p:grpSpPr>
          <a:xfrm>
            <a:off x="5547741" y="6589649"/>
            <a:ext cx="936202" cy="205359"/>
            <a:chOff x="5547741" y="6589649"/>
            <a:chExt cx="936202" cy="205359"/>
          </a:xfrm>
        </p:grpSpPr>
        <p:sp>
          <p:nvSpPr>
            <p:cNvPr id="23" name="TextBox 23"/>
            <p:cNvSpPr txBox="1"/>
            <p:nvPr/>
          </p:nvSpPr>
          <p:spPr>
            <a:xfrm>
              <a:off x="5547741" y="6589649"/>
              <a:ext cx="93620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CONCLUSION</a:t>
              </a:r>
            </a:p>
          </p:txBody>
        </p:sp>
      </p:grpSp>
      <p:grpSp>
        <p:nvGrpSpPr>
          <p:cNvPr id="26" name="source-1"/>
          <p:cNvGrpSpPr/>
          <p:nvPr/>
        </p:nvGrpSpPr>
        <p:grpSpPr>
          <a:xfrm>
            <a:off x="7614666" y="6532499"/>
            <a:ext cx="960243" cy="205359"/>
            <a:chOff x="7614666" y="6532499"/>
            <a:chExt cx="960243" cy="205359"/>
          </a:xfrm>
        </p:grpSpPr>
        <p:sp>
          <p:nvSpPr>
            <p:cNvPr id="25" name="TextBox 25"/>
            <p:cNvSpPr txBox="1"/>
            <p:nvPr/>
          </p:nvSpPr>
          <p:spPr>
            <a:xfrm>
              <a:off x="7614666" y="6532499"/>
              <a:ext cx="960243"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Report Fig. 4, 5</a:t>
              </a:r>
            </a:p>
          </p:txBody>
        </p:sp>
      </p:grpSp>
      <p:grpSp>
        <p:nvGrpSpPr>
          <p:cNvPr id="28" name="profiles-1"/>
          <p:cNvGrpSpPr/>
          <p:nvPr/>
        </p:nvGrpSpPr>
        <p:grpSpPr>
          <a:xfrm>
            <a:off x="438150" y="2131504"/>
            <a:ext cx="8220075" cy="3528441"/>
            <a:chOff x="438150" y="2131504"/>
            <a:chExt cx="8220075" cy="3528441"/>
          </a:xfrm>
        </p:grpSpPr>
        <p:pic>
          <p:nvPicPr>
            <p:cNvPr id="27" name="Image 27"/>
            <p:cNvPicPr>
              <a:picLocks noChangeAspect="1"/>
            </p:cNvPicPr>
            <p:nvPr/>
          </p:nvPicPr>
          <p:blipFill>
            <a:blip r:embed="rId2"/>
            <a:stretch>
              <a:fillRect/>
            </a:stretch>
          </p:blipFill>
          <p:spPr>
            <a:xfrm>
              <a:off x="438150" y="2131504"/>
              <a:ext cx="8220075" cy="3528441"/>
            </a:xfrm>
            <a:prstGeom prst="rect">
              <a:avLst/>
            </a:prstGeom>
          </p:spPr>
        </p:pic>
      </p:grpSp>
      <p:grpSp>
        <p:nvGrpSpPr>
          <p:cNvPr id="31" name="badge-1-940-205-1"/>
          <p:cNvGrpSpPr/>
          <p:nvPr/>
        </p:nvGrpSpPr>
        <p:grpSpPr>
          <a:xfrm>
            <a:off x="8953500" y="1952625"/>
            <a:ext cx="323850" cy="300990"/>
            <a:chOff x="8953500" y="1952625"/>
            <a:chExt cx="323850" cy="300990"/>
          </a:xfrm>
        </p:grpSpPr>
        <p:sp>
          <p:nvSpPr>
            <p:cNvPr id="29" name="Rectangle 29"/>
            <p:cNvSpPr/>
            <p:nvPr/>
          </p:nvSpPr>
          <p:spPr>
            <a:xfrm>
              <a:off x="8953500" y="1952625"/>
              <a:ext cx="323850" cy="285750"/>
            </a:xfrm>
            <a:prstGeom prst="rect">
              <a:avLst/>
            </a:prstGeom>
            <a:solidFill>
              <a:srgbClr val="087F83"/>
            </a:solidFill>
            <a:ln>
              <a:noFill/>
            </a:ln>
          </p:spPr>
        </p:sp>
        <p:sp>
          <p:nvSpPr>
            <p:cNvPr id="30" name="TextBox 30"/>
            <p:cNvSpPr txBox="1"/>
            <p:nvPr/>
          </p:nvSpPr>
          <p:spPr>
            <a:xfrm>
              <a:off x="9041130" y="1960245"/>
              <a:ext cx="131390" cy="293370"/>
            </a:xfrm>
            <a:prstGeom prst="rect">
              <a:avLst/>
            </a:prstGeom>
            <a:noFill/>
            <a:ln>
              <a:noFill/>
            </a:ln>
          </p:spPr>
          <p:txBody>
            <a:bodyPr wrap="none" lIns="0" tIns="0" rIns="0" bIns="0" anchor="t" anchorCtr="0">
              <a:spAutoFit/>
            </a:bodyPr>
            <a:lstStyle/>
            <a:p>
              <a:pPr algn="l"/>
              <a:r>
                <a:rPr lang="en-IN" sz="1500" b="1" dirty="0">
                  <a:solidFill>
                    <a:srgbClr val="FFFFFF"/>
                  </a:solidFill>
                  <a:latin typeface="Segoe UI"/>
                  <a:ea typeface="Segoe UI"/>
                  <a:cs typeface="Segoe UI"/>
                </a:rPr>
                <a:t>1</a:t>
              </a:r>
            </a:p>
          </p:txBody>
        </p:sp>
      </p:grpSp>
      <p:grpSp>
        <p:nvGrpSpPr>
          <p:cNvPr id="33" name="note-1"/>
          <p:cNvGrpSpPr/>
          <p:nvPr/>
        </p:nvGrpSpPr>
        <p:grpSpPr>
          <a:xfrm>
            <a:off x="9401556" y="1919859"/>
            <a:ext cx="969643" cy="352044"/>
            <a:chOff x="9401556" y="1919859"/>
            <a:chExt cx="969643" cy="352044"/>
          </a:xfrm>
        </p:grpSpPr>
        <p:sp>
          <p:nvSpPr>
            <p:cNvPr id="32" name="TextBox 32"/>
            <p:cNvSpPr txBox="1"/>
            <p:nvPr/>
          </p:nvSpPr>
          <p:spPr>
            <a:xfrm>
              <a:off x="9401556" y="1919859"/>
              <a:ext cx="969643" cy="352044"/>
            </a:xfrm>
            <a:prstGeom prst="rect">
              <a:avLst/>
            </a:prstGeom>
            <a:noFill/>
            <a:ln>
              <a:noFill/>
            </a:ln>
          </p:spPr>
          <p:txBody>
            <a:bodyPr wrap="none" lIns="0" tIns="0" rIns="0" bIns="0" anchor="t" anchorCtr="0">
              <a:spAutoFit/>
            </a:bodyPr>
            <a:lstStyle/>
            <a:p>
              <a:pPr algn="l"/>
              <a:r>
                <a:rPr lang="en-IN" sz="1800" b="1" dirty="0">
                  <a:solidFill>
                    <a:srgbClr val="102638"/>
                  </a:solidFill>
                  <a:latin typeface="Segoe UI"/>
                  <a:ea typeface="Segoe UI"/>
                  <a:cs typeface="Segoe UI"/>
                </a:rPr>
                <a:t>One line</a:t>
              </a:r>
            </a:p>
          </p:txBody>
        </p:sp>
      </p:grpSp>
      <p:grpSp>
        <p:nvGrpSpPr>
          <p:cNvPr id="36" name="note-2"/>
          <p:cNvGrpSpPr/>
          <p:nvPr/>
        </p:nvGrpSpPr>
        <p:grpSpPr>
          <a:xfrm>
            <a:off x="9403080" y="2312670"/>
            <a:ext cx="2157706" cy="518160"/>
            <a:chOff x="9403080" y="2312670"/>
            <a:chExt cx="2157706" cy="518160"/>
          </a:xfrm>
        </p:grpSpPr>
        <p:sp>
          <p:nvSpPr>
            <p:cNvPr id="34" name="TextBox 34"/>
            <p:cNvSpPr txBox="1"/>
            <p:nvPr/>
          </p:nvSpPr>
          <p:spPr>
            <a:xfrm>
              <a:off x="9403080" y="2312670"/>
              <a:ext cx="2157706" cy="293370"/>
            </a:xfrm>
            <a:prstGeom prst="rect">
              <a:avLst/>
            </a:prstGeom>
            <a:noFill/>
            <a:ln>
              <a:noFill/>
            </a:ln>
          </p:spPr>
          <p:txBody>
            <a:bodyPr wrap="none" lIns="0" tIns="0" rIns="0" bIns="0" anchor="t" anchorCtr="0">
              <a:spAutoFit/>
            </a:bodyPr>
            <a:lstStyle/>
            <a:p>
              <a:pPr algn="l"/>
              <a:r>
                <a:rPr lang="en-IN" sz="1500" dirty="0">
                  <a:solidFill>
                    <a:srgbClr val="102638"/>
                  </a:solidFill>
                  <a:latin typeface="Segoe UI"/>
                  <a:ea typeface="Segoe UI"/>
                  <a:cs typeface="Segoe UI"/>
                </a:rPr>
                <a:t>One country across four</a:t>
              </a:r>
            </a:p>
          </p:txBody>
        </p:sp>
        <p:sp>
          <p:nvSpPr>
            <p:cNvPr id="35" name="TextBox 35"/>
            <p:cNvSpPr txBox="1"/>
            <p:nvPr/>
          </p:nvSpPr>
          <p:spPr>
            <a:xfrm>
              <a:off x="9403080" y="2537460"/>
              <a:ext cx="401956" cy="293370"/>
            </a:xfrm>
            <a:prstGeom prst="rect">
              <a:avLst/>
            </a:prstGeom>
            <a:noFill/>
            <a:ln>
              <a:noFill/>
            </a:ln>
          </p:spPr>
          <p:txBody>
            <a:bodyPr wrap="none" lIns="0" tIns="0" rIns="0" bIns="0" anchor="t" anchorCtr="0">
              <a:spAutoFit/>
            </a:bodyPr>
            <a:lstStyle/>
            <a:p>
              <a:pPr algn="l"/>
              <a:r>
                <a:rPr lang="en-IN" sz="1500" dirty="0">
                  <a:solidFill>
                    <a:srgbClr val="102638"/>
                  </a:solidFill>
                  <a:latin typeface="Segoe UI"/>
                  <a:ea typeface="Segoe UI"/>
                  <a:cs typeface="Segoe UI"/>
                </a:rPr>
                <a:t>axes</a:t>
              </a:r>
            </a:p>
          </p:txBody>
        </p:sp>
      </p:grpSp>
      <p:grpSp>
        <p:nvGrpSpPr>
          <p:cNvPr id="38" name="note-3"/>
          <p:cNvGrpSpPr/>
          <p:nvPr/>
        </p:nvGrpSpPr>
        <p:grpSpPr>
          <a:xfrm>
            <a:off x="9401556" y="3253359"/>
            <a:ext cx="1708305" cy="352044"/>
            <a:chOff x="9401556" y="3253359"/>
            <a:chExt cx="1708305" cy="352044"/>
          </a:xfrm>
        </p:grpSpPr>
        <p:sp>
          <p:nvSpPr>
            <p:cNvPr id="37" name="TextBox 37"/>
            <p:cNvSpPr txBox="1"/>
            <p:nvPr/>
          </p:nvSpPr>
          <p:spPr>
            <a:xfrm>
              <a:off x="9401556" y="3253359"/>
              <a:ext cx="1708305" cy="352044"/>
            </a:xfrm>
            <a:prstGeom prst="rect">
              <a:avLst/>
            </a:prstGeom>
            <a:noFill/>
            <a:ln>
              <a:noFill/>
            </a:ln>
          </p:spPr>
          <p:txBody>
            <a:bodyPr wrap="none" lIns="0" tIns="0" rIns="0" bIns="0" anchor="t" anchorCtr="0">
              <a:spAutoFit/>
            </a:bodyPr>
            <a:lstStyle/>
            <a:p>
              <a:pPr algn="l"/>
              <a:r>
                <a:rPr lang="en-IN" sz="1800" b="1" dirty="0">
                  <a:solidFill>
                    <a:srgbClr val="102638"/>
                  </a:solidFill>
                  <a:latin typeface="Segoe UI"/>
                  <a:ea typeface="Segoe UI"/>
                  <a:cs typeface="Segoe UI"/>
                </a:rPr>
                <a:t>Read crossings</a:t>
              </a:r>
            </a:p>
          </p:txBody>
        </p:sp>
      </p:grpSp>
      <p:grpSp>
        <p:nvGrpSpPr>
          <p:cNvPr id="41" name="note-4"/>
          <p:cNvGrpSpPr/>
          <p:nvPr/>
        </p:nvGrpSpPr>
        <p:grpSpPr>
          <a:xfrm>
            <a:off x="9403080" y="3646170"/>
            <a:ext cx="1176954" cy="518160"/>
            <a:chOff x="9403080" y="3646170"/>
            <a:chExt cx="1176954" cy="518160"/>
          </a:xfrm>
        </p:grpSpPr>
        <p:sp>
          <p:nvSpPr>
            <p:cNvPr id="39" name="TextBox 39"/>
            <p:cNvSpPr txBox="1"/>
            <p:nvPr/>
          </p:nvSpPr>
          <p:spPr>
            <a:xfrm>
              <a:off x="9403080" y="3646170"/>
              <a:ext cx="1176954" cy="293370"/>
            </a:xfrm>
            <a:prstGeom prst="rect">
              <a:avLst/>
            </a:prstGeom>
            <a:noFill/>
            <a:ln>
              <a:noFill/>
            </a:ln>
          </p:spPr>
          <p:txBody>
            <a:bodyPr wrap="none" lIns="0" tIns="0" rIns="0" bIns="0" anchor="t" anchorCtr="0">
              <a:spAutoFit/>
            </a:bodyPr>
            <a:lstStyle/>
            <a:p>
              <a:pPr algn="l"/>
              <a:r>
                <a:rPr lang="en-IN" sz="1500" dirty="0">
                  <a:solidFill>
                    <a:srgbClr val="102638"/>
                  </a:solidFill>
                  <a:latin typeface="Segoe UI"/>
                  <a:ea typeface="Segoe UI"/>
                  <a:cs typeface="Segoe UI"/>
                </a:rPr>
                <a:t>Each axis has</a:t>
              </a:r>
            </a:p>
          </p:txBody>
        </p:sp>
        <p:sp>
          <p:nvSpPr>
            <p:cNvPr id="40" name="TextBox 40"/>
            <p:cNvSpPr txBox="1"/>
            <p:nvPr/>
          </p:nvSpPr>
          <p:spPr>
            <a:xfrm>
              <a:off x="9403080" y="3870960"/>
              <a:ext cx="1143605" cy="293370"/>
            </a:xfrm>
            <a:prstGeom prst="rect">
              <a:avLst/>
            </a:prstGeom>
            <a:noFill/>
            <a:ln>
              <a:noFill/>
            </a:ln>
          </p:spPr>
          <p:txBody>
            <a:bodyPr wrap="none" lIns="0" tIns="0" rIns="0" bIns="0" anchor="t" anchorCtr="0">
              <a:spAutoFit/>
            </a:bodyPr>
            <a:lstStyle/>
            <a:p>
              <a:pPr algn="l"/>
              <a:r>
                <a:rPr lang="en-IN" sz="1500" dirty="0">
                  <a:solidFill>
                    <a:srgbClr val="102638"/>
                  </a:solidFill>
                  <a:latin typeface="Segoe UI"/>
                  <a:ea typeface="Segoe UI"/>
                  <a:cs typeface="Segoe UI"/>
                </a:rPr>
                <a:t>its own scale</a:t>
              </a:r>
            </a:p>
          </p:txBody>
        </p:sp>
      </p:grpSp>
      <p:grpSp>
        <p:nvGrpSpPr>
          <p:cNvPr id="43" name="note-5"/>
          <p:cNvGrpSpPr/>
          <p:nvPr/>
        </p:nvGrpSpPr>
        <p:grpSpPr>
          <a:xfrm>
            <a:off x="9401556" y="4586859"/>
            <a:ext cx="1847124" cy="352044"/>
            <a:chOff x="9401556" y="4586859"/>
            <a:chExt cx="1847124" cy="352044"/>
          </a:xfrm>
        </p:grpSpPr>
        <p:sp>
          <p:nvSpPr>
            <p:cNvPr id="42" name="TextBox 42"/>
            <p:cNvSpPr txBox="1"/>
            <p:nvPr/>
          </p:nvSpPr>
          <p:spPr>
            <a:xfrm>
              <a:off x="9401556" y="4586859"/>
              <a:ext cx="1847124" cy="352044"/>
            </a:xfrm>
            <a:prstGeom prst="rect">
              <a:avLst/>
            </a:prstGeom>
            <a:noFill/>
            <a:ln>
              <a:noFill/>
            </a:ln>
          </p:spPr>
          <p:txBody>
            <a:bodyPr wrap="none" lIns="0" tIns="0" rIns="0" bIns="0" anchor="t" anchorCtr="0">
              <a:spAutoFit/>
            </a:bodyPr>
            <a:lstStyle/>
            <a:p>
              <a:pPr algn="l"/>
              <a:r>
                <a:rPr lang="en-IN" sz="1800" b="1" dirty="0">
                  <a:solidFill>
                    <a:srgbClr val="102638"/>
                  </a:solidFill>
                  <a:latin typeface="Segoe UI"/>
                  <a:ea typeface="Segoe UI"/>
                  <a:cs typeface="Segoe UI"/>
                </a:rPr>
                <a:t>Apply the brush</a:t>
              </a:r>
            </a:p>
          </p:txBody>
        </p:sp>
      </p:grpSp>
      <p:grpSp>
        <p:nvGrpSpPr>
          <p:cNvPr id="46" name="note-6"/>
          <p:cNvGrpSpPr/>
          <p:nvPr/>
        </p:nvGrpSpPr>
        <p:grpSpPr>
          <a:xfrm>
            <a:off x="9403080" y="4979670"/>
            <a:ext cx="1789902" cy="518160"/>
            <a:chOff x="9403080" y="4979670"/>
            <a:chExt cx="1789902" cy="518160"/>
          </a:xfrm>
        </p:grpSpPr>
        <p:sp>
          <p:nvSpPr>
            <p:cNvPr id="44" name="TextBox 44"/>
            <p:cNvSpPr txBox="1"/>
            <p:nvPr/>
          </p:nvSpPr>
          <p:spPr>
            <a:xfrm>
              <a:off x="9403080" y="4979670"/>
              <a:ext cx="1114870" cy="293370"/>
            </a:xfrm>
            <a:prstGeom prst="rect">
              <a:avLst/>
            </a:prstGeom>
            <a:noFill/>
            <a:ln>
              <a:noFill/>
            </a:ln>
          </p:spPr>
          <p:txBody>
            <a:bodyPr wrap="none" lIns="0" tIns="0" rIns="0" bIns="0" anchor="t" anchorCtr="0">
              <a:spAutoFit/>
            </a:bodyPr>
            <a:lstStyle/>
            <a:p>
              <a:pPr algn="l"/>
              <a:r>
                <a:rPr lang="en-IN" sz="1500" dirty="0">
                  <a:solidFill>
                    <a:srgbClr val="102638"/>
                  </a:solidFill>
                  <a:latin typeface="Segoe UI"/>
                  <a:ea typeface="Segoe UI"/>
                  <a:cs typeface="Segoe UI"/>
                </a:rPr>
                <a:t>≥70% online</a:t>
              </a:r>
            </a:p>
          </p:txBody>
        </p:sp>
        <p:sp>
          <p:nvSpPr>
            <p:cNvPr id="45" name="TextBox 45"/>
            <p:cNvSpPr txBox="1"/>
            <p:nvPr/>
          </p:nvSpPr>
          <p:spPr>
            <a:xfrm>
              <a:off x="9403080" y="5204460"/>
              <a:ext cx="1789902" cy="293370"/>
            </a:xfrm>
            <a:prstGeom prst="rect">
              <a:avLst/>
            </a:prstGeom>
            <a:noFill/>
            <a:ln>
              <a:noFill/>
            </a:ln>
          </p:spPr>
          <p:txBody>
            <a:bodyPr wrap="none" lIns="0" tIns="0" rIns="0" bIns="0" anchor="t" anchorCtr="0">
              <a:spAutoFit/>
            </a:bodyPr>
            <a:lstStyle/>
            <a:p>
              <a:pPr algn="l"/>
              <a:r>
                <a:rPr lang="en-IN" sz="1500" dirty="0">
                  <a:solidFill>
                    <a:srgbClr val="102638"/>
                  </a:solidFill>
                  <a:latin typeface="Segoe UI"/>
                  <a:ea typeface="Segoe UI"/>
                  <a:cs typeface="Segoe UI"/>
                </a:rPr>
                <a:t>≤5 broadband / 100</a:t>
              </a:r>
            </a:p>
          </p:txBody>
        </p:sp>
      </p:grpSp>
      <p:grpSp>
        <p:nvGrpSpPr>
          <p:cNvPr id="49" name="badge-2-940-345-1"/>
          <p:cNvGrpSpPr/>
          <p:nvPr/>
        </p:nvGrpSpPr>
        <p:grpSpPr>
          <a:xfrm>
            <a:off x="8953500" y="3286125"/>
            <a:ext cx="323850" cy="300990"/>
            <a:chOff x="8953500" y="3286125"/>
            <a:chExt cx="323850" cy="300990"/>
          </a:xfrm>
        </p:grpSpPr>
        <p:sp>
          <p:nvSpPr>
            <p:cNvPr id="47" name="Rectangle 47"/>
            <p:cNvSpPr/>
            <p:nvPr/>
          </p:nvSpPr>
          <p:spPr>
            <a:xfrm>
              <a:off x="8953500" y="3286125"/>
              <a:ext cx="323850" cy="285750"/>
            </a:xfrm>
            <a:prstGeom prst="rect">
              <a:avLst/>
            </a:prstGeom>
            <a:solidFill>
              <a:srgbClr val="087F83"/>
            </a:solidFill>
            <a:ln>
              <a:noFill/>
            </a:ln>
          </p:spPr>
        </p:sp>
        <p:sp>
          <p:nvSpPr>
            <p:cNvPr id="48" name="TextBox 48"/>
            <p:cNvSpPr txBox="1"/>
            <p:nvPr/>
          </p:nvSpPr>
          <p:spPr>
            <a:xfrm>
              <a:off x="9041130" y="3293745"/>
              <a:ext cx="131390" cy="293370"/>
            </a:xfrm>
            <a:prstGeom prst="rect">
              <a:avLst/>
            </a:prstGeom>
            <a:noFill/>
            <a:ln>
              <a:noFill/>
            </a:ln>
          </p:spPr>
          <p:txBody>
            <a:bodyPr wrap="none" lIns="0" tIns="0" rIns="0" bIns="0" anchor="t" anchorCtr="0">
              <a:spAutoFit/>
            </a:bodyPr>
            <a:lstStyle/>
            <a:p>
              <a:pPr algn="l"/>
              <a:r>
                <a:rPr lang="en-IN" sz="1500" b="1" dirty="0">
                  <a:solidFill>
                    <a:srgbClr val="FFFFFF"/>
                  </a:solidFill>
                  <a:latin typeface="Segoe UI"/>
                  <a:ea typeface="Segoe UI"/>
                  <a:cs typeface="Segoe UI"/>
                </a:rPr>
                <a:t>2</a:t>
              </a:r>
            </a:p>
          </p:txBody>
        </p:sp>
      </p:grpSp>
      <p:grpSp>
        <p:nvGrpSpPr>
          <p:cNvPr id="52" name="badge-3-940-485-1"/>
          <p:cNvGrpSpPr/>
          <p:nvPr/>
        </p:nvGrpSpPr>
        <p:grpSpPr>
          <a:xfrm>
            <a:off x="8953500" y="4619625"/>
            <a:ext cx="323850" cy="300990"/>
            <a:chOff x="8953500" y="4619625"/>
            <a:chExt cx="323850" cy="300990"/>
          </a:xfrm>
        </p:grpSpPr>
        <p:sp>
          <p:nvSpPr>
            <p:cNvPr id="50" name="Rectangle 50"/>
            <p:cNvSpPr/>
            <p:nvPr/>
          </p:nvSpPr>
          <p:spPr>
            <a:xfrm>
              <a:off x="8953500" y="4619625"/>
              <a:ext cx="323850" cy="285750"/>
            </a:xfrm>
            <a:prstGeom prst="rect">
              <a:avLst/>
            </a:prstGeom>
            <a:solidFill>
              <a:srgbClr val="087F83"/>
            </a:solidFill>
            <a:ln>
              <a:noFill/>
            </a:ln>
          </p:spPr>
        </p:sp>
        <p:sp>
          <p:nvSpPr>
            <p:cNvPr id="51" name="TextBox 51"/>
            <p:cNvSpPr txBox="1"/>
            <p:nvPr/>
          </p:nvSpPr>
          <p:spPr>
            <a:xfrm>
              <a:off x="9041130" y="4627245"/>
              <a:ext cx="131390" cy="293370"/>
            </a:xfrm>
            <a:prstGeom prst="rect">
              <a:avLst/>
            </a:prstGeom>
            <a:noFill/>
            <a:ln>
              <a:noFill/>
            </a:ln>
          </p:spPr>
          <p:txBody>
            <a:bodyPr wrap="none" lIns="0" tIns="0" rIns="0" bIns="0" anchor="t" anchorCtr="0">
              <a:spAutoFit/>
            </a:bodyPr>
            <a:lstStyle/>
            <a:p>
              <a:pPr algn="l"/>
              <a:r>
                <a:rPr lang="en-IN" sz="1500" b="1" dirty="0">
                  <a:solidFill>
                    <a:srgbClr val="FFFFFF"/>
                  </a:solidFill>
                  <a:latin typeface="Segoe UI"/>
                  <a:ea typeface="Segoe UI"/>
                  <a:cs typeface="Segoe UI"/>
                </a:rPr>
                <a:t>3</a:t>
              </a:r>
            </a:p>
          </p:txBody>
        </p:sp>
      </p:grpSp>
    </p:spTree>
  </p:cSld>
  <p:clrMapOvr>
    <a:masterClrMapping/>
  </p:clrMapOvr>
  <p:transition xmlns:p14="http://schemas.microsoft.com/office/powerpoint/2010/main" p14:dur="3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2638"/>
        </a:solidFill>
        <a:effectLst/>
      </p:bgPr>
    </p:bg>
    <p:spTree>
      <p:nvGrpSpPr>
        <p:cNvPr id="1" name=""/>
        <p:cNvGrpSpPr/>
        <p:nvPr/>
      </p:nvGrpSpPr>
      <p:grpSpPr>
        <a:xfrm>
          <a:off x="0" y="0"/>
          <a:ext cx="0" cy="0"/>
          <a:chOff x="0" y="0"/>
          <a:chExt cx="0" cy="0"/>
        </a:xfrm>
      </p:grpSpPr>
      <p:sp>
        <p:nvSpPr>
          <p:cNvPr id="2" name="background-1"/>
          <p:cNvSpPr/>
          <p:nvPr/>
        </p:nvSpPr>
        <p:spPr>
          <a:xfrm>
            <a:off x="0" y="0"/>
            <a:ext cx="114300" cy="6858000"/>
          </a:xfrm>
          <a:prstGeom prst="rect">
            <a:avLst/>
          </a:prstGeom>
          <a:solidFill>
            <a:srgbClr val="087F83"/>
          </a:solidFill>
          <a:ln>
            <a:noFill/>
          </a:ln>
        </p:spPr>
      </p:sp>
      <p:sp>
        <p:nvSpPr>
          <p:cNvPr id="3" name="background-2"/>
          <p:cNvSpPr/>
          <p:nvPr/>
        </p:nvSpPr>
        <p:spPr>
          <a:xfrm>
            <a:off x="381000" y="6486525"/>
            <a:ext cx="1609725" cy="38100"/>
          </a:xfrm>
          <a:prstGeom prst="rect">
            <a:avLst/>
          </a:prstGeom>
          <a:solidFill>
            <a:srgbClr val="365163"/>
          </a:solidFill>
          <a:ln>
            <a:noFill/>
          </a:ln>
        </p:spPr>
      </p:sp>
      <p:sp>
        <p:nvSpPr>
          <p:cNvPr id="4" name="background-3"/>
          <p:cNvSpPr/>
          <p:nvPr/>
        </p:nvSpPr>
        <p:spPr>
          <a:xfrm>
            <a:off x="2105025" y="6486525"/>
            <a:ext cx="1609725" cy="38100"/>
          </a:xfrm>
          <a:prstGeom prst="rect">
            <a:avLst/>
          </a:prstGeom>
          <a:solidFill>
            <a:srgbClr val="365163"/>
          </a:solidFill>
          <a:ln>
            <a:noFill/>
          </a:ln>
        </p:spPr>
      </p:sp>
      <p:sp>
        <p:nvSpPr>
          <p:cNvPr id="5" name="background-4"/>
          <p:cNvSpPr/>
          <p:nvPr/>
        </p:nvSpPr>
        <p:spPr>
          <a:xfrm>
            <a:off x="3829050" y="6486525"/>
            <a:ext cx="1609725" cy="38100"/>
          </a:xfrm>
          <a:prstGeom prst="rect">
            <a:avLst/>
          </a:prstGeom>
          <a:solidFill>
            <a:srgbClr val="087F83"/>
          </a:solidFill>
          <a:ln>
            <a:noFill/>
          </a:ln>
        </p:spPr>
      </p:sp>
      <p:sp>
        <p:nvSpPr>
          <p:cNvPr id="6" name="background-5"/>
          <p:cNvSpPr/>
          <p:nvPr/>
        </p:nvSpPr>
        <p:spPr>
          <a:xfrm>
            <a:off x="5553075" y="6486525"/>
            <a:ext cx="1609725" cy="38100"/>
          </a:xfrm>
          <a:prstGeom prst="rect">
            <a:avLst/>
          </a:prstGeom>
          <a:solidFill>
            <a:srgbClr val="365163"/>
          </a:solidFill>
          <a:ln>
            <a:noFill/>
          </a:ln>
        </p:spPr>
      </p:sp>
      <p:sp>
        <p:nvSpPr>
          <p:cNvPr id="7" name="background-6"/>
          <p:cNvSpPr/>
          <p:nvPr/>
        </p:nvSpPr>
        <p:spPr>
          <a:xfrm>
            <a:off x="381000" y="1809750"/>
            <a:ext cx="8334375" cy="4171950"/>
          </a:xfrm>
          <a:prstGeom prst="rect">
            <a:avLst/>
          </a:prstGeom>
          <a:solidFill>
            <a:srgbClr val="FFFFFF"/>
          </a:solidFill>
          <a:ln>
            <a:noFill/>
          </a:ln>
        </p:spPr>
      </p:sp>
      <p:grpSp>
        <p:nvGrpSpPr>
          <p:cNvPr id="9" name="chapter-1"/>
          <p:cNvGrpSpPr/>
          <p:nvPr/>
        </p:nvGrpSpPr>
        <p:grpSpPr>
          <a:xfrm>
            <a:off x="374904" y="209931"/>
            <a:ext cx="829088" cy="234696"/>
            <a:chOff x="374904" y="209931"/>
            <a:chExt cx="829088" cy="234696"/>
          </a:xfrm>
        </p:grpSpPr>
        <p:sp>
          <p:nvSpPr>
            <p:cNvPr id="8" name="TextBox 8"/>
            <p:cNvSpPr txBox="1"/>
            <p:nvPr/>
          </p:nvSpPr>
          <p:spPr>
            <a:xfrm>
              <a:off x="374904" y="209931"/>
              <a:ext cx="829088" cy="234696"/>
            </a:xfrm>
            <a:prstGeom prst="rect">
              <a:avLst/>
            </a:prstGeom>
            <a:noFill/>
            <a:ln>
              <a:noFill/>
            </a:ln>
          </p:spPr>
          <p:txBody>
            <a:bodyPr wrap="none" lIns="0" tIns="0" rIns="0" bIns="0" anchor="t" anchorCtr="0">
              <a:spAutoFit/>
            </a:bodyPr>
            <a:lstStyle/>
            <a:p>
              <a:pPr algn="l"/>
              <a:r>
                <a:rPr lang="en-IN" sz="1200" b="1" dirty="0">
                  <a:solidFill>
                    <a:srgbClr val="66D2CC"/>
                  </a:solidFill>
                  <a:latin typeface="Segoe UI"/>
                  <a:ea typeface="Segoe UI"/>
                  <a:cs typeface="Segoe UI"/>
                </a:rPr>
                <a:t>INTERNET</a:t>
              </a:r>
            </a:p>
          </p:txBody>
        </p:sp>
      </p:grpSp>
      <p:grpSp>
        <p:nvGrpSpPr>
          <p:cNvPr id="11" name="chapter-2"/>
          <p:cNvGrpSpPr/>
          <p:nvPr/>
        </p:nvGrpSpPr>
        <p:grpSpPr>
          <a:xfrm>
            <a:off x="11042904" y="219456"/>
            <a:ext cx="511993" cy="234696"/>
            <a:chOff x="11042904" y="219456"/>
            <a:chExt cx="511993" cy="234696"/>
          </a:xfrm>
        </p:grpSpPr>
        <p:sp>
          <p:nvSpPr>
            <p:cNvPr id="10" name="TextBox 10"/>
            <p:cNvSpPr txBox="1"/>
            <p:nvPr/>
          </p:nvSpPr>
          <p:spPr>
            <a:xfrm>
              <a:off x="11042904" y="219456"/>
              <a:ext cx="511993" cy="234696"/>
            </a:xfrm>
            <a:prstGeom prst="rect">
              <a:avLst/>
            </a:prstGeom>
            <a:noFill/>
            <a:ln>
              <a:noFill/>
            </a:ln>
          </p:spPr>
          <p:txBody>
            <a:bodyPr wrap="none" lIns="0" tIns="0" rIns="0" bIns="0" anchor="t" anchorCtr="0">
              <a:spAutoFit/>
            </a:bodyPr>
            <a:lstStyle/>
            <a:p>
              <a:pPr algn="l"/>
              <a:r>
                <a:rPr lang="en-IN" sz="1200" dirty="0">
                  <a:solidFill>
                    <a:srgbClr val="A7BCC9"/>
                  </a:solidFill>
                  <a:latin typeface="Segoe UI"/>
                  <a:ea typeface="Segoe UI"/>
                  <a:cs typeface="Segoe UI"/>
                </a:rPr>
                <a:t>05 / 14</a:t>
              </a:r>
            </a:p>
          </p:txBody>
        </p:sp>
      </p:grpSp>
      <p:grpSp>
        <p:nvGrpSpPr>
          <p:cNvPr id="13" name="title-1"/>
          <p:cNvGrpSpPr/>
          <p:nvPr/>
        </p:nvGrpSpPr>
        <p:grpSpPr>
          <a:xfrm>
            <a:off x="364236" y="616204"/>
            <a:ext cx="8912197" cy="645414"/>
            <a:chOff x="364236" y="616204"/>
            <a:chExt cx="8912197" cy="645414"/>
          </a:xfrm>
        </p:grpSpPr>
        <p:sp>
          <p:nvSpPr>
            <p:cNvPr id="12" name="TextBox 12"/>
            <p:cNvSpPr txBox="1"/>
            <p:nvPr/>
          </p:nvSpPr>
          <p:spPr>
            <a:xfrm>
              <a:off x="364236" y="616204"/>
              <a:ext cx="8912197" cy="645414"/>
            </a:xfrm>
            <a:prstGeom prst="rect">
              <a:avLst/>
            </a:prstGeom>
            <a:noFill/>
            <a:ln>
              <a:noFill/>
            </a:ln>
          </p:spPr>
          <p:txBody>
            <a:bodyPr wrap="none" lIns="0" tIns="0" rIns="0" bIns="0" anchor="t" anchorCtr="0">
              <a:spAutoFit/>
            </a:bodyPr>
            <a:lstStyle/>
            <a:p>
              <a:pPr algn="l"/>
              <a:r>
                <a:rPr lang="en-IN" sz="3300" b="1" dirty="0">
                  <a:solidFill>
                    <a:srgbClr val="F5F2EA"/>
                  </a:solidFill>
                  <a:latin typeface="Segoe UI"/>
                  <a:ea typeface="Segoe UI"/>
                  <a:cs typeface="Segoe UI"/>
                </a:rPr>
                <a:t>Six countries break the simple expectation</a:t>
              </a:r>
            </a:p>
          </p:txBody>
        </p:sp>
      </p:grpSp>
      <p:grpSp>
        <p:nvGrpSpPr>
          <p:cNvPr id="15" name="question-1"/>
          <p:cNvGrpSpPr/>
          <p:nvPr/>
        </p:nvGrpSpPr>
        <p:grpSpPr>
          <a:xfrm>
            <a:off x="392430" y="1169670"/>
            <a:ext cx="5503972" cy="293370"/>
            <a:chOff x="392430" y="1169670"/>
            <a:chExt cx="5503972" cy="293370"/>
          </a:xfrm>
        </p:grpSpPr>
        <p:sp>
          <p:nvSpPr>
            <p:cNvPr id="14" name="TextBox 14"/>
            <p:cNvSpPr txBox="1"/>
            <p:nvPr/>
          </p:nvSpPr>
          <p:spPr>
            <a:xfrm>
              <a:off x="392430" y="1169670"/>
              <a:ext cx="5503972" cy="293370"/>
            </a:xfrm>
            <a:prstGeom prst="rect">
              <a:avLst/>
            </a:prstGeom>
            <a:noFill/>
            <a:ln>
              <a:noFill/>
            </a:ln>
          </p:spPr>
          <p:txBody>
            <a:bodyPr wrap="none" lIns="0" tIns="0" rIns="0" bIns="0" anchor="t" anchorCtr="0">
              <a:spAutoFit/>
            </a:bodyPr>
            <a:lstStyle/>
            <a:p>
              <a:pPr algn="l"/>
              <a:r>
                <a:rPr lang="en-IN" sz="1500" dirty="0">
                  <a:solidFill>
                    <a:srgbClr val="B3C6D0"/>
                  </a:solidFill>
                  <a:latin typeface="Segoe UI"/>
                  <a:ea typeface="Segoe UI"/>
                  <a:cs typeface="Segoe UI"/>
                </a:rPr>
                <a:t>SAME PROFILES / test the expectation with a visible selection</a:t>
              </a:r>
            </a:p>
          </p:txBody>
        </p:sp>
      </p:grpSp>
      <p:sp>
        <p:nvSpPr>
          <p:cNvPr id="16" name="Line 16"/>
          <p:cNvSpPr/>
          <p:nvPr/>
        </p:nvSpPr>
        <p:spPr>
          <a:xfrm>
            <a:off x="381000" y="1571625"/>
            <a:ext cx="11334750" cy="9525"/>
          </a:xfrm>
          <a:custGeom>
            <a:avLst/>
            <a:gdLst/>
            <a:ahLst/>
            <a:cxnLst/>
            <a:rect l="l" t="t" r="r" b="b"/>
            <a:pathLst>
              <a:path w="11334750" h="9525">
                <a:moveTo>
                  <a:pt x="0" y="0"/>
                </a:moveTo>
                <a:lnTo>
                  <a:pt x="11334750" y="0"/>
                </a:lnTo>
              </a:path>
            </a:pathLst>
          </a:custGeom>
          <a:noFill/>
          <a:ln w="9525">
            <a:solidFill>
              <a:srgbClr val="3D5668"/>
            </a:solidFill>
          </a:ln>
        </p:spPr>
      </p:sp>
      <p:grpSp>
        <p:nvGrpSpPr>
          <p:cNvPr id="18" name="progress-1"/>
          <p:cNvGrpSpPr/>
          <p:nvPr/>
        </p:nvGrpSpPr>
        <p:grpSpPr>
          <a:xfrm>
            <a:off x="375666" y="6589649"/>
            <a:ext cx="723062" cy="205359"/>
            <a:chOff x="375666" y="6589649"/>
            <a:chExt cx="723062" cy="205359"/>
          </a:xfrm>
        </p:grpSpPr>
        <p:sp>
          <p:nvSpPr>
            <p:cNvPr id="17" name="TextBox 17"/>
            <p:cNvSpPr txBox="1"/>
            <p:nvPr/>
          </p:nvSpPr>
          <p:spPr>
            <a:xfrm>
              <a:off x="375666" y="6589649"/>
              <a:ext cx="723062" cy="205359"/>
            </a:xfrm>
            <a:prstGeom prst="rect">
              <a:avLst/>
            </a:prstGeom>
            <a:noFill/>
            <a:ln>
              <a:noFill/>
            </a:ln>
          </p:spPr>
          <p:txBody>
            <a:bodyPr wrap="none" lIns="0" tIns="0" rIns="0" bIns="0" anchor="t" anchorCtr="0">
              <a:spAutoFit/>
            </a:bodyPr>
            <a:lstStyle/>
            <a:p>
              <a:pPr algn="l"/>
              <a:r>
                <a:rPr lang="en-IN" sz="1050" dirty="0">
                  <a:solidFill>
                    <a:srgbClr val="97ACB9"/>
                  </a:solidFill>
                  <a:latin typeface="Segoe UI"/>
                  <a:ea typeface="Segoe UI"/>
                  <a:cs typeface="Segoe UI"/>
                </a:rPr>
                <a:t>QUESTION</a:t>
              </a:r>
            </a:p>
          </p:txBody>
        </p:sp>
      </p:grpSp>
      <p:grpSp>
        <p:nvGrpSpPr>
          <p:cNvPr id="20" name="progress-2"/>
          <p:cNvGrpSpPr/>
          <p:nvPr/>
        </p:nvGrpSpPr>
        <p:grpSpPr>
          <a:xfrm>
            <a:off x="2099691" y="6589649"/>
            <a:ext cx="1063062" cy="205359"/>
            <a:chOff x="2099691" y="6589649"/>
            <a:chExt cx="1063062" cy="205359"/>
          </a:xfrm>
        </p:grpSpPr>
        <p:sp>
          <p:nvSpPr>
            <p:cNvPr id="19" name="TextBox 19"/>
            <p:cNvSpPr txBox="1"/>
            <p:nvPr/>
          </p:nvSpPr>
          <p:spPr>
            <a:xfrm>
              <a:off x="2099691" y="6589649"/>
              <a:ext cx="1063062" cy="205359"/>
            </a:xfrm>
            <a:prstGeom prst="rect">
              <a:avLst/>
            </a:prstGeom>
            <a:noFill/>
            <a:ln>
              <a:noFill/>
            </a:ln>
          </p:spPr>
          <p:txBody>
            <a:bodyPr wrap="none" lIns="0" tIns="0" rIns="0" bIns="0" anchor="t" anchorCtr="0">
              <a:spAutoFit/>
            </a:bodyPr>
            <a:lstStyle/>
            <a:p>
              <a:pPr algn="l"/>
              <a:r>
                <a:rPr lang="en-IN" sz="1050" dirty="0">
                  <a:solidFill>
                    <a:srgbClr val="97ACB9"/>
                  </a:solidFill>
                  <a:latin typeface="Segoe UI"/>
                  <a:ea typeface="Segoe UI"/>
                  <a:cs typeface="Segoe UI"/>
                </a:rPr>
                <a:t>READ THE PLOT</a:t>
              </a:r>
            </a:p>
          </p:txBody>
        </p:sp>
      </p:grpSp>
      <p:grpSp>
        <p:nvGrpSpPr>
          <p:cNvPr id="22" name="progress-3"/>
          <p:cNvGrpSpPr/>
          <p:nvPr/>
        </p:nvGrpSpPr>
        <p:grpSpPr>
          <a:xfrm>
            <a:off x="3823716" y="6589649"/>
            <a:ext cx="717372" cy="205359"/>
            <a:chOff x="3823716" y="6589649"/>
            <a:chExt cx="717372" cy="205359"/>
          </a:xfrm>
        </p:grpSpPr>
        <p:sp>
          <p:nvSpPr>
            <p:cNvPr id="21" name="TextBox 21"/>
            <p:cNvSpPr txBox="1"/>
            <p:nvPr/>
          </p:nvSpPr>
          <p:spPr>
            <a:xfrm>
              <a:off x="3823716" y="6589649"/>
              <a:ext cx="717372" cy="205359"/>
            </a:xfrm>
            <a:prstGeom prst="rect">
              <a:avLst/>
            </a:prstGeom>
            <a:noFill/>
            <a:ln>
              <a:noFill/>
            </a:ln>
          </p:spPr>
          <p:txBody>
            <a:bodyPr wrap="none" lIns="0" tIns="0" rIns="0" bIns="0" anchor="t" anchorCtr="0">
              <a:spAutoFit/>
            </a:bodyPr>
            <a:lstStyle/>
            <a:p>
              <a:pPr algn="l"/>
              <a:r>
                <a:rPr lang="en-IN" sz="1050" b="1" dirty="0">
                  <a:solidFill>
                    <a:srgbClr val="F5F2EA"/>
                  </a:solidFill>
                  <a:latin typeface="Segoe UI"/>
                  <a:ea typeface="Segoe UI"/>
                  <a:cs typeface="Segoe UI"/>
                </a:rPr>
                <a:t>EVIDENCE</a:t>
              </a:r>
            </a:p>
          </p:txBody>
        </p:sp>
      </p:grpSp>
      <p:grpSp>
        <p:nvGrpSpPr>
          <p:cNvPr id="24" name="progress-4"/>
          <p:cNvGrpSpPr/>
          <p:nvPr/>
        </p:nvGrpSpPr>
        <p:grpSpPr>
          <a:xfrm>
            <a:off x="5547741" y="6589649"/>
            <a:ext cx="936202" cy="205359"/>
            <a:chOff x="5547741" y="6589649"/>
            <a:chExt cx="936202" cy="205359"/>
          </a:xfrm>
        </p:grpSpPr>
        <p:sp>
          <p:nvSpPr>
            <p:cNvPr id="23" name="TextBox 23"/>
            <p:cNvSpPr txBox="1"/>
            <p:nvPr/>
          </p:nvSpPr>
          <p:spPr>
            <a:xfrm>
              <a:off x="5547741" y="6589649"/>
              <a:ext cx="936202" cy="205359"/>
            </a:xfrm>
            <a:prstGeom prst="rect">
              <a:avLst/>
            </a:prstGeom>
            <a:noFill/>
            <a:ln>
              <a:noFill/>
            </a:ln>
          </p:spPr>
          <p:txBody>
            <a:bodyPr wrap="none" lIns="0" tIns="0" rIns="0" bIns="0" anchor="t" anchorCtr="0">
              <a:spAutoFit/>
            </a:bodyPr>
            <a:lstStyle/>
            <a:p>
              <a:pPr algn="l"/>
              <a:r>
                <a:rPr lang="en-IN" sz="1050" dirty="0">
                  <a:solidFill>
                    <a:srgbClr val="97ACB9"/>
                  </a:solidFill>
                  <a:latin typeface="Segoe UI"/>
                  <a:ea typeface="Segoe UI"/>
                  <a:cs typeface="Segoe UI"/>
                </a:rPr>
                <a:t>CONCLUSION</a:t>
              </a:r>
            </a:p>
          </p:txBody>
        </p:sp>
      </p:grpSp>
      <p:grpSp>
        <p:nvGrpSpPr>
          <p:cNvPr id="26" name="source-1"/>
          <p:cNvGrpSpPr/>
          <p:nvPr/>
        </p:nvGrpSpPr>
        <p:grpSpPr>
          <a:xfrm>
            <a:off x="7614666" y="6532499"/>
            <a:ext cx="812849" cy="205359"/>
            <a:chOff x="7614666" y="6532499"/>
            <a:chExt cx="812849" cy="205359"/>
          </a:xfrm>
        </p:grpSpPr>
        <p:sp>
          <p:nvSpPr>
            <p:cNvPr id="25" name="TextBox 25"/>
            <p:cNvSpPr txBox="1"/>
            <p:nvPr/>
          </p:nvSpPr>
          <p:spPr>
            <a:xfrm>
              <a:off x="7614666" y="6532499"/>
              <a:ext cx="812849" cy="205359"/>
            </a:xfrm>
            <a:prstGeom prst="rect">
              <a:avLst/>
            </a:prstGeom>
            <a:noFill/>
            <a:ln>
              <a:noFill/>
            </a:ln>
          </p:spPr>
          <p:txBody>
            <a:bodyPr wrap="none" lIns="0" tIns="0" rIns="0" bIns="0" anchor="t" anchorCtr="0">
              <a:spAutoFit/>
            </a:bodyPr>
            <a:lstStyle/>
            <a:p>
              <a:pPr algn="l"/>
              <a:r>
                <a:rPr lang="en-IN" sz="1050" dirty="0">
                  <a:solidFill>
                    <a:srgbClr val="A7BCC9"/>
                  </a:solidFill>
                  <a:latin typeface="Segoe UI"/>
                  <a:ea typeface="Segoe UI"/>
                  <a:cs typeface="Segoe UI"/>
                </a:rPr>
                <a:t>Report Fig. 5</a:t>
              </a:r>
            </a:p>
          </p:txBody>
        </p:sp>
      </p:grpSp>
      <p:grpSp>
        <p:nvGrpSpPr>
          <p:cNvPr id="28" name="profiles-1"/>
          <p:cNvGrpSpPr/>
          <p:nvPr/>
        </p:nvGrpSpPr>
        <p:grpSpPr>
          <a:xfrm>
            <a:off x="438150" y="2131504"/>
            <a:ext cx="8220075" cy="3528441"/>
            <a:chOff x="438150" y="2131504"/>
            <a:chExt cx="8220075" cy="3528441"/>
          </a:xfrm>
        </p:grpSpPr>
        <p:pic>
          <p:nvPicPr>
            <p:cNvPr id="27" name="Image 27"/>
            <p:cNvPicPr>
              <a:picLocks noChangeAspect="1"/>
            </p:cNvPicPr>
            <p:nvPr/>
          </p:nvPicPr>
          <p:blipFill>
            <a:blip r:embed="rId2"/>
            <a:stretch>
              <a:fillRect/>
            </a:stretch>
          </p:blipFill>
          <p:spPr>
            <a:xfrm>
              <a:off x="438150" y="2131504"/>
              <a:ext cx="8220075" cy="3528441"/>
            </a:xfrm>
            <a:prstGeom prst="rect">
              <a:avLst/>
            </a:prstGeom>
          </p:spPr>
        </p:pic>
      </p:grpSp>
      <p:grpSp>
        <p:nvGrpSpPr>
          <p:cNvPr id="30" name="finding-1"/>
          <p:cNvGrpSpPr/>
          <p:nvPr/>
        </p:nvGrpSpPr>
        <p:grpSpPr>
          <a:xfrm>
            <a:off x="8965311" y="1921129"/>
            <a:ext cx="1497763" cy="645414"/>
            <a:chOff x="8965311" y="1921129"/>
            <a:chExt cx="1497763" cy="645414"/>
          </a:xfrm>
        </p:grpSpPr>
        <p:sp>
          <p:nvSpPr>
            <p:cNvPr id="29" name="TextBox 29"/>
            <p:cNvSpPr txBox="1"/>
            <p:nvPr/>
          </p:nvSpPr>
          <p:spPr>
            <a:xfrm>
              <a:off x="8965311" y="1921129"/>
              <a:ext cx="1497763" cy="645414"/>
            </a:xfrm>
            <a:prstGeom prst="rect">
              <a:avLst/>
            </a:prstGeom>
            <a:noFill/>
            <a:ln>
              <a:noFill/>
            </a:ln>
          </p:spPr>
          <p:txBody>
            <a:bodyPr wrap="none" lIns="0" tIns="0" rIns="0" bIns="0" anchor="t" anchorCtr="0">
              <a:spAutoFit/>
            </a:bodyPr>
            <a:lstStyle/>
            <a:p>
              <a:pPr algn="l"/>
              <a:r>
                <a:rPr lang="en-IN" sz="3300" b="1" dirty="0">
                  <a:solidFill>
                    <a:srgbClr val="74D9D2"/>
                  </a:solidFill>
                  <a:latin typeface="Segoe UI"/>
                  <a:ea typeface="Segoe UI"/>
                  <a:cs typeface="Segoe UI"/>
                </a:rPr>
                <a:t>6 / 175</a:t>
              </a:r>
            </a:p>
          </p:txBody>
        </p:sp>
      </p:grpSp>
      <p:grpSp>
        <p:nvGrpSpPr>
          <p:cNvPr id="33" name="finding-2"/>
          <p:cNvGrpSpPr/>
          <p:nvPr/>
        </p:nvGrpSpPr>
        <p:grpSpPr>
          <a:xfrm>
            <a:off x="8971407" y="2711323"/>
            <a:ext cx="2239227" cy="725424"/>
            <a:chOff x="8971407" y="2711323"/>
            <a:chExt cx="2239227" cy="725424"/>
          </a:xfrm>
        </p:grpSpPr>
        <p:sp>
          <p:nvSpPr>
            <p:cNvPr id="31" name="TextBox 31"/>
            <p:cNvSpPr txBox="1"/>
            <p:nvPr/>
          </p:nvSpPr>
          <p:spPr>
            <a:xfrm>
              <a:off x="8971407" y="2711323"/>
              <a:ext cx="2239227" cy="410718"/>
            </a:xfrm>
            <a:prstGeom prst="rect">
              <a:avLst/>
            </a:prstGeom>
            <a:noFill/>
            <a:ln>
              <a:noFill/>
            </a:ln>
          </p:spPr>
          <p:txBody>
            <a:bodyPr wrap="none" lIns="0" tIns="0" rIns="0" bIns="0" anchor="t" anchorCtr="0">
              <a:spAutoFit/>
            </a:bodyPr>
            <a:lstStyle/>
            <a:p>
              <a:pPr algn="l"/>
              <a:r>
                <a:rPr lang="en-IN" sz="2100" b="1" dirty="0">
                  <a:solidFill>
                    <a:srgbClr val="F5F2EA"/>
                  </a:solidFill>
                  <a:latin typeface="Segoe UI"/>
                  <a:ea typeface="Segoe UI"/>
                  <a:cs typeface="Segoe UI"/>
                </a:rPr>
                <a:t>High adoption +</a:t>
              </a:r>
            </a:p>
          </p:txBody>
        </p:sp>
        <p:sp>
          <p:nvSpPr>
            <p:cNvPr id="32" name="TextBox 32"/>
            <p:cNvSpPr txBox="1"/>
            <p:nvPr/>
          </p:nvSpPr>
          <p:spPr>
            <a:xfrm>
              <a:off x="8971407" y="3026029"/>
              <a:ext cx="2039178" cy="410718"/>
            </a:xfrm>
            <a:prstGeom prst="rect">
              <a:avLst/>
            </a:prstGeom>
            <a:noFill/>
            <a:ln>
              <a:noFill/>
            </a:ln>
          </p:spPr>
          <p:txBody>
            <a:bodyPr wrap="none" lIns="0" tIns="0" rIns="0" bIns="0" anchor="t" anchorCtr="0">
              <a:spAutoFit/>
            </a:bodyPr>
            <a:lstStyle/>
            <a:p>
              <a:pPr algn="l"/>
              <a:r>
                <a:rPr lang="en-IN" sz="2100" b="1" dirty="0">
                  <a:solidFill>
                    <a:srgbClr val="F5F2EA"/>
                  </a:solidFill>
                  <a:latin typeface="Segoe UI"/>
                  <a:ea typeface="Segoe UI"/>
                  <a:cs typeface="Segoe UI"/>
                </a:rPr>
                <a:t>low broadband</a:t>
              </a:r>
            </a:p>
          </p:txBody>
        </p:sp>
      </p:grpSp>
      <p:grpSp>
        <p:nvGrpSpPr>
          <p:cNvPr id="40" name="finding-3"/>
          <p:cNvGrpSpPr/>
          <p:nvPr/>
        </p:nvGrpSpPr>
        <p:grpSpPr>
          <a:xfrm>
            <a:off x="8972931" y="3634359"/>
            <a:ext cx="1335438" cy="1700784"/>
            <a:chOff x="8972931" y="3634359"/>
            <a:chExt cx="1335438" cy="1700784"/>
          </a:xfrm>
        </p:grpSpPr>
        <p:sp>
          <p:nvSpPr>
            <p:cNvPr id="34" name="TextBox 34"/>
            <p:cNvSpPr txBox="1"/>
            <p:nvPr/>
          </p:nvSpPr>
          <p:spPr>
            <a:xfrm>
              <a:off x="8972931" y="3634359"/>
              <a:ext cx="579004"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Cuba</a:t>
              </a:r>
            </a:p>
          </p:txBody>
        </p:sp>
        <p:sp>
          <p:nvSpPr>
            <p:cNvPr id="35" name="TextBox 35"/>
            <p:cNvSpPr txBox="1"/>
            <p:nvPr/>
          </p:nvSpPr>
          <p:spPr>
            <a:xfrm>
              <a:off x="8972931" y="3904107"/>
              <a:ext cx="741967"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Kuwait</a:t>
              </a:r>
            </a:p>
          </p:txBody>
        </p:sp>
        <p:sp>
          <p:nvSpPr>
            <p:cNvPr id="36" name="TextBox 36"/>
            <p:cNvSpPr txBox="1"/>
            <p:nvPr/>
          </p:nvSpPr>
          <p:spPr>
            <a:xfrm>
              <a:off x="8972931" y="4173855"/>
              <a:ext cx="1335438"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South Africa</a:t>
              </a:r>
            </a:p>
          </p:txBody>
        </p:sp>
        <p:sp>
          <p:nvSpPr>
            <p:cNvPr id="37" name="TextBox 37"/>
            <p:cNvSpPr txBox="1"/>
            <p:nvPr/>
          </p:nvSpPr>
          <p:spPr>
            <a:xfrm>
              <a:off x="8972931" y="4443603"/>
              <a:ext cx="781128"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Bhutan</a:t>
              </a:r>
            </a:p>
          </p:txBody>
        </p:sp>
        <p:sp>
          <p:nvSpPr>
            <p:cNvPr id="38" name="TextBox 38"/>
            <p:cNvSpPr txBox="1"/>
            <p:nvPr/>
          </p:nvSpPr>
          <p:spPr>
            <a:xfrm>
              <a:off x="8972931" y="4713351"/>
              <a:ext cx="1181799"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Kyrgyzstan</a:t>
              </a:r>
            </a:p>
          </p:txBody>
        </p:sp>
        <p:sp>
          <p:nvSpPr>
            <p:cNvPr id="39" name="TextBox 39"/>
            <p:cNvSpPr txBox="1"/>
            <p:nvPr/>
          </p:nvSpPr>
          <p:spPr>
            <a:xfrm>
              <a:off x="8972931" y="4983099"/>
              <a:ext cx="580331"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Libya</a:t>
              </a:r>
            </a:p>
          </p:txBody>
        </p:sp>
      </p:grpSp>
      <p:grpSp>
        <p:nvGrpSpPr>
          <p:cNvPr id="42" name="demo-1"/>
          <p:cNvGrpSpPr/>
          <p:nvPr/>
        </p:nvGrpSpPr>
        <p:grpSpPr>
          <a:xfrm>
            <a:off x="393954" y="6105906"/>
            <a:ext cx="1893301" cy="234696"/>
            <a:chOff x="393954" y="6105906"/>
            <a:chExt cx="1893301" cy="234696"/>
          </a:xfrm>
        </p:grpSpPr>
        <p:sp>
          <p:nvSpPr>
            <p:cNvPr id="41" name="TextBox 41">
              <a:hlinkClick r:id="rId3"/>
            </p:cNvPr>
            <p:cNvSpPr txBox="1"/>
            <p:nvPr/>
          </p:nvSpPr>
          <p:spPr>
            <a:xfrm>
              <a:off x="393954" y="6105906"/>
              <a:ext cx="1893301" cy="234696"/>
            </a:xfrm>
            <a:prstGeom prst="rect">
              <a:avLst/>
            </a:prstGeom>
            <a:noFill/>
            <a:ln>
              <a:noFill/>
            </a:ln>
          </p:spPr>
          <p:txBody>
            <a:bodyPr wrap="none" lIns="0" tIns="0" rIns="0" bIns="0" anchor="t" anchorCtr="0">
              <a:spAutoFit/>
            </a:bodyPr>
            <a:lstStyle/>
            <a:p>
              <a:pPr algn="l"/>
              <a:r>
                <a:rPr lang="en-IN" sz="1200" b="1" dirty="0">
                  <a:solidFill>
                    <a:srgbClr val="74D9D2"/>
                  </a:solidFill>
                  <a:latin typeface="Segoe UI"/>
                  <a:ea typeface="Segoe UI"/>
                  <a:cs typeface="Segoe UI"/>
                </a:rPr>
                <a:t>Show the live selection →</a:t>
              </a:r>
            </a:p>
          </p:txBody>
        </p:sp>
      </p:grpSp>
    </p:spTree>
  </p:cSld>
  <p:clrMapOvr>
    <a:masterClrMapping/>
  </p:clrMapOvr>
  <p:transition xmlns:p14="http://schemas.microsoft.com/office/powerpoint/2010/main" p14:dur="3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background-1"/>
          <p:cNvSpPr/>
          <p:nvPr/>
        </p:nvSpPr>
        <p:spPr>
          <a:xfrm>
            <a:off x="0" y="0"/>
            <a:ext cx="114300" cy="6858000"/>
          </a:xfrm>
          <a:prstGeom prst="rect">
            <a:avLst/>
          </a:prstGeom>
          <a:solidFill>
            <a:srgbClr val="087F83"/>
          </a:solidFill>
          <a:ln>
            <a:noFill/>
          </a:ln>
        </p:spPr>
      </p:sp>
      <p:sp>
        <p:nvSpPr>
          <p:cNvPr id="3" name="background-2"/>
          <p:cNvSpPr/>
          <p:nvPr/>
        </p:nvSpPr>
        <p:spPr>
          <a:xfrm>
            <a:off x="381000" y="6486525"/>
            <a:ext cx="1609725" cy="38100"/>
          </a:xfrm>
          <a:prstGeom prst="rect">
            <a:avLst/>
          </a:prstGeom>
          <a:solidFill>
            <a:srgbClr val="CFD8D7"/>
          </a:solidFill>
          <a:ln>
            <a:noFill/>
          </a:ln>
        </p:spPr>
      </p:sp>
      <p:sp>
        <p:nvSpPr>
          <p:cNvPr id="4" name="background-3"/>
          <p:cNvSpPr/>
          <p:nvPr/>
        </p:nvSpPr>
        <p:spPr>
          <a:xfrm>
            <a:off x="2105025" y="6486525"/>
            <a:ext cx="1609725" cy="38100"/>
          </a:xfrm>
          <a:prstGeom prst="rect">
            <a:avLst/>
          </a:prstGeom>
          <a:solidFill>
            <a:srgbClr val="CFD8D7"/>
          </a:solidFill>
          <a:ln>
            <a:noFill/>
          </a:ln>
        </p:spPr>
      </p:sp>
      <p:sp>
        <p:nvSpPr>
          <p:cNvPr id="5" name="background-4"/>
          <p:cNvSpPr/>
          <p:nvPr/>
        </p:nvSpPr>
        <p:spPr>
          <a:xfrm>
            <a:off x="3829050" y="6486525"/>
            <a:ext cx="1609725" cy="38100"/>
          </a:xfrm>
          <a:prstGeom prst="rect">
            <a:avLst/>
          </a:prstGeom>
          <a:solidFill>
            <a:srgbClr val="087F83"/>
          </a:solidFill>
          <a:ln>
            <a:noFill/>
          </a:ln>
        </p:spPr>
      </p:sp>
      <p:sp>
        <p:nvSpPr>
          <p:cNvPr id="6" name="background-5"/>
          <p:cNvSpPr/>
          <p:nvPr/>
        </p:nvSpPr>
        <p:spPr>
          <a:xfrm>
            <a:off x="5553075" y="6486525"/>
            <a:ext cx="1609725" cy="38100"/>
          </a:xfrm>
          <a:prstGeom prst="rect">
            <a:avLst/>
          </a:prstGeom>
          <a:solidFill>
            <a:srgbClr val="CFD8D7"/>
          </a:solidFill>
          <a:ln>
            <a:noFill/>
          </a:ln>
        </p:spPr>
      </p:sp>
      <p:sp>
        <p:nvSpPr>
          <p:cNvPr id="7" name="background-6"/>
          <p:cNvSpPr/>
          <p:nvPr/>
        </p:nvSpPr>
        <p:spPr>
          <a:xfrm>
            <a:off x="381000" y="1847850"/>
            <a:ext cx="3857625" cy="3562350"/>
          </a:xfrm>
          <a:prstGeom prst="rect">
            <a:avLst/>
          </a:prstGeom>
          <a:solidFill>
            <a:srgbClr val="FFFFFF"/>
          </a:solidFill>
          <a:ln>
            <a:noFill/>
          </a:ln>
        </p:spPr>
      </p:sp>
      <p:sp>
        <p:nvSpPr>
          <p:cNvPr id="8" name="background-7"/>
          <p:cNvSpPr/>
          <p:nvPr/>
        </p:nvSpPr>
        <p:spPr>
          <a:xfrm>
            <a:off x="4429125" y="1847850"/>
            <a:ext cx="3857625" cy="3562350"/>
          </a:xfrm>
          <a:prstGeom prst="rect">
            <a:avLst/>
          </a:prstGeom>
          <a:solidFill>
            <a:srgbClr val="FFFFFF"/>
          </a:solidFill>
          <a:ln>
            <a:noFill/>
          </a:ln>
        </p:spPr>
      </p:sp>
      <p:sp>
        <p:nvSpPr>
          <p:cNvPr id="9" name="background-8"/>
          <p:cNvSpPr/>
          <p:nvPr/>
        </p:nvSpPr>
        <p:spPr>
          <a:xfrm>
            <a:off x="381000" y="5753100"/>
            <a:ext cx="11334750" cy="514350"/>
          </a:xfrm>
          <a:prstGeom prst="rect">
            <a:avLst/>
          </a:prstGeom>
          <a:solidFill>
            <a:srgbClr val="087F83"/>
          </a:solidFill>
          <a:ln>
            <a:noFill/>
          </a:ln>
        </p:spPr>
      </p:sp>
      <p:grpSp>
        <p:nvGrpSpPr>
          <p:cNvPr id="11" name="chapter-1"/>
          <p:cNvGrpSpPr/>
          <p:nvPr/>
        </p:nvGrpSpPr>
        <p:grpSpPr>
          <a:xfrm>
            <a:off x="374904" y="209931"/>
            <a:ext cx="829088" cy="234696"/>
            <a:chOff x="374904" y="209931"/>
            <a:chExt cx="829088" cy="234696"/>
          </a:xfrm>
        </p:grpSpPr>
        <p:sp>
          <p:nvSpPr>
            <p:cNvPr id="10" name="TextBox 10"/>
            <p:cNvSpPr txBox="1"/>
            <p:nvPr/>
          </p:nvSpPr>
          <p:spPr>
            <a:xfrm>
              <a:off x="374904" y="209931"/>
              <a:ext cx="829088" cy="234696"/>
            </a:xfrm>
            <a:prstGeom prst="rect">
              <a:avLst/>
            </a:prstGeom>
            <a:noFill/>
            <a:ln>
              <a:noFill/>
            </a:ln>
          </p:spPr>
          <p:txBody>
            <a:bodyPr wrap="none" lIns="0" tIns="0" rIns="0" bIns="0" anchor="t" anchorCtr="0">
              <a:spAutoFit/>
            </a:bodyPr>
            <a:lstStyle/>
            <a:p>
              <a:pPr algn="l"/>
              <a:r>
                <a:rPr lang="en-IN" sz="1200" b="1" dirty="0">
                  <a:solidFill>
                    <a:srgbClr val="087F83"/>
                  </a:solidFill>
                  <a:latin typeface="Segoe UI"/>
                  <a:ea typeface="Segoe UI"/>
                  <a:cs typeface="Segoe UI"/>
                </a:rPr>
                <a:t>INTERNET</a:t>
              </a:r>
            </a:p>
          </p:txBody>
        </p:sp>
      </p:grpSp>
      <p:grpSp>
        <p:nvGrpSpPr>
          <p:cNvPr id="13" name="chapter-2"/>
          <p:cNvGrpSpPr/>
          <p:nvPr/>
        </p:nvGrpSpPr>
        <p:grpSpPr>
          <a:xfrm>
            <a:off x="11042904" y="219456"/>
            <a:ext cx="511993" cy="234696"/>
            <a:chOff x="11042904" y="219456"/>
            <a:chExt cx="511993" cy="234696"/>
          </a:xfrm>
        </p:grpSpPr>
        <p:sp>
          <p:nvSpPr>
            <p:cNvPr id="12" name="TextBox 12"/>
            <p:cNvSpPr txBox="1"/>
            <p:nvPr/>
          </p:nvSpPr>
          <p:spPr>
            <a:xfrm>
              <a:off x="11042904" y="219456"/>
              <a:ext cx="511993" cy="234696"/>
            </a:xfrm>
            <a:prstGeom prst="rect">
              <a:avLst/>
            </a:prstGeom>
            <a:noFill/>
            <a:ln>
              <a:noFill/>
            </a:ln>
          </p:spPr>
          <p:txBody>
            <a:bodyPr wrap="none" lIns="0" tIns="0" rIns="0" bIns="0" anchor="t" anchorCtr="0">
              <a:spAutoFit/>
            </a:bodyPr>
            <a:lstStyle/>
            <a:p>
              <a:pPr algn="l"/>
              <a:r>
                <a:rPr lang="en-IN" sz="1200" dirty="0">
                  <a:solidFill>
                    <a:srgbClr val="536878"/>
                  </a:solidFill>
                  <a:latin typeface="Segoe UI"/>
                  <a:ea typeface="Segoe UI"/>
                  <a:cs typeface="Segoe UI"/>
                </a:rPr>
                <a:t>06 / 14</a:t>
              </a:r>
            </a:p>
          </p:txBody>
        </p:sp>
      </p:grpSp>
      <p:grpSp>
        <p:nvGrpSpPr>
          <p:cNvPr id="15" name="title-1"/>
          <p:cNvGrpSpPr/>
          <p:nvPr/>
        </p:nvGrpSpPr>
        <p:grpSpPr>
          <a:xfrm>
            <a:off x="364236" y="616204"/>
            <a:ext cx="9337601" cy="645414"/>
            <a:chOff x="364236" y="616204"/>
            <a:chExt cx="9337601" cy="645414"/>
          </a:xfrm>
        </p:grpSpPr>
        <p:sp>
          <p:nvSpPr>
            <p:cNvPr id="14" name="TextBox 14"/>
            <p:cNvSpPr txBox="1"/>
            <p:nvPr/>
          </p:nvSpPr>
          <p:spPr>
            <a:xfrm>
              <a:off x="364236" y="616204"/>
              <a:ext cx="9337601" cy="645414"/>
            </a:xfrm>
            <a:prstGeom prst="rect">
              <a:avLst/>
            </a:prstGeom>
            <a:noFill/>
            <a:ln>
              <a:noFill/>
            </a:ln>
          </p:spPr>
          <p:txBody>
            <a:bodyPr wrap="none" lIns="0" tIns="0" rIns="0" bIns="0" anchor="t" anchorCtr="0">
              <a:spAutoFit/>
            </a:bodyPr>
            <a:lstStyle/>
            <a:p>
              <a:pPr algn="l"/>
              <a:r>
                <a:rPr lang="en-IN" sz="3300" b="1" dirty="0">
                  <a:solidFill>
                    <a:srgbClr val="102638"/>
                  </a:solidFill>
                  <a:latin typeface="Segoe UI"/>
                  <a:ea typeface="Segoe UI"/>
                  <a:cs typeface="Segoe UI"/>
                </a:rPr>
                <a:t>Progress does not mean everyone caught up</a:t>
              </a:r>
            </a:p>
          </p:txBody>
        </p:sp>
      </p:grpSp>
      <p:grpSp>
        <p:nvGrpSpPr>
          <p:cNvPr id="17" name="question-1"/>
          <p:cNvGrpSpPr/>
          <p:nvPr/>
        </p:nvGrpSpPr>
        <p:grpSpPr>
          <a:xfrm>
            <a:off x="392430" y="1169670"/>
            <a:ext cx="4622537" cy="293370"/>
            <a:chOff x="392430" y="1169670"/>
            <a:chExt cx="4622537" cy="293370"/>
          </a:xfrm>
        </p:grpSpPr>
        <p:sp>
          <p:nvSpPr>
            <p:cNvPr id="16" name="TextBox 16"/>
            <p:cNvSpPr txBox="1"/>
            <p:nvPr/>
          </p:nvSpPr>
          <p:spPr>
            <a:xfrm>
              <a:off x="392430" y="1169670"/>
              <a:ext cx="4622537" cy="293370"/>
            </a:xfrm>
            <a:prstGeom prst="rect">
              <a:avLst/>
            </a:prstGeom>
            <a:noFill/>
            <a:ln>
              <a:noFill/>
            </a:ln>
          </p:spPr>
          <p:txBody>
            <a:bodyPr wrap="none" lIns="0" tIns="0" rIns="0" bIns="0" anchor="t" anchorCtr="0">
              <a:spAutoFit/>
            </a:bodyPr>
            <a:lstStyle/>
            <a:p>
              <a:pPr algn="l"/>
              <a:r>
                <a:rPr lang="en-IN" sz="1500" dirty="0">
                  <a:solidFill>
                    <a:srgbClr val="536878"/>
                  </a:solidFill>
                  <a:latin typeface="Segoe UI"/>
                  <a:ea typeface="Segoe UI"/>
                  <a:cs typeface="Segoe UI"/>
                </a:rPr>
                <a:t>Read where the curves sit, then look at their spread.</a:t>
              </a:r>
            </a:p>
          </p:txBody>
        </p:sp>
      </p:grpSp>
      <p:sp>
        <p:nvSpPr>
          <p:cNvPr id="18" name="Line 18"/>
          <p:cNvSpPr/>
          <p:nvPr/>
        </p:nvSpPr>
        <p:spPr>
          <a:xfrm>
            <a:off x="381000" y="1571625"/>
            <a:ext cx="11334750" cy="9525"/>
          </a:xfrm>
          <a:custGeom>
            <a:avLst/>
            <a:gdLst/>
            <a:ahLst/>
            <a:cxnLst/>
            <a:rect l="l" t="t" r="r" b="b"/>
            <a:pathLst>
              <a:path w="11334750" h="9525">
                <a:moveTo>
                  <a:pt x="0" y="0"/>
                </a:moveTo>
                <a:lnTo>
                  <a:pt x="11334750" y="0"/>
                </a:lnTo>
              </a:path>
            </a:pathLst>
          </a:custGeom>
          <a:noFill/>
          <a:ln w="9525">
            <a:solidFill>
              <a:srgbClr val="B8C6CA"/>
            </a:solidFill>
          </a:ln>
        </p:spPr>
      </p:sp>
      <p:grpSp>
        <p:nvGrpSpPr>
          <p:cNvPr id="20" name="progress-1"/>
          <p:cNvGrpSpPr/>
          <p:nvPr/>
        </p:nvGrpSpPr>
        <p:grpSpPr>
          <a:xfrm>
            <a:off x="375666" y="6589649"/>
            <a:ext cx="723062" cy="205359"/>
            <a:chOff x="375666" y="6589649"/>
            <a:chExt cx="723062" cy="205359"/>
          </a:xfrm>
        </p:grpSpPr>
        <p:sp>
          <p:nvSpPr>
            <p:cNvPr id="19" name="TextBox 19"/>
            <p:cNvSpPr txBox="1"/>
            <p:nvPr/>
          </p:nvSpPr>
          <p:spPr>
            <a:xfrm>
              <a:off x="375666" y="6589649"/>
              <a:ext cx="72306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QUESTION</a:t>
              </a:r>
            </a:p>
          </p:txBody>
        </p:sp>
      </p:grpSp>
      <p:grpSp>
        <p:nvGrpSpPr>
          <p:cNvPr id="22" name="progress-2"/>
          <p:cNvGrpSpPr/>
          <p:nvPr/>
        </p:nvGrpSpPr>
        <p:grpSpPr>
          <a:xfrm>
            <a:off x="2099691" y="6589649"/>
            <a:ext cx="1063062" cy="205359"/>
            <a:chOff x="2099691" y="6589649"/>
            <a:chExt cx="1063062" cy="205359"/>
          </a:xfrm>
        </p:grpSpPr>
        <p:sp>
          <p:nvSpPr>
            <p:cNvPr id="21" name="TextBox 21"/>
            <p:cNvSpPr txBox="1"/>
            <p:nvPr/>
          </p:nvSpPr>
          <p:spPr>
            <a:xfrm>
              <a:off x="2099691" y="6589649"/>
              <a:ext cx="106306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READ THE PLOT</a:t>
              </a:r>
            </a:p>
          </p:txBody>
        </p:sp>
      </p:grpSp>
      <p:grpSp>
        <p:nvGrpSpPr>
          <p:cNvPr id="24" name="progress-3"/>
          <p:cNvGrpSpPr/>
          <p:nvPr/>
        </p:nvGrpSpPr>
        <p:grpSpPr>
          <a:xfrm>
            <a:off x="3823716" y="6589649"/>
            <a:ext cx="717372" cy="205359"/>
            <a:chOff x="3823716" y="6589649"/>
            <a:chExt cx="717372" cy="205359"/>
          </a:xfrm>
        </p:grpSpPr>
        <p:sp>
          <p:nvSpPr>
            <p:cNvPr id="23" name="TextBox 23"/>
            <p:cNvSpPr txBox="1"/>
            <p:nvPr/>
          </p:nvSpPr>
          <p:spPr>
            <a:xfrm>
              <a:off x="3823716" y="6589649"/>
              <a:ext cx="717372" cy="205359"/>
            </a:xfrm>
            <a:prstGeom prst="rect">
              <a:avLst/>
            </a:prstGeom>
            <a:noFill/>
            <a:ln>
              <a:noFill/>
            </a:ln>
          </p:spPr>
          <p:txBody>
            <a:bodyPr wrap="none" lIns="0" tIns="0" rIns="0" bIns="0" anchor="t" anchorCtr="0">
              <a:spAutoFit/>
            </a:bodyPr>
            <a:lstStyle/>
            <a:p>
              <a:pPr algn="l"/>
              <a:r>
                <a:rPr lang="en-IN" sz="1050" b="1" dirty="0">
                  <a:solidFill>
                    <a:srgbClr val="102638"/>
                  </a:solidFill>
                  <a:latin typeface="Segoe UI"/>
                  <a:ea typeface="Segoe UI"/>
                  <a:cs typeface="Segoe UI"/>
                </a:rPr>
                <a:t>EVIDENCE</a:t>
              </a:r>
            </a:p>
          </p:txBody>
        </p:sp>
      </p:grpSp>
      <p:grpSp>
        <p:nvGrpSpPr>
          <p:cNvPr id="26" name="progress-4"/>
          <p:cNvGrpSpPr/>
          <p:nvPr/>
        </p:nvGrpSpPr>
        <p:grpSpPr>
          <a:xfrm>
            <a:off x="5547741" y="6589649"/>
            <a:ext cx="936202" cy="205359"/>
            <a:chOff x="5547741" y="6589649"/>
            <a:chExt cx="936202" cy="205359"/>
          </a:xfrm>
        </p:grpSpPr>
        <p:sp>
          <p:nvSpPr>
            <p:cNvPr id="25" name="TextBox 25"/>
            <p:cNvSpPr txBox="1"/>
            <p:nvPr/>
          </p:nvSpPr>
          <p:spPr>
            <a:xfrm>
              <a:off x="5547741" y="6589649"/>
              <a:ext cx="93620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CONCLUSION</a:t>
              </a:r>
            </a:p>
          </p:txBody>
        </p:sp>
      </p:grpSp>
      <p:grpSp>
        <p:nvGrpSpPr>
          <p:cNvPr id="28" name="source-1"/>
          <p:cNvGrpSpPr/>
          <p:nvPr/>
        </p:nvGrpSpPr>
        <p:grpSpPr>
          <a:xfrm>
            <a:off x="7614666" y="6532499"/>
            <a:ext cx="890010" cy="205359"/>
            <a:chOff x="7614666" y="6532499"/>
            <a:chExt cx="890010" cy="205359"/>
          </a:xfrm>
        </p:grpSpPr>
        <p:sp>
          <p:nvSpPr>
            <p:cNvPr id="27" name="TextBox 27"/>
            <p:cNvSpPr txBox="1"/>
            <p:nvPr/>
          </p:nvSpPr>
          <p:spPr>
            <a:xfrm>
              <a:off x="7614666" y="6532499"/>
              <a:ext cx="890010"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Report Fig. 16</a:t>
              </a:r>
            </a:p>
          </p:txBody>
        </p:sp>
      </p:grpSp>
      <p:grpSp>
        <p:nvGrpSpPr>
          <p:cNvPr id="30" name="ridges-1"/>
          <p:cNvGrpSpPr/>
          <p:nvPr/>
        </p:nvGrpSpPr>
        <p:grpSpPr>
          <a:xfrm>
            <a:off x="428625" y="2133028"/>
            <a:ext cx="3762375" cy="2991898"/>
            <a:chOff x="428625" y="2133028"/>
            <a:chExt cx="3762375" cy="2991898"/>
          </a:xfrm>
        </p:grpSpPr>
        <p:pic>
          <p:nvPicPr>
            <p:cNvPr id="29" name="Image 29"/>
            <p:cNvPicPr>
              <a:picLocks noChangeAspect="1"/>
            </p:cNvPicPr>
            <p:nvPr/>
          </p:nvPicPr>
          <p:blipFill>
            <a:blip r:embed="rId2"/>
            <a:stretch>
              <a:fillRect/>
            </a:stretch>
          </p:blipFill>
          <p:spPr>
            <a:xfrm>
              <a:off x="428625" y="2133028"/>
              <a:ext cx="3762375" cy="2991898"/>
            </a:xfrm>
            <a:prstGeom prst="rect">
              <a:avLst/>
            </a:prstGeom>
          </p:spPr>
        </p:pic>
      </p:grpSp>
      <p:grpSp>
        <p:nvGrpSpPr>
          <p:cNvPr id="32" name="ridges-2"/>
          <p:cNvGrpSpPr/>
          <p:nvPr/>
        </p:nvGrpSpPr>
        <p:grpSpPr>
          <a:xfrm>
            <a:off x="4476750" y="2096452"/>
            <a:ext cx="3762375" cy="3065240"/>
            <a:chOff x="4476750" y="2096452"/>
            <a:chExt cx="3762375" cy="3065240"/>
          </a:xfrm>
        </p:grpSpPr>
        <p:pic>
          <p:nvPicPr>
            <p:cNvPr id="31" name="Image 31"/>
            <p:cNvPicPr>
              <a:picLocks noChangeAspect="1"/>
            </p:cNvPicPr>
            <p:nvPr/>
          </p:nvPicPr>
          <p:blipFill>
            <a:blip r:embed="rId3"/>
            <a:stretch>
              <a:fillRect/>
            </a:stretch>
          </p:blipFill>
          <p:spPr>
            <a:xfrm>
              <a:off x="4476750" y="2096452"/>
              <a:ext cx="3762375" cy="3065240"/>
            </a:xfrm>
            <a:prstGeom prst="rect">
              <a:avLst/>
            </a:prstGeom>
          </p:spPr>
        </p:pic>
      </p:grpSp>
      <p:grpSp>
        <p:nvGrpSpPr>
          <p:cNvPr id="34" name="annotation-1"/>
          <p:cNvGrpSpPr/>
          <p:nvPr/>
        </p:nvGrpSpPr>
        <p:grpSpPr>
          <a:xfrm>
            <a:off x="411480" y="5455920"/>
            <a:ext cx="2500849" cy="293370"/>
            <a:chOff x="411480" y="5455920"/>
            <a:chExt cx="2500849" cy="293370"/>
          </a:xfrm>
        </p:grpSpPr>
        <p:sp>
          <p:nvSpPr>
            <p:cNvPr id="33" name="TextBox 33"/>
            <p:cNvSpPr txBox="1"/>
            <p:nvPr/>
          </p:nvSpPr>
          <p:spPr>
            <a:xfrm>
              <a:off x="411480" y="5455920"/>
              <a:ext cx="2500849" cy="293370"/>
            </a:xfrm>
            <a:prstGeom prst="rect">
              <a:avLst/>
            </a:prstGeom>
            <a:noFill/>
            <a:ln>
              <a:noFill/>
            </a:ln>
          </p:spPr>
          <p:txBody>
            <a:bodyPr wrap="none" lIns="0" tIns="0" rIns="0" bIns="0" anchor="t" anchorCtr="0">
              <a:spAutoFit/>
            </a:bodyPr>
            <a:lstStyle/>
            <a:p>
              <a:pPr algn="l"/>
              <a:r>
                <a:rPr lang="en-IN" sz="1500" b="1" dirty="0">
                  <a:solidFill>
                    <a:srgbClr val="087F83"/>
                  </a:solidFill>
                  <a:latin typeface="Segoe UI"/>
                  <a:ea typeface="Segoe UI"/>
                  <a:cs typeface="Segoe UI"/>
                </a:rPr>
                <a:t>Africa / same 45 countries</a:t>
              </a:r>
            </a:p>
          </p:txBody>
        </p:sp>
      </p:grpSp>
      <p:grpSp>
        <p:nvGrpSpPr>
          <p:cNvPr id="36" name="annotation-2"/>
          <p:cNvGrpSpPr/>
          <p:nvPr/>
        </p:nvGrpSpPr>
        <p:grpSpPr>
          <a:xfrm>
            <a:off x="4459605" y="5455920"/>
            <a:ext cx="2606348" cy="293370"/>
            <a:chOff x="4459605" y="5455920"/>
            <a:chExt cx="2606348" cy="293370"/>
          </a:xfrm>
        </p:grpSpPr>
        <p:sp>
          <p:nvSpPr>
            <p:cNvPr id="35" name="TextBox 35"/>
            <p:cNvSpPr txBox="1"/>
            <p:nvPr/>
          </p:nvSpPr>
          <p:spPr>
            <a:xfrm>
              <a:off x="4459605" y="5455920"/>
              <a:ext cx="2606348" cy="293370"/>
            </a:xfrm>
            <a:prstGeom prst="rect">
              <a:avLst/>
            </a:prstGeom>
            <a:noFill/>
            <a:ln>
              <a:noFill/>
            </a:ln>
          </p:spPr>
          <p:txBody>
            <a:bodyPr wrap="none" lIns="0" tIns="0" rIns="0" bIns="0" anchor="t" anchorCtr="0">
              <a:spAutoFit/>
            </a:bodyPr>
            <a:lstStyle/>
            <a:p>
              <a:pPr algn="l"/>
              <a:r>
                <a:rPr lang="en-IN" sz="1500" b="1" dirty="0">
                  <a:solidFill>
                    <a:srgbClr val="087F83"/>
                  </a:solidFill>
                  <a:latin typeface="Segoe UI"/>
                  <a:ea typeface="Segoe UI"/>
                  <a:cs typeface="Segoe UI"/>
                </a:rPr>
                <a:t>Europe / same 37 countries</a:t>
              </a:r>
            </a:p>
          </p:txBody>
        </p:sp>
      </p:grpSp>
      <p:grpSp>
        <p:nvGrpSpPr>
          <p:cNvPr id="39" name="badge-1-900-211-1"/>
          <p:cNvGrpSpPr/>
          <p:nvPr/>
        </p:nvGrpSpPr>
        <p:grpSpPr>
          <a:xfrm>
            <a:off x="8572500" y="2009775"/>
            <a:ext cx="323850" cy="300990"/>
            <a:chOff x="8572500" y="2009775"/>
            <a:chExt cx="323850" cy="300990"/>
          </a:xfrm>
        </p:grpSpPr>
        <p:sp>
          <p:nvSpPr>
            <p:cNvPr id="37" name="Rectangle 37"/>
            <p:cNvSpPr/>
            <p:nvPr/>
          </p:nvSpPr>
          <p:spPr>
            <a:xfrm>
              <a:off x="8572500" y="2009775"/>
              <a:ext cx="323850" cy="285750"/>
            </a:xfrm>
            <a:prstGeom prst="rect">
              <a:avLst/>
            </a:prstGeom>
            <a:solidFill>
              <a:srgbClr val="087F83"/>
            </a:solidFill>
            <a:ln>
              <a:noFill/>
            </a:ln>
          </p:spPr>
        </p:sp>
        <p:sp>
          <p:nvSpPr>
            <p:cNvPr id="38" name="TextBox 38"/>
            <p:cNvSpPr txBox="1"/>
            <p:nvPr/>
          </p:nvSpPr>
          <p:spPr>
            <a:xfrm>
              <a:off x="8660130" y="2017395"/>
              <a:ext cx="131390" cy="293370"/>
            </a:xfrm>
            <a:prstGeom prst="rect">
              <a:avLst/>
            </a:prstGeom>
            <a:noFill/>
            <a:ln>
              <a:noFill/>
            </a:ln>
          </p:spPr>
          <p:txBody>
            <a:bodyPr wrap="none" lIns="0" tIns="0" rIns="0" bIns="0" anchor="t" anchorCtr="0">
              <a:spAutoFit/>
            </a:bodyPr>
            <a:lstStyle/>
            <a:p>
              <a:pPr algn="l"/>
              <a:r>
                <a:rPr lang="en-IN" sz="1500" b="1" dirty="0">
                  <a:solidFill>
                    <a:srgbClr val="FFFFFF"/>
                  </a:solidFill>
                  <a:latin typeface="Segoe UI"/>
                  <a:ea typeface="Segoe UI"/>
                  <a:cs typeface="Segoe UI"/>
                </a:rPr>
                <a:t>1</a:t>
              </a:r>
            </a:p>
          </p:txBody>
        </p:sp>
      </p:grpSp>
      <p:grpSp>
        <p:nvGrpSpPr>
          <p:cNvPr id="41" name="note-1"/>
          <p:cNvGrpSpPr/>
          <p:nvPr/>
        </p:nvGrpSpPr>
        <p:grpSpPr>
          <a:xfrm>
            <a:off x="9020556" y="1977009"/>
            <a:ext cx="1788118" cy="352044"/>
            <a:chOff x="9020556" y="1977009"/>
            <a:chExt cx="1788118" cy="352044"/>
          </a:xfrm>
        </p:grpSpPr>
        <p:sp>
          <p:nvSpPr>
            <p:cNvPr id="40" name="TextBox 40"/>
            <p:cNvSpPr txBox="1"/>
            <p:nvPr/>
          </p:nvSpPr>
          <p:spPr>
            <a:xfrm>
              <a:off x="9020556" y="1977009"/>
              <a:ext cx="1788118" cy="352044"/>
            </a:xfrm>
            <a:prstGeom prst="rect">
              <a:avLst/>
            </a:prstGeom>
            <a:noFill/>
            <a:ln>
              <a:noFill/>
            </a:ln>
          </p:spPr>
          <p:txBody>
            <a:bodyPr wrap="none" lIns="0" tIns="0" rIns="0" bIns="0" anchor="t" anchorCtr="0">
              <a:spAutoFit/>
            </a:bodyPr>
            <a:lstStyle/>
            <a:p>
              <a:pPr algn="l"/>
              <a:r>
                <a:rPr lang="en-IN" sz="1800" b="1" dirty="0">
                  <a:solidFill>
                    <a:srgbClr val="102638"/>
                  </a:solidFill>
                  <a:latin typeface="Segoe UI"/>
                  <a:ea typeface="Segoe UI"/>
                  <a:cs typeface="Segoe UI"/>
                </a:rPr>
                <a:t>Rightward shift</a:t>
              </a:r>
            </a:p>
          </p:txBody>
        </p:sp>
      </p:grpSp>
      <p:grpSp>
        <p:nvGrpSpPr>
          <p:cNvPr id="43" name="note-2"/>
          <p:cNvGrpSpPr/>
          <p:nvPr/>
        </p:nvGrpSpPr>
        <p:grpSpPr>
          <a:xfrm>
            <a:off x="9022080" y="2369820"/>
            <a:ext cx="2250880" cy="293370"/>
            <a:chOff x="9022080" y="2369820"/>
            <a:chExt cx="2250880" cy="293370"/>
          </a:xfrm>
        </p:grpSpPr>
        <p:sp>
          <p:nvSpPr>
            <p:cNvPr id="42" name="TextBox 42"/>
            <p:cNvSpPr txBox="1"/>
            <p:nvPr/>
          </p:nvSpPr>
          <p:spPr>
            <a:xfrm>
              <a:off x="9022080" y="2369820"/>
              <a:ext cx="2250880" cy="293370"/>
            </a:xfrm>
            <a:prstGeom prst="rect">
              <a:avLst/>
            </a:prstGeom>
            <a:noFill/>
            <a:ln>
              <a:noFill/>
            </a:ln>
          </p:spPr>
          <p:txBody>
            <a:bodyPr wrap="none" lIns="0" tIns="0" rIns="0" bIns="0" anchor="t" anchorCtr="0">
              <a:spAutoFit/>
            </a:bodyPr>
            <a:lstStyle/>
            <a:p>
              <a:pPr algn="l"/>
              <a:r>
                <a:rPr lang="en-IN" sz="1500" dirty="0">
                  <a:solidFill>
                    <a:srgbClr val="102638"/>
                  </a:solidFill>
                  <a:latin typeface="Segoe UI"/>
                  <a:ea typeface="Segoe UI"/>
                  <a:cs typeface="Segoe UI"/>
                </a:rPr>
                <a:t>Adoption rises over time.</a:t>
              </a:r>
            </a:p>
          </p:txBody>
        </p:sp>
      </p:grpSp>
      <p:grpSp>
        <p:nvGrpSpPr>
          <p:cNvPr id="45" name="note-3"/>
          <p:cNvGrpSpPr/>
          <p:nvPr/>
        </p:nvGrpSpPr>
        <p:grpSpPr>
          <a:xfrm>
            <a:off x="9020556" y="3415284"/>
            <a:ext cx="2080274" cy="352044"/>
            <a:chOff x="9020556" y="3415284"/>
            <a:chExt cx="2080274" cy="352044"/>
          </a:xfrm>
        </p:grpSpPr>
        <p:sp>
          <p:nvSpPr>
            <p:cNvPr id="44" name="TextBox 44"/>
            <p:cNvSpPr txBox="1"/>
            <p:nvPr/>
          </p:nvSpPr>
          <p:spPr>
            <a:xfrm>
              <a:off x="9020556" y="3415284"/>
              <a:ext cx="2080274" cy="352044"/>
            </a:xfrm>
            <a:prstGeom prst="rect">
              <a:avLst/>
            </a:prstGeom>
            <a:noFill/>
            <a:ln>
              <a:noFill/>
            </a:ln>
          </p:spPr>
          <p:txBody>
            <a:bodyPr wrap="none" lIns="0" tIns="0" rIns="0" bIns="0" anchor="t" anchorCtr="0">
              <a:spAutoFit/>
            </a:bodyPr>
            <a:lstStyle/>
            <a:p>
              <a:pPr algn="l"/>
              <a:r>
                <a:rPr lang="en-IN" sz="1800" b="1" dirty="0">
                  <a:solidFill>
                    <a:srgbClr val="102638"/>
                  </a:solidFill>
                  <a:latin typeface="Segoe UI"/>
                  <a:ea typeface="Segoe UI"/>
                  <a:cs typeface="Segoe UI"/>
                </a:rPr>
                <a:t>Remaining spread</a:t>
              </a:r>
            </a:p>
          </p:txBody>
        </p:sp>
      </p:grpSp>
      <p:grpSp>
        <p:nvGrpSpPr>
          <p:cNvPr id="47" name="note-4"/>
          <p:cNvGrpSpPr/>
          <p:nvPr/>
        </p:nvGrpSpPr>
        <p:grpSpPr>
          <a:xfrm>
            <a:off x="9022080" y="3808095"/>
            <a:ext cx="2506868" cy="293370"/>
            <a:chOff x="9022080" y="3808095"/>
            <a:chExt cx="2506868" cy="293370"/>
          </a:xfrm>
        </p:grpSpPr>
        <p:sp>
          <p:nvSpPr>
            <p:cNvPr id="46" name="TextBox 46"/>
            <p:cNvSpPr txBox="1"/>
            <p:nvPr/>
          </p:nvSpPr>
          <p:spPr>
            <a:xfrm>
              <a:off x="9022080" y="3808095"/>
              <a:ext cx="2506868" cy="293370"/>
            </a:xfrm>
            <a:prstGeom prst="rect">
              <a:avLst/>
            </a:prstGeom>
            <a:noFill/>
            <a:ln>
              <a:noFill/>
            </a:ln>
          </p:spPr>
          <p:txBody>
            <a:bodyPr wrap="none" lIns="0" tIns="0" rIns="0" bIns="0" anchor="t" anchorCtr="0">
              <a:spAutoFit/>
            </a:bodyPr>
            <a:lstStyle/>
            <a:p>
              <a:pPr algn="l"/>
              <a:r>
                <a:rPr lang="en-IN" sz="1500" dirty="0">
                  <a:solidFill>
                    <a:srgbClr val="102638"/>
                  </a:solidFill>
                  <a:latin typeface="Segoe UI"/>
                  <a:ea typeface="Segoe UI"/>
                  <a:cs typeface="Segoe UI"/>
                </a:rPr>
                <a:t>Countries still differ in 2020.</a:t>
              </a:r>
            </a:p>
          </p:txBody>
        </p:sp>
      </p:grpSp>
      <p:grpSp>
        <p:nvGrpSpPr>
          <p:cNvPr id="50" name="badge-2-900-362-1"/>
          <p:cNvGrpSpPr/>
          <p:nvPr/>
        </p:nvGrpSpPr>
        <p:grpSpPr>
          <a:xfrm>
            <a:off x="8572500" y="3448050"/>
            <a:ext cx="323850" cy="300990"/>
            <a:chOff x="8572500" y="3448050"/>
            <a:chExt cx="323850" cy="300990"/>
          </a:xfrm>
        </p:grpSpPr>
        <p:sp>
          <p:nvSpPr>
            <p:cNvPr id="48" name="Rectangle 48"/>
            <p:cNvSpPr/>
            <p:nvPr/>
          </p:nvSpPr>
          <p:spPr>
            <a:xfrm>
              <a:off x="8572500" y="3448050"/>
              <a:ext cx="323850" cy="285750"/>
            </a:xfrm>
            <a:prstGeom prst="rect">
              <a:avLst/>
            </a:prstGeom>
            <a:solidFill>
              <a:srgbClr val="087F83"/>
            </a:solidFill>
            <a:ln>
              <a:noFill/>
            </a:ln>
          </p:spPr>
        </p:sp>
        <p:sp>
          <p:nvSpPr>
            <p:cNvPr id="49" name="TextBox 49"/>
            <p:cNvSpPr txBox="1"/>
            <p:nvPr/>
          </p:nvSpPr>
          <p:spPr>
            <a:xfrm>
              <a:off x="8660130" y="3455670"/>
              <a:ext cx="131390" cy="293370"/>
            </a:xfrm>
            <a:prstGeom prst="rect">
              <a:avLst/>
            </a:prstGeom>
            <a:noFill/>
            <a:ln>
              <a:noFill/>
            </a:ln>
          </p:spPr>
          <p:txBody>
            <a:bodyPr wrap="none" lIns="0" tIns="0" rIns="0" bIns="0" anchor="t" anchorCtr="0">
              <a:spAutoFit/>
            </a:bodyPr>
            <a:lstStyle/>
            <a:p>
              <a:pPr algn="l"/>
              <a:r>
                <a:rPr lang="en-IN" sz="1500" b="1" dirty="0">
                  <a:solidFill>
                    <a:srgbClr val="FFFFFF"/>
                  </a:solidFill>
                  <a:latin typeface="Segoe UI"/>
                  <a:ea typeface="Segoe UI"/>
                  <a:cs typeface="Segoe UI"/>
                </a:rPr>
                <a:t>2</a:t>
              </a:r>
            </a:p>
          </p:txBody>
        </p:sp>
      </p:grpSp>
      <p:grpSp>
        <p:nvGrpSpPr>
          <p:cNvPr id="52" name="conclusion-1"/>
          <p:cNvGrpSpPr/>
          <p:nvPr/>
        </p:nvGrpSpPr>
        <p:grpSpPr>
          <a:xfrm>
            <a:off x="543306" y="5853684"/>
            <a:ext cx="7404387" cy="352044"/>
            <a:chOff x="543306" y="5853684"/>
            <a:chExt cx="7404387" cy="352044"/>
          </a:xfrm>
        </p:grpSpPr>
        <p:sp>
          <p:nvSpPr>
            <p:cNvPr id="51" name="TextBox 51"/>
            <p:cNvSpPr txBox="1"/>
            <p:nvPr/>
          </p:nvSpPr>
          <p:spPr>
            <a:xfrm>
              <a:off x="543306" y="5853684"/>
              <a:ext cx="7404387" cy="352044"/>
            </a:xfrm>
            <a:prstGeom prst="rect">
              <a:avLst/>
            </a:prstGeom>
            <a:noFill/>
            <a:ln>
              <a:noFill/>
            </a:ln>
          </p:spPr>
          <p:txBody>
            <a:bodyPr wrap="none" lIns="0" tIns="0" rIns="0" bIns="0" anchor="t" anchorCtr="0">
              <a:spAutoFit/>
            </a:bodyPr>
            <a:lstStyle/>
            <a:p>
              <a:pPr algn="l"/>
              <a:r>
                <a:rPr lang="en-IN" sz="1800" b="1" dirty="0">
                  <a:solidFill>
                    <a:srgbClr val="F5F2EA"/>
                  </a:solidFill>
                  <a:latin typeface="Segoe UI"/>
                  <a:ea typeface="Segoe UI"/>
                  <a:cs typeface="Segoe UI"/>
                </a:rPr>
                <a:t>Progress is clear. Large gaps remain within and between regions.</a:t>
              </a:r>
            </a:p>
          </p:txBody>
        </p:sp>
      </p:grpSp>
    </p:spTree>
  </p:cSld>
  <p:clrMapOvr>
    <a:masterClrMapping/>
  </p:clrMapOvr>
  <p:transition xmlns:p14="http://schemas.microsoft.com/office/powerpoint/2010/main" p14:dur="300">
    <p:fade/>
  </p:transition>
</p:sld>
</file>

<file path=ppt/slides/slide7.xml><?xml version="1.0" encoding="utf-8"?>
<ns0:sld xmlns:ns0="http://schemas.openxmlformats.org/presentationml/2006/main" xmlns:ns1="http://schemas.openxmlformats.org/drawingml/2006/main" xmlns:ns2="http://schemas.microsoft.com/office/powerpoint/2010/main">
  <ns0:cSld>
    <ns0:bg>
      <ns0:bgPr>
        <ns1:solidFill>
          <ns1:srgbClr val="102638"/>
        </ns1:solidFill>
        <ns1:effectLst/>
      </ns0:bgPr>
    </ns0:bg>
    <ns0:spTree>
      <ns0:nvGrpSpPr>
        <ns0:cNvPr id="1" name=""/>
        <ns0:cNvGrpSpPr/>
        <ns0:nvPr/>
      </ns0:nvGrpSpPr>
      <ns0:grpSpPr>
        <ns1:xfrm>
          <ns1:off x="0" y="0"/>
          <ns1:ext cx="0" cy="0"/>
          <ns1:chOff x="0" y="0"/>
          <ns1:chExt cx="0" cy="0"/>
        </ns1:xfrm>
      </ns0:grpSpPr>
      <ns0:sp>
        <ns0:nvSpPr>
          <ns0:cNvPr id="2" name="background-1"/>
          <ns0:cNvSpPr/>
          <ns0:nvPr/>
        </ns0:nvSpPr>
        <ns0:spPr>
          <ns1:xfrm>
            <ns1:off x="0" y="0"/>
            <ns1:ext cx="114300" cy="6858000"/>
          </ns1:xfrm>
          <ns1:prstGeom prst="rect">
            <ns1:avLst/>
          </ns1:prstGeom>
          <ns1:solidFill>
            <ns1:srgbClr val="087F83"/>
          </ns1:solidFill>
          <ns1:ln>
            <ns1:noFill/>
          </ns1:ln>
        </ns0:spPr>
      </ns0:sp>
      <ns0:sp>
        <ns0:nvSpPr>
          <ns0:cNvPr id="3" name="background-2"/>
          <ns0:cNvSpPr/>
          <ns0:nvPr/>
        </ns0:nvSpPr>
        <ns0:spPr>
          <ns1:xfrm>
            <ns1:off x="381000" y="6486525"/>
            <ns1:ext cx="1609725" cy="38100"/>
          </ns1:xfrm>
          <ns1:prstGeom prst="rect">
            <ns1:avLst/>
          </ns1:prstGeom>
          <ns1:solidFill>
            <ns1:srgbClr val="365163"/>
          </ns1:solidFill>
          <ns1:ln>
            <ns1:noFill/>
          </ns1:ln>
        </ns0:spPr>
      </ns0:sp>
      <ns0:sp>
        <ns0:nvSpPr>
          <ns0:cNvPr id="4" name="background-3"/>
          <ns0:cNvSpPr/>
          <ns0:nvPr/>
        </ns0:nvSpPr>
        <ns0:spPr>
          <ns1:xfrm>
            <ns1:off x="2105025" y="6486525"/>
            <ns1:ext cx="1609725" cy="38100"/>
          </ns1:xfrm>
          <ns1:prstGeom prst="rect">
            <ns1:avLst/>
          </ns1:prstGeom>
          <ns1:solidFill>
            <ns1:srgbClr val="365163"/>
          </ns1:solidFill>
          <ns1:ln>
            <ns1:noFill/>
          </ns1:ln>
        </ns0:spPr>
      </ns0:sp>
      <ns0:sp>
        <ns0:nvSpPr>
          <ns0:cNvPr id="5" name="background-4"/>
          <ns0:cNvSpPr/>
          <ns0:nvPr/>
        </ns0:nvSpPr>
        <ns0:spPr>
          <ns1:xfrm>
            <ns1:off x="3829050" y="6486525"/>
            <ns1:ext cx="1609725" cy="38100"/>
          </ns1:xfrm>
          <ns1:prstGeom prst="rect">
            <ns1:avLst/>
          </ns1:prstGeom>
          <ns1:solidFill>
            <ns1:srgbClr val="365163"/>
          </ns1:solidFill>
          <ns1:ln>
            <ns1:noFill/>
          </ns1:ln>
        </ns0:spPr>
      </ns0:sp>
      <ns0:sp>
        <ns0:nvSpPr>
          <ns0:cNvPr id="6" name="background-5"/>
          <ns0:cNvSpPr/>
          <ns0:nvPr/>
        </ns0:nvSpPr>
        <ns0:spPr>
          <ns1:xfrm>
            <ns1:off x="5553075" y="6486525"/>
            <ns1:ext cx="1609725" cy="38100"/>
          </ns1:xfrm>
          <ns1:prstGeom prst="rect">
            <ns1:avLst/>
          </ns1:prstGeom>
          <ns1:solidFill>
            <ns1:srgbClr val="087F83"/>
          </ns1:solidFill>
          <ns1:ln>
            <ns1:noFill/>
          </ns1:ln>
        </ns0:spPr>
      </ns0:sp>
      <ns0:sp>
        <ns0:nvSpPr>
          <ns0:cNvPr id="7" name="background-6"/>
          <ns0:cNvSpPr/>
          <ns0:nvPr/>
        </ns0:nvSpPr>
        <ns0:spPr>
          <ns1:xfrm>
            <ns1:off x="381000" y="1981200"/>
            <ns1:ext cx="3600450" cy="3219450"/>
          </ns1:xfrm>
          <ns1:prstGeom prst="rect">
            <ns1:avLst/>
          </ns1:prstGeom>
          <ns1:solidFill>
            <ns1:srgbClr val="1A3B4B"/>
          </ns1:solidFill>
          <ns1:ln>
            <ns1:noFill/>
          </ns1:ln>
        </ns0:spPr>
      </ns0:sp>
      <ns0:sp>
        <ns0:nvSpPr>
          <ns0:cNvPr id="8" name="background-7"/>
          <ns0:cNvSpPr/>
          <ns0:nvPr/>
        </ns0:nvSpPr>
        <ns0:spPr>
          <ns1:xfrm>
            <ns1:off x="4248150" y="1981200"/>
            <ns1:ext cx="3600450" cy="3219450"/>
          </ns1:xfrm>
          <ns1:prstGeom prst="rect">
            <ns1:avLst/>
          </ns1:prstGeom>
          <ns1:solidFill>
            <ns1:srgbClr val="1A3B4B"/>
          </ns1:solidFill>
          <ns1:ln>
            <ns1:noFill/>
          </ns1:ln>
        </ns0:spPr>
      </ns0:sp>
      <ns0:sp>
        <ns0:nvSpPr>
          <ns0:cNvPr id="9" name="background-8"/>
          <ns0:cNvSpPr/>
          <ns0:nvPr/>
        </ns0:nvSpPr>
        <ns0:spPr>
          <ns1:xfrm>
            <ns1:off x="8115300" y="1981200"/>
            <ns1:ext cx="3600450" cy="3219450"/>
          </ns1:xfrm>
          <ns1:prstGeom prst="rect">
            <ns1:avLst/>
          </ns1:prstGeom>
          <ns1:solidFill>
            <ns1:srgbClr val="1A3B4B"/>
          </ns1:solidFill>
          <ns1:ln>
            <ns1:noFill/>
          </ns1:ln>
        </ns0:spPr>
      </ns0:sp>
      <ns0:sp>
        <ns0:nvSpPr>
          <ns0:cNvPr id="10" name="background-9"/>
          <ns0:cNvSpPr/>
          <ns0:nvPr/>
        </ns0:nvSpPr>
        <ns0:spPr>
          <ns1:xfrm>
            <ns1:off x="381000" y="5753100"/>
            <ns1:ext cx="11334750" cy="514350"/>
          </ns1:xfrm>
          <ns1:prstGeom prst="rect">
            <ns1:avLst/>
          </ns1:prstGeom>
          <ns1:solidFill>
            <ns1:srgbClr val="1F4856"/>
          </ns1:solidFill>
          <ns1:ln>
            <ns1:noFill/>
          </ns1:ln>
        </ns0:spPr>
      </ns0:sp>
      <ns0:grpSp>
        <ns0:nvGrpSpPr>
          <ns0:cNvPr id="12" name="chapter-1"/>
          <ns0:cNvGrpSpPr/>
          <ns0:nvPr/>
        </ns0:nvGrpSpPr>
        <ns0:grpSpPr>
          <ns1:xfrm>
            <ns1:off x="374904" y="209931"/>
            <ns1:ext cx="829088" cy="234696"/>
            <ns1:chOff x="374904" y="209931"/>
            <ns1:chExt cx="829088" cy="234696"/>
          </ns1:xfrm>
        </ns0:grpSpPr>
        <ns0:sp>
          <ns0:nvSpPr>
            <ns0:cNvPr id="11" name="TextBox 11"/>
            <ns0:cNvSpPr txBox="1"/>
            <ns0:nvPr/>
          </ns0:nvSpPr>
          <ns0:spPr>
            <ns1:xfrm>
              <ns1:off x="374904" y="209931"/>
              <ns1:ext cx="829088" cy="234696"/>
            </ns1:xfrm>
            <ns1:prstGeom prst="rect">
              <ns1:avLst/>
            </ns1:prstGeom>
            <ns1:noFill/>
            <ns1:ln>
              <ns1:noFill/>
            </ns1:ln>
          </ns0:spPr>
          <ns0:txBody>
            <ns1:bodyPr wrap="none" lIns="0" tIns="0" rIns="0" bIns="0" anchor="t" anchorCtr="0">
              <ns1:spAutoFit/>
            </ns1:bodyPr>
            <ns1:lstStyle/>
            <ns1:p>
              <ns1:pPr algn="l"/>
              <ns1:r>
                <ns1:rPr lang="en-IN" sz="1200" b="1" dirty="0">
                  <ns1:solidFill>
                    <ns1:srgbClr val="66D2CC"/>
                  </ns1:solidFill>
                  <ns1:latin typeface="Segoe UI"/>
                  <ns1:ea typeface="Segoe UI"/>
                  <ns1:cs typeface="Segoe UI"/>
                </ns1:rPr>
                <ns1:t>INTERNET</ns1:t>
              </ns1:r>
            </ns1:p>
          </ns0:txBody>
        </ns0:sp>
      </ns0:grpSp>
      <ns0:grpSp>
        <ns0:nvGrpSpPr>
          <ns0:cNvPr id="14" name="chapter-2"/>
          <ns0:cNvGrpSpPr/>
          <ns0:nvPr/>
        </ns0:nvGrpSpPr>
        <ns0:grpSpPr>
          <ns1:xfrm>
            <ns1:off x="11042904" y="219456"/>
            <ns1:ext cx="511993" cy="234696"/>
            <ns1:chOff x="11042904" y="219456"/>
            <ns1:chExt cx="511993" cy="234696"/>
          </ns1:xfrm>
        </ns0:grpSpPr>
        <ns0:sp>
          <ns0:nvSpPr>
            <ns0:cNvPr id="13" name="TextBox 13"/>
            <ns0:cNvSpPr txBox="1"/>
            <ns0:nvPr/>
          </ns0:nvSpPr>
          <ns0:spPr>
            <ns1:xfrm>
              <ns1:off x="11042904" y="219456"/>
              <ns1:ext cx="511993" cy="234696"/>
            </ns1:xfrm>
            <ns1:prstGeom prst="rect">
              <ns1:avLst/>
            </ns1:prstGeom>
            <ns1:noFill/>
            <ns1:ln>
              <ns1:noFill/>
            </ns1:ln>
          </ns0:spPr>
          <ns0:txBody>
            <ns1:bodyPr wrap="none" lIns="0" tIns="0" rIns="0" bIns="0" anchor="t" anchorCtr="0">
              <ns1:spAutoFit/>
            </ns1:bodyPr>
            <ns1:lstStyle/>
            <ns1:p>
              <ns1:pPr algn="l"/>
              <ns1:r>
                <ns1:rPr lang="en-IN" sz="1200" dirty="0">
                  <ns1:solidFill>
                    <ns1:srgbClr val="A7BCC9"/>
                  </ns1:solidFill>
                  <ns1:latin typeface="Segoe UI"/>
                  <ns1:ea typeface="Segoe UI"/>
                  <ns1:cs typeface="Segoe UI"/>
                </ns1:rPr>
                <ns1:t>07 / 14</ns1:t>
              </ns1:r>
            </ns1:p>
          </ns0:txBody>
        </ns0:sp>
      </ns0:grpSp>
      <ns0:grpSp>
        <ns0:nvGrpSpPr>
          <ns0:cNvPr id="16" name="title-1"/>
          <ns0:cNvGrpSpPr/>
          <ns0:nvPr/>
        </ns0:nvGrpSpPr>
        <ns0:grpSpPr>
          <ns1:xfrm>
            <ns1:off x="364236" y="616204"/>
            <ns1:ext cx="7519221" cy="645414"/>
            <ns1:chOff x="364236" y="616204"/>
            <ns1:chExt cx="7519221" cy="645414"/>
          </ns1:xfrm>
        </ns0:grpSpPr>
        <ns0:sp>
          <ns0:nvSpPr>
            <ns0:cNvPr id="15" name="TextBox 15"/>
            <ns0:cNvSpPr txBox="1"/>
            <ns0:nvPr/>
          </ns0:nvSpPr>
          <ns0:spPr>
            <ns1:xfrm>
              <ns1:off x="364236" y="616204"/>
              <ns1:ext cx="7519221" cy="645414"/>
            </ns1:xfrm>
            <ns1:prstGeom prst="rect">
              <ns1:avLst/>
            </ns1:prstGeom>
            <ns1:noFill/>
            <ns1:ln>
              <ns1:noFill/>
            </ns1:ln>
          </ns0:spPr>
          <ns0:txBody>
            <ns1:bodyPr wrap="none" lIns="0" tIns="0" rIns="0" bIns="0" anchor="t" anchorCtr="0">
              <ns1:spAutoFit/>
            </ns1:bodyPr>
            <ns1:lstStyle/>
            <ns1:p>
              <ns1:pPr algn="l"/>
              <ns1:r>
                <ns1:rPr lang="en-IN" sz="3300" b="1" dirty="0">
                  <ns1:solidFill>
                    <ns1:srgbClr val="F5F2EA"/>
                  </ns1:solidFill>
                  <ns1:latin typeface="Segoe UI"/>
                  <ns1:ea typeface="Segoe UI"/>
                  <ns1:cs typeface="Segoe UI"/>
                </ns1:rPr>
                <ns1:t>Internet: three findings, one answer</ns1:t>
              </ns1:r>
            </ns1:p>
          </ns0:txBody>
        </ns0:sp>
      </ns0:grpSp>
      <ns0:grpSp>
        <ns0:nvGrpSpPr>
          <ns0:cNvPr id="18" name="question-1"/>
          <ns0:cNvGrpSpPr/>
          <ns0:nvPr/>
        </ns0:nvGrpSpPr>
        <ns0:grpSpPr>
          <ns1:xfrm>
            <ns1:off x="392430" y="1169670"/>
            <ns1:ext cx="4309754" cy="293370"/>
            <ns1:chOff x="392430" y="1169670"/>
            <ns1:chExt cx="4309754" cy="293370"/>
          </ns1:xfrm>
        </ns0:grpSpPr>
        <ns0:sp>
          <ns0:nvSpPr>
            <ns0:cNvPr id="17" name="TextBox 17"/>
            <ns0:cNvSpPr txBox="1"/>
            <ns0:nvPr/>
          </ns0:nvSpPr>
          <ns0:spPr>
            <ns1:xfrm>
              <ns1:off x="392430" y="1169670"/>
              <ns1:ext cx="4309754" cy="293370"/>
            </ns1:xfrm>
            <ns1:prstGeom prst="rect">
              <ns1:avLst/>
            </ns1:prstGeom>
            <ns1:noFill/>
            <ns1:ln>
              <ns1:noFill/>
            </ns1:ln>
          </ns0:spPr>
          <ns0:txBody>
            <ns1:bodyPr wrap="none" lIns="0" tIns="0" rIns="0" bIns="0" anchor="t" anchorCtr="0">
              <ns1:spAutoFit/>
            </ns1:bodyPr>
            <ns1:lstStyle/>
            <ns1:p>
              <ns1:pPr algn="l"/>
              <ns1:r>
                <ns1:rPr lang="en-IN" sz="1500" dirty="0">
                  <ns1:solidFill>
                    <ns1:srgbClr val="B3C6D0"/>
                  </ns1:solidFill>
                  <ns1:latin typeface="Segoe UI"/>
                  <ns1:ea typeface="Segoe UI"/>
                  <ns1:cs typeface="Segoe UI"/>
                </ns1:rPr>
                <ns1:t>Finish Internet before starting the Weather case.</ns1:t>
              </ns1:r>
            </ns1:p>
          </ns0:txBody>
        </ns0:sp>
      </ns0:grpSp>
      <ns0:sp>
        <ns0:nvSpPr>
          <ns0:cNvPr id="19" name="Line 19"/>
          <ns0:cNvSpPr/>
          <ns0:nvPr/>
        </ns0:nvSpPr>
        <ns0:spPr>
          <ns1:xfrm>
            <ns1:off x="381000" y="1571625"/>
            <ns1:ext cx="11334750" cy="9525"/>
          </ns1:xfrm>
          <ns1:custGeom>
            <ns1:avLst/>
            <ns1:gdLst/>
            <ns1:ahLst/>
            <ns1:cxnLst/>
            <ns1:rect l="l" t="t" r="r" b="b"/>
            <ns1:pathLst>
              <ns1:path w="11334750" h="9525">
                <ns1:moveTo>
                  <ns1:pt x="0" y="0"/>
                </ns1:moveTo>
                <ns1:lnTo>
                  <ns1:pt x="11334750" y="0"/>
                </ns1:lnTo>
              </ns1:path>
            </ns1:pathLst>
          </ns1:custGeom>
          <ns1:noFill/>
          <ns1:ln w="9525">
            <ns1:solidFill>
              <ns1:srgbClr val="3D5668"/>
            </ns1:solidFill>
          </ns1:ln>
        </ns0:spPr>
      </ns0:sp>
      <ns0:grpSp>
        <ns0:nvGrpSpPr>
          <ns0:cNvPr id="21" name="progress-1"/>
          <ns0:cNvGrpSpPr/>
          <ns0:nvPr/>
        </ns0:nvGrpSpPr>
        <ns0:grpSpPr>
          <ns1:xfrm>
            <ns1:off x="375666" y="6589649"/>
            <ns1:ext cx="723062" cy="205359"/>
            <ns1:chOff x="375666" y="6589649"/>
            <ns1:chExt cx="723062" cy="205359"/>
          </ns1:xfrm>
        </ns0:grpSpPr>
        <ns0:sp>
          <ns0:nvSpPr>
            <ns0:cNvPr id="20" name="TextBox 20"/>
            <ns0:cNvSpPr txBox="1"/>
            <ns0:nvPr/>
          </ns0:nvSpPr>
          <ns0:spPr>
            <ns1:xfrm>
              <ns1:off x="375666" y="6589649"/>
              <ns1:ext cx="723062" cy="205359"/>
            </ns1:xfrm>
            <ns1:prstGeom prst="rect">
              <ns1:avLst/>
            </ns1:prstGeom>
            <ns1:noFill/>
            <ns1:ln>
              <ns1:noFill/>
            </ns1:ln>
          </ns0:spPr>
          <ns0:txBody>
            <ns1:bodyPr wrap="none" lIns="0" tIns="0" rIns="0" bIns="0" anchor="t" anchorCtr="0">
              <ns1:spAutoFit/>
            </ns1:bodyPr>
            <ns1:lstStyle/>
            <ns1:p>
              <ns1:pPr algn="l"/>
              <ns1:r>
                <ns1:rPr lang="en-IN" sz="1050" dirty="0">
                  <ns1:solidFill>
                    <ns1:srgbClr val="97ACB9"/>
                  </ns1:solidFill>
                  <ns1:latin typeface="Segoe UI"/>
                  <ns1:ea typeface="Segoe UI"/>
                  <ns1:cs typeface="Segoe UI"/>
                </ns1:rPr>
                <ns1:t>QUESTION</ns1:t>
              </ns1:r>
            </ns1:p>
          </ns0:txBody>
        </ns0:sp>
      </ns0:grpSp>
      <ns0:grpSp>
        <ns0:nvGrpSpPr>
          <ns0:cNvPr id="23" name="progress-2"/>
          <ns0:cNvGrpSpPr/>
          <ns0:nvPr/>
        </ns0:nvGrpSpPr>
        <ns0:grpSpPr>
          <ns1:xfrm>
            <ns1:off x="2099691" y="6589649"/>
            <ns1:ext cx="1063062" cy="205359"/>
            <ns1:chOff x="2099691" y="6589649"/>
            <ns1:chExt cx="1063062" cy="205359"/>
          </ns1:xfrm>
        </ns0:grpSpPr>
        <ns0:sp>
          <ns0:nvSpPr>
            <ns0:cNvPr id="22" name="TextBox 22"/>
            <ns0:cNvSpPr txBox="1"/>
            <ns0:nvPr/>
          </ns0:nvSpPr>
          <ns0:spPr>
            <ns1:xfrm>
              <ns1:off x="2099691" y="6589649"/>
              <ns1:ext cx="1063062" cy="205359"/>
            </ns1:xfrm>
            <ns1:prstGeom prst="rect">
              <ns1:avLst/>
            </ns1:prstGeom>
            <ns1:noFill/>
            <ns1:ln>
              <ns1:noFill/>
            </ns1:ln>
          </ns0:spPr>
          <ns0:txBody>
            <ns1:bodyPr wrap="none" lIns="0" tIns="0" rIns="0" bIns="0" anchor="t" anchorCtr="0">
              <ns1:spAutoFit/>
            </ns1:bodyPr>
            <ns1:lstStyle/>
            <ns1:p>
              <ns1:pPr algn="l"/>
              <ns1:r>
                <ns1:rPr lang="en-IN" sz="1050" dirty="0">
                  <ns1:solidFill>
                    <ns1:srgbClr val="97ACB9"/>
                  </ns1:solidFill>
                  <ns1:latin typeface="Segoe UI"/>
                  <ns1:ea typeface="Segoe UI"/>
                  <ns1:cs typeface="Segoe UI"/>
                </ns1:rPr>
                <ns1:t>READ THE PLOT</ns1:t>
              </ns1:r>
            </ns1:p>
          </ns0:txBody>
        </ns0:sp>
      </ns0:grpSp>
      <ns0:grpSp>
        <ns0:nvGrpSpPr>
          <ns0:cNvPr id="25" name="progress-3"/>
          <ns0:cNvGrpSpPr/>
          <ns0:nvPr/>
        </ns0:nvGrpSpPr>
        <ns0:grpSpPr>
          <ns1:xfrm>
            <ns1:off x="3823716" y="6589649"/>
            <ns1:ext cx="678749" cy="205359"/>
            <ns1:chOff x="3823716" y="6589649"/>
            <ns1:chExt cx="678749" cy="205359"/>
          </ns1:xfrm>
        </ns0:grpSpPr>
        <ns0:sp>
          <ns0:nvSpPr>
            <ns0:cNvPr id="24" name="TextBox 24"/>
            <ns0:cNvSpPr txBox="1"/>
            <ns0:nvPr/>
          </ns0:nvSpPr>
          <ns0:spPr>
            <ns1:xfrm>
              <ns1:off x="3823716" y="6589649"/>
              <ns1:ext cx="678749" cy="205359"/>
            </ns1:xfrm>
            <ns1:prstGeom prst="rect">
              <ns1:avLst/>
            </ns1:prstGeom>
            <ns1:noFill/>
            <ns1:ln>
              <ns1:noFill/>
            </ns1:ln>
          </ns0:spPr>
          <ns0:txBody>
            <ns1:bodyPr wrap="none" lIns="0" tIns="0" rIns="0" bIns="0" anchor="t" anchorCtr="0">
              <ns1:spAutoFit/>
            </ns1:bodyPr>
            <ns1:lstStyle/>
            <ns1:p>
              <ns1:pPr algn="l"/>
              <ns1:r>
                <ns1:rPr lang="en-IN" sz="1050" dirty="0">
                  <ns1:solidFill>
                    <ns1:srgbClr val="97ACB9"/>
                  </ns1:solidFill>
                  <ns1:latin typeface="Segoe UI"/>
                  <ns1:ea typeface="Segoe UI"/>
                  <ns1:cs typeface="Segoe UI"/>
                </ns1:rPr>
                <ns1:t>EVIDENCE</ns1:t>
              </ns1:r>
            </ns1:p>
          </ns0:txBody>
        </ns0:sp>
      </ns0:grpSp>
      <ns0:grpSp>
        <ns0:nvGrpSpPr>
          <ns0:cNvPr id="27" name="progress-4"/>
          <ns0:cNvGrpSpPr/>
          <ns0:nvPr/>
        </ns0:nvGrpSpPr>
        <ns0:grpSpPr>
          <ns1:xfrm>
            <ns1:off x="5547741" y="6589649"/>
            <ns1:ext cx="974929" cy="205359"/>
            <ns1:chOff x="5547741" y="6589649"/>
            <ns1:chExt cx="974929" cy="205359"/>
          </ns1:xfrm>
        </ns0:grpSpPr>
        <ns0:sp>
          <ns0:nvSpPr>
            <ns0:cNvPr id="26" name="TextBox 26"/>
            <ns0:cNvSpPr txBox="1"/>
            <ns0:nvPr/>
          </ns0:nvSpPr>
          <ns0:spPr>
            <ns1:xfrm>
              <ns1:off x="5547741" y="6589649"/>
              <ns1:ext cx="974929" cy="205359"/>
            </ns1:xfrm>
            <ns1:prstGeom prst="rect">
              <ns1:avLst/>
            </ns1:prstGeom>
            <ns1:noFill/>
            <ns1:ln>
              <ns1:noFill/>
            </ns1:ln>
          </ns0:spPr>
          <ns0:txBody>
            <ns1:bodyPr wrap="none" lIns="0" tIns="0" rIns="0" bIns="0" anchor="t" anchorCtr="0">
              <ns1:spAutoFit/>
            </ns1:bodyPr>
            <ns1:lstStyle/>
            <ns1:p>
              <ns1:pPr algn="l"/>
              <ns1:r>
                <ns1:rPr lang="en-IN" sz="1050" b="1" dirty="0">
                  <ns1:solidFill>
                    <ns1:srgbClr val="F5F2EA"/>
                  </ns1:solidFill>
                  <ns1:latin typeface="Segoe UI"/>
                  <ns1:ea typeface="Segoe UI"/>
                  <ns1:cs typeface="Segoe UI"/>
                </ns1:rPr>
                <ns1:t>CONCLUSION</ns1:t>
              </ns1:r>
            </ns1:p>
          </ns0:txBody>
        </ns0:sp>
      </ns0:grpSp>
      <ns0:grpSp>
        <ns0:nvGrpSpPr>
          <ns0:cNvPr id="29" name="source-1"/>
          <ns0:cNvGrpSpPr/>
          <ns0:nvPr/>
        </ns0:nvGrpSpPr>
        <ns0:grpSpPr>
          <ns1:xfrm>
            <ns1:off x="7614666" y="6532499"/>
            <ns1:ext cx="1184798" cy="205359"/>
            <ns1:chOff x="7614666" y="6532499"/>
            <ns1:chExt cx="1184798" cy="205359"/>
          </ns1:xfrm>
        </ns0:grpSpPr>
        <ns0:sp>
          <ns0:nvSpPr>
            <ns0:cNvPr id="28" name="TextBox 28"/>
            <ns0:cNvSpPr txBox="1"/>
            <ns0:nvPr/>
          </ns0:nvSpPr>
          <ns0:spPr>
            <ns1:xfrm>
              <ns1:off x="7614666" y="6532499"/>
              <ns1:ext cx="1184798" cy="205359"/>
            </ns1:xfrm>
            <ns1:prstGeom prst="rect">
              <ns1:avLst/>
            </ns1:prstGeom>
            <ns1:noFill/>
            <ns1:ln>
              <ns1:noFill/>
            </ns1:ln>
          </ns0:spPr>
          <ns0:txBody>
            <ns1:bodyPr wrap="none" lIns="0" tIns="0" rIns="0" bIns="0" anchor="t" anchorCtr="0">
              <ns1:spAutoFit/>
            </ns1:bodyPr>
            <ns1:lstStyle/>
            <ns1:p>
              <ns1:pPr algn="l"/>
              <ns1:r>
                <ns1:rPr lang="en-IN" sz="1050" dirty="0">
                  <ns1:solidFill>
                    <ns1:srgbClr val="A7BCC9"/>
                  </ns1:solidFill>
                  <ns1:latin typeface="Segoe UI"/>
                  <ns1:ea typeface="Segoe UI"/>
                  <ns1:cs typeface="Segoe UI"/>
                </ns1:rPr>
                <ns1:t>Report Fig. 3, 5, 16</ns1:t>
              </ns1:r>
            </ns1:p>
          </ns0:txBody>
        </ns0:sp>
      </ns0:grpSp>
      <ns0:grpSp>
        <ns0:nvGrpSpPr>
          <ns0:cNvPr id="31" name="finding-1"/>
          <ns0:cNvGrpSpPr/>
          <ns0:nvPr/>
        </ns0:nvGrpSpPr>
        <ns0:grpSpPr>
          <ns1:xfrm>
            <ns1:off x="554736" y="2159254"/>
            <ns1:ext cx="544589" cy="645414"/>
            <ns1:chOff x="554736" y="2159254"/>
            <ns1:chExt cx="544589" cy="645414"/>
          </ns1:xfrm>
        </ns0:grpSpPr>
        <ns0:sp>
          <ns0:nvSpPr>
            <ns0:cNvPr id="30" name="TextBox 30"/>
            <ns0:cNvSpPr txBox="1"/>
            <ns0:nvPr/>
          </ns0:nvSpPr>
          <ns0:spPr>
            <ns1:xfrm>
              <ns1:off x="554736" y="2159254"/>
              <ns1:ext cx="544589" cy="645414"/>
            </ns1:xfrm>
            <ns1:prstGeom prst="rect">
              <ns1:avLst/>
            </ns1:prstGeom>
            <ns1:noFill/>
            <ns1:ln>
              <ns1:noFill/>
            </ns1:ln>
          </ns0:spPr>
          <ns0:txBody>
            <ns1:bodyPr wrap="none" lIns="0" tIns="0" rIns="0" bIns="0" anchor="t" anchorCtr="0">
              <ns1:spAutoFit/>
            </ns1:bodyPr>
            <ns1:lstStyle/>
            <ns1:p>
              <ns1:pPr algn="l"/>
              <ns1:r>
                <ns1:rPr lang="en-IN" sz="3300" b="1" dirty="0">
                  <ns1:solidFill>
                    <ns1:srgbClr val="74D9D2"/>
                  </ns1:solidFill>
                  <ns1:latin typeface="Segoe UI"/>
                  <ns1:ea typeface="Segoe UI"/>
                  <ns1:cs typeface="Segoe UI"/>
                </ns1:rPr>
                <ns1:t>01</ns1:t>
              </ns1:r>
            </ns1:p>
          </ns0:txBody>
        </ns0:sp>
      </ns0:grpSp>
      <ns0:grpSp>
        <ns0:nvGrpSpPr>
          <ns0:cNvPr id="33" name="finding-2"/>
          <ns0:cNvGrpSpPr/>
          <ns0:nvPr/>
        </ns0:nvGrpSpPr>
        <ns0:grpSpPr>
          <ns1:xfrm>
            <ns1:off x="560832" y="2873248"/>
            <ns1:ext cx="1807814" cy="410718"/>
            <ns1:chOff x="560832" y="2873248"/>
            <ns1:chExt cx="1807814" cy="410718"/>
          </ns1:xfrm>
        </ns0:grpSpPr>
        <ns0:sp>
          <ns0:nvSpPr>
            <ns0:cNvPr id="32" name="TextBox 32"/>
            <ns0:cNvSpPr txBox="1"/>
            <ns0:nvPr/>
          </ns0:nvSpPr>
          <ns0:spPr>
            <ns1:xfrm>
              <ns1:off x="560832" y="2873248"/>
              <ns1:ext cx="1807814" cy="410718"/>
            </ns1:xfrm>
            <ns1:prstGeom prst="rect">
              <ns1:avLst/>
            </ns1:prstGeom>
            <ns1:noFill/>
            <ns1:ln>
              <ns1:noFill/>
            </ns1:ln>
          </ns0:spPr>
          <ns0:txBody>
            <ns1:bodyPr wrap="none" lIns="0" tIns="0" rIns="0" bIns="0" anchor="t" anchorCtr="0">
              <ns1:spAutoFit/>
            </ns1:bodyPr>
            <ns1:lstStyle/>
            <ns1:p>
              <ns1:pPr algn="l"/>
              <ns1:r>
                <ns1:rPr lang="en-IN" sz="2100" b="1" dirty="0">
                  <ns1:solidFill>
                    <ns1:srgbClr val="F5F2EA"/>
                  </ns1:solidFill>
                  <ns1:latin typeface="Segoe UI"/>
                  <ns1:ea typeface="Segoe UI"/>
                  <ns1:cs typeface="Segoe UI"/>
                </ns1:rPr>
                <ns1:t>Relationships</ns1:t>
              </ns1:r>
            </ns1:p>
          </ns0:txBody>
        </ns0:sp>
      </ns0:grpSp>
      <ns0:grpSp>
        <ns0:nvGrpSpPr>
          <ns0:cNvPr id="35" name="finding-3"/>
          <ns0:cNvGrpSpPr/>
          <ns0:nvPr/>
        </ns0:nvGrpSpPr>
        <ns0:grpSpPr>
          <ns1:xfrm>
            <ns1:off x="563880" y="3436620"/>
            <ns1:ext cx="2244011" cy="293370"/>
            <ns1:chOff x="563880" y="3436620"/>
            <ns1:chExt cx="2244011" cy="293370"/>
          </ns1:xfrm>
        </ns0:grpSpPr>
        <ns0:sp>
          <ns0:nvSpPr>
            <ns0:cNvPr id="34" name="TextBox 34"/>
            <ns0:cNvSpPr txBox="1"/>
            <ns0:nvPr/>
          </ns0:nvSpPr>
          <ns0:spPr>
            <ns1:xfrm>
              <ns1:off x="563880" y="3436620"/>
              <ns1:ext cx="2244011" cy="293370"/>
            </ns1:xfrm>
            <ns1:prstGeom prst="rect">
              <ns1:avLst/>
            </ns1:prstGeom>
            <ns1:noFill/>
            <ns1:ln>
              <ns1:noFill/>
            </ns1:ln>
          </ns0:spPr>
          <ns0:txBody>
            <ns1:bodyPr wrap="none" lIns="0" tIns="0" rIns="0" bIns="0" anchor="t" anchorCtr="0">
              <ns1:spAutoFit/>
            </ns1:bodyPr>
            <ns1:lstStyle/>
            <ns1:p>
              <ns1:pPr algn="l"/>
              <ns1:r>
                <ns1:rPr lang="en-IN" sz="1500" dirty="0">
                  <ns1:solidFill>
                    <ns1:srgbClr val="A8CAD4"/>
                  </ns1:solidFill>
                  <ns1:latin typeface="Segoe UI"/>
                  <ns1:ea typeface="Segoe UI"/>
                  <ns1:cs typeface="Segoe UI"/>
                </ns1:rPr>
                <ns1:t>93 / 105 pairs linked in G5</ns1:t>
              </ns1:r>
            </ns1:p>
          </ns0:txBody>
        </ns0:sp>
      </ns0:grpSp>
      <ns0:grpSp>
        <ns0:nvGrpSpPr>
          <ns0:cNvPr id="38" name="finding-4"/>
          <ns0:cNvGrpSpPr/>
          <ns0:nvPr/>
        </ns0:nvGrpSpPr>
        <ns0:grpSpPr>
          <ns1:xfrm>
            <ns1:off x="562356" y="3977259"/>
            <ns1:ext cx="2107487" cy="621792"/>
            <ns1:chOff x="562356" y="3977259"/>
            <ns1:chExt cx="2107487" cy="621792"/>
          </ns1:xfrm>
        </ns0:grpSpPr>
        <ns0:sp>
          <ns0:nvSpPr>
            <ns0:cNvPr id="36" name="TextBox 36"/>
            <ns0:cNvSpPr txBox="1"/>
            <ns0:nvPr/>
          </ns0:nvSpPr>
          <ns0:spPr>
            <ns1:xfrm>
              <ns1:off x="562356" y="3977259"/>
              <ns1:ext cx="2107487" cy="352044"/>
            </ns1:xfrm>
            <ns1:prstGeom prst="rect">
              <ns1:avLst/>
            </ns1:prstGeom>
            <ns1:noFill/>
            <ns1:ln>
              <ns1:noFill/>
            </ns1:ln>
          </ns0:spPr>
          <ns0:txBody>
            <ns1:bodyPr wrap="none" lIns="0" tIns="0" rIns="0" bIns="0" anchor="t" anchorCtr="0">
              <ns1:spAutoFit/>
            </ns1:bodyPr>
            <ns1:lstStyle/>
            <ns1:p>
              <ns1:pPr algn="l"/>
              <ns1:r>
                <ns1:rPr lang="en-IN" sz="1800" dirty="0">
                  <ns1:solidFill>
                    <ns1:srgbClr val="F5F2EA"/>
                  </ns1:solidFill>
                  <ns1:latin typeface="Segoe UI"/>
                  <ns1:ea typeface="Segoe UI"/>
                  <ns1:cs typeface="Segoe UI"/>
                </ns1:rPr>
                <ns1:t>A group label hides</ns1:t>
              </ns1:r>
            </ns1:p>
          </ns0:txBody>
        </ns0:sp>
        <ns0:sp>
          <ns0:nvSpPr>
            <ns0:cNvPr id="37" name="TextBox 37"/>
            <ns0:cNvSpPr txBox="1"/>
            <ns0:nvPr/>
          </ns0:nvSpPr>
          <ns0:spPr>
            <ns1:xfrm>
              <ns1:off x="562356" y="4247007"/>
              <ns1:ext cx="1426507" cy="352044"/>
            </ns1:xfrm>
            <ns1:prstGeom prst="rect">
              <ns1:avLst/>
            </ns1:prstGeom>
            <ns1:noFill/>
            <ns1:ln>
              <ns1:noFill/>
            </ns1:ln>
          </ns0:spPr>
          <ns0:txBody>
            <ns1:bodyPr wrap="none" lIns="0" tIns="0" rIns="0" bIns="0" anchor="t" anchorCtr="0">
              <ns1:spAutoFit/>
            </ns1:bodyPr>
            <ns1:lstStyle/>
            <ns1:p>
              <ns1:pPr algn="l"/>
              <ns1:r>
                <ns1:rPr lang="en-IN" sz="1800" dirty="0">
                  <ns1:solidFill>
                    <ns1:srgbClr val="F5F2EA"/>
                  </ns1:solidFill>
                  <ns1:latin typeface="Segoe UI"/>
                  <ns1:ea typeface="Segoe UI"/>
                  <ns1:cs typeface="Segoe UI"/>
                </ns1:rPr>
                <ns1:t>missing links.</ns1:t>
              </ns1:r>
            </ns1:p>
          </ns0:txBody>
        </ns0:sp>
      </ns0:grpSp>
      <ns0:grpSp>
        <ns0:nvGrpSpPr>
          <ns0:cNvPr id="40" name="finding-5"/>
          <ns0:cNvGrpSpPr/>
          <ns0:nvPr/>
        </ns0:nvGrpSpPr>
        <ns0:grpSpPr>
          <ns1:xfrm>
            <ns1:off x="4421886" y="2159254"/>
            <ns1:ext cx="544589" cy="645414"/>
            <ns1:chOff x="4421886" y="2159254"/>
            <ns1:chExt cx="544589" cy="645414"/>
          </ns1:xfrm>
        </ns0:grpSpPr>
        <ns0:sp>
          <ns0:nvSpPr>
            <ns0:cNvPr id="39" name="TextBox 39"/>
            <ns0:cNvSpPr txBox="1"/>
            <ns0:nvPr/>
          </ns0:nvSpPr>
          <ns0:spPr>
            <ns1:xfrm>
              <ns1:off x="4421886" y="2159254"/>
              <ns1:ext cx="544589" cy="645414"/>
            </ns1:xfrm>
            <ns1:prstGeom prst="rect">
              <ns1:avLst/>
            </ns1:prstGeom>
            <ns1:noFill/>
            <ns1:ln>
              <ns1:noFill/>
            </ns1:ln>
          </ns0:spPr>
          <ns0:txBody>
            <ns1:bodyPr wrap="none" lIns="0" tIns="0" rIns="0" bIns="0" anchor="t" anchorCtr="0">
              <ns1:spAutoFit/>
            </ns1:bodyPr>
            <ns1:lstStyle/>
            <ns1:p>
              <ns1:pPr algn="l"/>
              <ns1:r>
                <ns1:rPr lang="en-IN" sz="3300" b="1" dirty="0">
                  <ns1:solidFill>
                    <ns1:srgbClr val="74D9D2"/>
                  </ns1:solidFill>
                  <ns1:latin typeface="Segoe UI"/>
                  <ns1:ea typeface="Segoe UI"/>
                  <ns1:cs typeface="Segoe UI"/>
                </ns1:rPr>
                <ns1:t>02</ns1:t>
              </ns1:r>
            </ns1:p>
          </ns0:txBody>
        </ns0:sp>
      </ns0:grpSp>
      <ns0:grpSp>
        <ns0:nvGrpSpPr>
          <ns0:cNvPr id="42" name="finding-6"/>
          <ns0:cNvGrpSpPr/>
          <ns0:nvPr/>
        </ns0:nvGrpSpPr>
        <ns0:grpSpPr>
          <ns1:xfrm>
            <ns1:off x="4427982" y="2873248"/>
            <ns1:ext cx="1862525" cy="410718"/>
            <ns1:chOff x="4427982" y="2873248"/>
            <ns1:chExt cx="1862525" cy="410718"/>
          </ns1:xfrm>
        </ns0:grpSpPr>
        <ns0:sp>
          <ns0:nvSpPr>
            <ns0:cNvPr id="41" name="TextBox 41"/>
            <ns0:cNvSpPr txBox="1"/>
            <ns0:nvPr/>
          </ns0:nvSpPr>
          <ns0:spPr>
            <ns1:xfrm>
              <ns1:off x="4427982" y="2873248"/>
              <ns1:ext cx="1862525" cy="410718"/>
            </ns1:xfrm>
            <ns1:prstGeom prst="rect">
              <ns1:avLst/>
            </ns1:prstGeom>
            <ns1:noFill/>
            <ns1:ln>
              <ns1:noFill/>
            </ns1:ln>
          </ns0:spPr>
          <ns0:txBody>
            <ns1:bodyPr wrap="none" lIns="0" tIns="0" rIns="0" bIns="0" anchor="t" anchorCtr="0">
              <ns1:spAutoFit/>
            </ns1:bodyPr>
            <ns1:lstStyle/>
            <ns1:p>
              <ns1:pPr algn="l"/>
              <ns1:r>
                <ns1:rPr lang="en-IN" sz="2100" b="1" dirty="0">
                  <ns1:solidFill>
                    <ns1:srgbClr val="F5F2EA"/>
                  </ns1:solidFill>
                  <ns1:latin typeface="Segoe UI"/>
                  <ns1:ea typeface="Segoe UI"/>
                  <ns1:cs typeface="Segoe UI"/>
                </ns1:rPr>
                <ns1:t>Infrastructure</ns1:t>
              </ns1:r>
            </ns1:p>
          </ns0:txBody>
        </ns0:sp>
      </ns0:grpSp>
      <ns0:grpSp>
        <ns0:nvGrpSpPr>
          <ns0:cNvPr id="44" name="finding-7"/>
          <ns0:cNvGrpSpPr/>
          <ns0:nvPr/>
        </ns0:nvGrpSpPr>
        <ns0:grpSpPr>
          <ns1:xfrm>
            <ns1:off x="4431030" y="3436620"/>
            <ns1:ext cx="1777927" cy="293370"/>
            <ns1:chOff x="4431030" y="3436620"/>
            <ns1:chExt cx="1777927" cy="293370"/>
          </ns1:xfrm>
        </ns0:grpSpPr>
        <ns0:sp>
          <ns0:nvSpPr>
            <ns0:cNvPr id="43" name="TextBox 43"/>
            <ns0:cNvSpPr txBox="1"/>
            <ns0:nvPr/>
          </ns0:nvSpPr>
          <ns0:spPr>
            <ns1:xfrm>
              <ns1:off x="4431030" y="3436620"/>
              <ns1:ext cx="1777927" cy="293370"/>
            </ns1:xfrm>
            <ns1:prstGeom prst="rect">
              <ns1:avLst/>
            </ns1:prstGeom>
            <ns1:noFill/>
            <ns1:ln>
              <ns1:noFill/>
            </ns1:ln>
          </ns0:spPr>
          <ns0:txBody>
            <ns1:bodyPr wrap="none" lIns="0" tIns="0" rIns="0" bIns="0" anchor="t" anchorCtr="0">
              <ns1:spAutoFit/>
            </ns1:bodyPr>
            <ns1:lstStyle/>
            <ns1:p>
              <ns1:pPr algn="l"/>
              <ns1:r>
                <ns1:rPr lang="en-IN" sz="1500" dirty="0">
                  <ns1:solidFill>
                    <ns1:srgbClr val="A8CAD4"/>
                  </ns1:solidFill>
                  <ns1:latin typeface="Segoe UI"/>
                  <ns1:ea typeface="Segoe UI"/>
                  <ns1:cs typeface="Segoe UI"/>
                </ns1:rPr>
                <ns1:t>6 / 175 fit the brush</ns1:t>
              </ns1:r>
            </ns1:p>
          </ns0:txBody>
        </ns0:sp>
      </ns0:grpSp>
      <ns0:grpSp>
        <ns0:nvGrpSpPr>
          <ns0:cNvPr id="47" name="finding-8"/>
          <ns0:cNvGrpSpPr/>
          <ns0:nvPr/>
        </ns0:nvGrpSpPr>
        <ns0:grpSpPr>
          <ns1:xfrm>
            <ns1:off x="4429506" y="3977259"/>
            <ns1:ext cx="2002610" cy="621792"/>
            <ns1:chOff x="4429506" y="3977259"/>
            <ns1:chExt cx="2002610" cy="621792"/>
          </ns1:xfrm>
        </ns0:grpSpPr>
        <ns0:sp>
          <ns0:nvSpPr>
            <ns0:cNvPr id="45" name="TextBox 45"/>
            <ns0:cNvSpPr txBox="1"/>
            <ns0:nvPr/>
          </ns0:nvSpPr>
          <ns0:spPr>
            <ns1:xfrm>
              <ns1:off x="4429506" y="3977259"/>
              <ns1:ext cx="2002610" cy="352044"/>
            </ns1:xfrm>
            <ns1:prstGeom prst="rect">
              <ns1:avLst/>
            </ns1:prstGeom>
            <ns1:noFill/>
            <ns1:ln>
              <ns1:noFill/>
            </ns1:ln>
          </ns0:spPr>
          <ns0:txBody>
            <ns1:bodyPr wrap="none" lIns="0" tIns="0" rIns="0" bIns="0" anchor="t" anchorCtr="0">
              <ns1:spAutoFit/>
            </ns1:bodyPr>
            <ns1:lstStyle/>
            <ns1:p>
              <ns1:pPr algn="l"/>
              <ns1:r>
                <ns1:rPr lang="en-IN" sz="1800" dirty="0">
                  <ns1:solidFill>
                    <ns1:srgbClr val="F5F2EA"/>
                  </ns1:solidFill>
                  <ns1:latin typeface="Segoe UI"/>
                  <ns1:ea typeface="Segoe UI"/>
                  <ns1:cs typeface="Segoe UI"/>
                </ns1:rPr>
                <ns1:t>High adoption has</ns1:t>
              </ns1:r>
            </ns1:p>
          </ns0:txBody>
        </ns0:sp>
        <ns0:sp>
          <ns0:nvSpPr>
            <ns0:cNvPr id="46" name="TextBox 46"/>
            <ns0:cNvSpPr txBox="1"/>
            <ns0:nvPr/>
          </ns0:nvSpPr>
          <ns0:spPr>
            <ns1:xfrm>
              <ns1:off x="4429506" y="4247007"/>
              <ns1:ext cx="1838687" cy="352044"/>
            </ns1:xfrm>
            <ns1:prstGeom prst="rect">
              <ns1:avLst/>
            </ns1:prstGeom>
            <ns1:noFill/>
            <ns1:ln>
              <ns1:noFill/>
            </ns1:ln>
          </ns0:spPr>
          <ns0:txBody>
            <ns1:bodyPr wrap="none" lIns="0" tIns="0" rIns="0" bIns="0" anchor="t" anchorCtr="0">
              <ns1:spAutoFit/>
            </ns1:bodyPr>
            <ns1:lstStyle/>
            <ns1:p>
              <ns1:pPr algn="l"/>
              <ns1:r>
                <ns1:rPr lang="en-IN" sz="1800" dirty="0">
                  <ns1:solidFill>
                    <ns1:srgbClr val="F5F2EA"/>
                  </ns1:solidFill>
                  <ns1:latin typeface="Segoe UI"/>
                  <ns1:ea typeface="Segoe UI"/>
                  <ns1:cs typeface="Segoe UI"/>
                </ns1:rPr>
                <ns1:t>different profiles.</ns1:t>
              </ns1:r>
            </ns1:p>
          </ns0:txBody>
        </ns0:sp>
      </ns0:grpSp>
      <ns0:grpSp>
        <ns0:nvGrpSpPr>
          <ns0:cNvPr id="49" name="finding-9"/>
          <ns0:cNvGrpSpPr/>
          <ns0:nvPr/>
        </ns0:nvGrpSpPr>
        <ns0:grpSpPr>
          <ns1:xfrm>
            <ns1:off x="8289036" y="2159254"/>
            <ns1:ext cx="544589" cy="645414"/>
            <ns1:chOff x="8289036" y="2159254"/>
            <ns1:chExt cx="544589" cy="645414"/>
          </ns1:xfrm>
        </ns0:grpSpPr>
        <ns0:sp>
          <ns0:nvSpPr>
            <ns0:cNvPr id="48" name="TextBox 48"/>
            <ns0:cNvSpPr txBox="1"/>
            <ns0:nvPr/>
          </ns0:nvSpPr>
          <ns0:spPr>
            <ns1:xfrm>
              <ns1:off x="8289036" y="2159254"/>
              <ns1:ext cx="544589" cy="645414"/>
            </ns1:xfrm>
            <ns1:prstGeom prst="rect">
              <ns1:avLst/>
            </ns1:prstGeom>
            <ns1:noFill/>
            <ns1:ln>
              <ns1:noFill/>
            </ns1:ln>
          </ns0:spPr>
          <ns0:txBody>
            <ns1:bodyPr wrap="none" lIns="0" tIns="0" rIns="0" bIns="0" anchor="t" anchorCtr="0">
              <ns1:spAutoFit/>
            </ns1:bodyPr>
            <ns1:lstStyle/>
            <ns1:p>
              <ns1:pPr algn="l"/>
              <ns1:r>
                <ns1:rPr lang="en-IN" sz="3300" b="1" dirty="0">
                  <ns1:solidFill>
                    <ns1:srgbClr val="74D9D2"/>
                  </ns1:solidFill>
                  <ns1:latin typeface="Segoe UI"/>
                  <ns1:ea typeface="Segoe UI"/>
                  <ns1:cs typeface="Segoe UI"/>
                </ns1:rPr>
                <ns1:t>03</ns1:t>
              </ns1:r>
            </ns1:p>
          </ns0:txBody>
        </ns0:sp>
      </ns0:grpSp>
      <ns0:grpSp>
        <ns0:nvGrpSpPr>
          <ns0:cNvPr id="51" name="finding-10"/>
          <ns0:cNvGrpSpPr/>
          <ns0:nvPr/>
        </ns0:nvGrpSpPr>
        <ns0:grpSpPr>
          <ns1:xfrm>
            <ns1:off x="8295132" y="2873248"/>
            <ns1:ext cx="1177654" cy="410718"/>
            <ns1:chOff x="8295132" y="2873248"/>
            <ns1:chExt cx="1177654" cy="410718"/>
          </ns1:xfrm>
        </ns0:grpSpPr>
        <ns0:sp>
          <ns0:nvSpPr>
            <ns0:cNvPr id="50" name="TextBox 50"/>
            <ns0:cNvSpPr txBox="1"/>
            <ns0:nvPr/>
          </ns0:nvSpPr>
          <ns0:spPr>
            <ns1:xfrm>
              <ns1:off x="8295132" y="2873248"/>
              <ns1:ext cx="1177654" cy="410718"/>
            </ns1:xfrm>
            <ns1:prstGeom prst="rect">
              <ns1:avLst/>
            </ns1:prstGeom>
            <ns1:noFill/>
            <ns1:ln>
              <ns1:noFill/>
            </ns1:ln>
          </ns0:spPr>
          <ns0:txBody>
            <ns1:bodyPr wrap="none" lIns="0" tIns="0" rIns="0" bIns="0" anchor="t" anchorCtr="0">
              <ns1:spAutoFit/>
            </ns1:bodyPr>
            <ns1:lstStyle/>
            <ns1:p>
              <ns1:pPr algn="l"/>
              <ns1:r>
                <ns1:rPr lang="en-IN" sz="2100" b="1" dirty="0">
                  <ns1:solidFill>
                    <ns1:srgbClr val="F5F2EA"/>
                  </ns1:solidFill>
                  <ns1:latin typeface="Segoe UI"/>
                  <ns1:ea typeface="Segoe UI"/>
                  <ns1:cs typeface="Segoe UI"/>
                </ns1:rPr>
                <ns1:t>Progress</ns1:t>
              </ns1:r>
            </ns1:p>
          </ns0:txBody>
        </ns0:sp>
      </ns0:grpSp>
      <ns0:grpSp>
        <ns0:nvGrpSpPr>
          <ns0:cNvPr id="53" name="finding-11"/>
          <ns0:cNvGrpSpPr/>
          <ns0:nvPr/>
        </ns0:nvGrpSpPr>
        <ns0:grpSpPr>
          <ns1:xfrm>
            <ns1:off x="8298180" y="3436620"/>
            <ns1:ext cx="2058784" cy="293370"/>
            <ns1:chOff x="8298180" y="3436620"/>
            <ns1:chExt cx="2058784" cy="293370"/>
          </ns1:xfrm>
        </ns0:grpSpPr>
        <ns0:sp>
          <ns0:nvSpPr>
            <ns0:cNvPr id="52" name="TextBox 52"/>
            <ns0:cNvSpPr txBox="1"/>
            <ns0:nvPr/>
          </ns0:nvSpPr>
          <ns0:spPr>
            <ns1:xfrm>
              <ns1:off x="8298180" y="3436620"/>
              <ns1:ext cx="2058784" cy="293370"/>
            </ns1:xfrm>
            <ns1:prstGeom prst="rect">
              <ns1:avLst/>
            </ns1:prstGeom>
            <ns1:noFill/>
            <ns1:ln>
              <ns1:noFill/>
            </ns1:ln>
          </ns0:spPr>
          <ns0:txBody>
            <ns1:bodyPr wrap="none" lIns="0" tIns="0" rIns="0" bIns="0" anchor="t" anchorCtr="0">
              <ns1:spAutoFit/>
            </ns1:bodyPr>
            <ns1:lstStyle/>
            <ns1:p>
              <ns1:pPr algn="l"/>
              <ns1:r>
                <ns1:rPr lang="en-IN" sz="1500" dirty="0">
                  <ns1:solidFill>
                    <ns1:srgbClr val="A8CAD4"/>
                  </ns1:solidFill>
                  <ns1:latin typeface="Segoe UI"/>
                  <ns1:ea typeface="Segoe UI"/>
                  <ns1:cs typeface="Segoe UI"/>
                </ns1:rPr>
                <ns1:t>Two regions, five dates</ns1:t>
              </ns1:r>
            </ns1:p>
          </ns0:txBody>
        </ns0:sp>
      </ns0:grpSp>
      <ns0:grpSp>
        <ns0:nvGrpSpPr>
          <ns0:cNvPr id="56" name="finding-12"/>
          <ns0:cNvGrpSpPr/>
          <ns0:nvPr/>
        </ns0:nvGrpSpPr>
        <ns0:grpSpPr>
          <ns1:xfrm>
            <ns1:off x="8296656" y="3977259"/>
            <ns1:ext cx="2135014" cy="621792"/>
            <ns1:chOff x="8296656" y="3977259"/>
            <ns1:chExt cx="2135014" cy="621792"/>
          </ns1:xfrm>
        </ns0:grpSpPr>
        <ns0:sp>
          <ns0:nvSpPr>
            <ns0:cNvPr id="54" name="TextBox 54"/>
            <ns0:cNvSpPr txBox="1"/>
            <ns0:nvPr/>
          </ns0:nvSpPr>
          <ns0:spPr>
            <ns1:xfrm>
              <ns1:off x="8296656" y="3977259"/>
              <ns1:ext cx="2135014" cy="352044"/>
            </ns1:xfrm>
            <ns1:prstGeom prst="rect">
              <ns1:avLst/>
            </ns1:prstGeom>
            <ns1:noFill/>
            <ns1:ln>
              <ns1:noFill/>
            </ns1:ln>
          </ns0:spPr>
          <ns0:txBody>
            <ns1:bodyPr wrap="none" lIns="0" tIns="0" rIns="0" bIns="0" anchor="t" anchorCtr="0">
              <ns1:spAutoFit/>
            </ns1:bodyPr>
            <ns1:lstStyle/>
            <ns1:p>
              <ns1:pPr algn="l"/>
              <ns1:r>
                <ns1:rPr lang="en-IN" sz="1800" dirty="0">
                  <ns1:solidFill>
                    <ns1:srgbClr val="F5F2EA"/>
                  </ns1:solidFill>
                  <ns1:latin typeface="Segoe UI"/>
                  <ns1:ea typeface="Segoe UI"/>
                  <ns1:cs typeface="Segoe UI"/>
                </ns1:rPr>
                <ns1:t>A rising median can</ns1:t>
              </ns1:r>
            </ns1:p>
          </ns0:txBody>
        </ns0:sp>
        <ns0:sp>
          <ns0:nvSpPr>
            <ns0:cNvPr id="55" name="TextBox 55"/>
            <ns0:cNvSpPr txBox="1"/>
            <ns0:nvPr/>
          </ns0:nvSpPr>
          <ns0:spPr>
            <ns1:xfrm>
              <ns1:off x="8296656" y="4247007"/>
              <ns1:ext cx="1769578" cy="352044"/>
            </ns1:xfrm>
            <ns1:prstGeom prst="rect">
              <ns1:avLst/>
            </ns1:prstGeom>
            <ns1:noFill/>
            <ns1:ln>
              <ns1:noFill/>
            </ns1:ln>
          </ns0:spPr>
          <ns0:txBody>
            <ns1:bodyPr wrap="none" lIns="0" tIns="0" rIns="0" bIns="0" anchor="t" anchorCtr="0">
              <ns1:spAutoFit/>
            </ns1:bodyPr>
            <ns1:lstStyle/>
            <ns1:p>
              <ns1:pPr algn="l"/>
              <ns1:r>
                <ns1:rPr lang="en-IN" sz="1800" dirty="0">
                  <ns1:solidFill>
                    <ns1:srgbClr val="F5F2EA"/>
                  </ns1:solidFill>
                  <ns1:latin typeface="Segoe UI"/>
                  <ns1:ea typeface="Segoe UI"/>
                  <ns1:cs typeface="Segoe UI"/>
                </ns1:rPr>
                <ns1:t>leave wide gaps.</ns1:t>
              </ns1:r>
            </ns1:p>
          </ns0:txBody>
        </ns0:sp>
      </ns0:grpSp>
      <ns0:grpSp>
        <ns0:nvGrpSpPr>
          <ns0:cNvPr id="58" name="conclusion-1"/>
          <ns0:cNvGrpSpPr/>
          <ns0:nvPr/>
        </ns0:nvGrpSpPr>
        <ns0:grpSpPr>
          <ns1:xfrm>
            <ns1:off x="543306" y="5853684"/>
            <ns1:ext cx="7828750" cy="352044"/>
            <ns1:chOff x="543306" y="5853684"/>
            <ns1:chExt cx="7828750" cy="352044"/>
          </ns1:xfrm>
        </ns0:grpSpPr>
        <ns0:sp>
          <ns0:nvSpPr>
            <ns0:cNvPr id="57" name="TextBox 57"/>
            <ns0:cNvSpPr txBox="1"/>
            <ns0:nvPr/>
          </ns0:nvSpPr>
          <ns0:spPr>
            <ns1:xfrm>
              <ns1:off x="543306" y="5853684"/>
              <ns1:ext cx="7828750" cy="352044"/>
            </ns1:xfrm>
            <ns1:prstGeom prst="rect">
              <ns1:avLst/>
            </ns1:prstGeom>
            <ns1:noFill/>
            <ns1:ln>
              <ns1:noFill/>
            </ns1:ln>
          </ns0:spPr>
          <ns0:txBody>
            <ns1:bodyPr wrap="none" lIns="0" tIns="0" rIns="0" bIns="0" anchor="t" anchorCtr="0">
              <ns1:spAutoFit/>
            </ns1:bodyPr>
            <ns1:lstStyle/>
            <ns1:p>
              <ns1:pPr algn="l"/>
              <ns1:r>
                <ns1:rPr lang="en-IN" sz="1800" b="1" dirty="0">
                  <ns1:solidFill>
                    <ns1:srgbClr val="F5F2EA"/>
                  </ns1:solidFill>
                  <ns1:latin typeface="Segoe UI"/>
                  <ns1:ea typeface="Segoe UI"/>
                  <ns1:cs typeface="Segoe UI"/>
                </ns1:rPr>
                <ns1:t>One adoption number cannot describe the whole connection profile.</ns1:t>
              </ns1:r>
            </ns1:p>
          </ns0:txBody>
        </ns0:sp>
      </ns0:grpSp>
    </ns0:spTree>
  </ns0:cSld>
  <ns0:clrMapOvr>
    <ns1:masterClrMapping/>
  </ns0:clrMapOvr>
  <ns0:transition ns2:dur="300">
    <ns0:fade/>
  </ns0:transition>
</ns0: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background-1"/>
          <p:cNvSpPr/>
          <p:nvPr/>
        </p:nvSpPr>
        <p:spPr>
          <a:xfrm>
            <a:off x="0" y="0"/>
            <a:ext cx="114300" cy="6858000"/>
          </a:xfrm>
          <a:prstGeom prst="rect">
            <a:avLst/>
          </a:prstGeom>
          <a:solidFill>
            <a:srgbClr val="D65B32"/>
          </a:solidFill>
          <a:ln>
            <a:noFill/>
          </a:ln>
        </p:spPr>
      </p:sp>
      <p:sp>
        <p:nvSpPr>
          <p:cNvPr id="3" name="background-2"/>
          <p:cNvSpPr/>
          <p:nvPr/>
        </p:nvSpPr>
        <p:spPr>
          <a:xfrm>
            <a:off x="381000" y="6486525"/>
            <a:ext cx="1609725" cy="38100"/>
          </a:xfrm>
          <a:prstGeom prst="rect">
            <a:avLst/>
          </a:prstGeom>
          <a:solidFill>
            <a:srgbClr val="CFD8D7"/>
          </a:solidFill>
          <a:ln>
            <a:noFill/>
          </a:ln>
        </p:spPr>
      </p:sp>
      <p:sp>
        <p:nvSpPr>
          <p:cNvPr id="4" name="background-3"/>
          <p:cNvSpPr/>
          <p:nvPr/>
        </p:nvSpPr>
        <p:spPr>
          <a:xfrm>
            <a:off x="2105025" y="6486525"/>
            <a:ext cx="1609725" cy="38100"/>
          </a:xfrm>
          <a:prstGeom prst="rect">
            <a:avLst/>
          </a:prstGeom>
          <a:solidFill>
            <a:srgbClr val="087F83"/>
          </a:solidFill>
          <a:ln>
            <a:noFill/>
          </a:ln>
        </p:spPr>
      </p:sp>
      <p:sp>
        <p:nvSpPr>
          <p:cNvPr id="5" name="background-4"/>
          <p:cNvSpPr/>
          <p:nvPr/>
        </p:nvSpPr>
        <p:spPr>
          <a:xfrm>
            <a:off x="3829050" y="6486525"/>
            <a:ext cx="1609725" cy="38100"/>
          </a:xfrm>
          <a:prstGeom prst="rect">
            <a:avLst/>
          </a:prstGeom>
          <a:solidFill>
            <a:srgbClr val="CFD8D7"/>
          </a:solidFill>
          <a:ln>
            <a:noFill/>
          </a:ln>
        </p:spPr>
      </p:sp>
      <p:sp>
        <p:nvSpPr>
          <p:cNvPr id="6" name="background-5"/>
          <p:cNvSpPr/>
          <p:nvPr/>
        </p:nvSpPr>
        <p:spPr>
          <a:xfrm>
            <a:off x="5553075" y="6486525"/>
            <a:ext cx="1609725" cy="38100"/>
          </a:xfrm>
          <a:prstGeom prst="rect">
            <a:avLst/>
          </a:prstGeom>
          <a:solidFill>
            <a:srgbClr val="CFD8D7"/>
          </a:solidFill>
          <a:ln>
            <a:noFill/>
          </a:ln>
        </p:spPr>
      </p:sp>
      <p:sp>
        <p:nvSpPr>
          <p:cNvPr id="7" name="background-6"/>
          <p:cNvSpPr/>
          <p:nvPr/>
        </p:nvSpPr>
        <p:spPr>
          <a:xfrm>
            <a:off x="381000" y="2238375"/>
            <a:ext cx="5524500" cy="3257550"/>
          </a:xfrm>
          <a:prstGeom prst="rect">
            <a:avLst/>
          </a:prstGeom>
          <a:solidFill>
            <a:srgbClr val="FFFFFF"/>
          </a:solidFill>
          <a:ln>
            <a:noFill/>
          </a:ln>
        </p:spPr>
      </p:sp>
      <p:sp>
        <p:nvSpPr>
          <p:cNvPr id="8" name="background-7"/>
          <p:cNvSpPr/>
          <p:nvPr/>
        </p:nvSpPr>
        <p:spPr>
          <a:xfrm>
            <a:off x="6191250" y="2238375"/>
            <a:ext cx="5524500" cy="3257550"/>
          </a:xfrm>
          <a:prstGeom prst="rect">
            <a:avLst/>
          </a:prstGeom>
          <a:solidFill>
            <a:srgbClr val="FFFFFF"/>
          </a:solidFill>
          <a:ln>
            <a:noFill/>
          </a:ln>
        </p:spPr>
      </p:sp>
      <p:grpSp>
        <p:nvGrpSpPr>
          <p:cNvPr id="10" name="chapter-1"/>
          <p:cNvGrpSpPr/>
          <p:nvPr/>
        </p:nvGrpSpPr>
        <p:grpSpPr>
          <a:xfrm>
            <a:off x="374904" y="209931"/>
            <a:ext cx="827603" cy="234696"/>
            <a:chOff x="374904" y="209931"/>
            <a:chExt cx="827603" cy="234696"/>
          </a:xfrm>
        </p:grpSpPr>
        <p:sp>
          <p:nvSpPr>
            <p:cNvPr id="9" name="TextBox 9"/>
            <p:cNvSpPr txBox="1"/>
            <p:nvPr/>
          </p:nvSpPr>
          <p:spPr>
            <a:xfrm>
              <a:off x="374904" y="209931"/>
              <a:ext cx="827603" cy="234696"/>
            </a:xfrm>
            <a:prstGeom prst="rect">
              <a:avLst/>
            </a:prstGeom>
            <a:noFill/>
            <a:ln>
              <a:noFill/>
            </a:ln>
          </p:spPr>
          <p:txBody>
            <a:bodyPr wrap="none" lIns="0" tIns="0" rIns="0" bIns="0" anchor="t" anchorCtr="0">
              <a:spAutoFit/>
            </a:bodyPr>
            <a:lstStyle/>
            <a:p>
              <a:pPr algn="l"/>
              <a:r>
                <a:rPr lang="en-IN" sz="1200" b="1" dirty="0">
                  <a:solidFill>
                    <a:srgbClr val="087F83"/>
                  </a:solidFill>
                  <a:latin typeface="Segoe UI"/>
                  <a:ea typeface="Segoe UI"/>
                  <a:cs typeface="Segoe UI"/>
                </a:rPr>
                <a:t>WEATHER</a:t>
              </a:r>
            </a:p>
          </p:txBody>
        </p:sp>
      </p:grpSp>
      <p:grpSp>
        <p:nvGrpSpPr>
          <p:cNvPr id="12" name="chapter-2"/>
          <p:cNvGrpSpPr/>
          <p:nvPr/>
        </p:nvGrpSpPr>
        <p:grpSpPr>
          <a:xfrm>
            <a:off x="11042904" y="219456"/>
            <a:ext cx="511993" cy="234696"/>
            <a:chOff x="11042904" y="219456"/>
            <a:chExt cx="511993" cy="234696"/>
          </a:xfrm>
        </p:grpSpPr>
        <p:sp>
          <p:nvSpPr>
            <p:cNvPr id="11" name="TextBox 11"/>
            <p:cNvSpPr txBox="1"/>
            <p:nvPr/>
          </p:nvSpPr>
          <p:spPr>
            <a:xfrm>
              <a:off x="11042904" y="219456"/>
              <a:ext cx="511993" cy="234696"/>
            </a:xfrm>
            <a:prstGeom prst="rect">
              <a:avLst/>
            </a:prstGeom>
            <a:noFill/>
            <a:ln>
              <a:noFill/>
            </a:ln>
          </p:spPr>
          <p:txBody>
            <a:bodyPr wrap="none" lIns="0" tIns="0" rIns="0" bIns="0" anchor="t" anchorCtr="0">
              <a:spAutoFit/>
            </a:bodyPr>
            <a:lstStyle/>
            <a:p>
              <a:pPr algn="l"/>
              <a:r>
                <a:rPr lang="en-IN" sz="1200" dirty="0">
                  <a:solidFill>
                    <a:srgbClr val="536878"/>
                  </a:solidFill>
                  <a:latin typeface="Segoe UI"/>
                  <a:ea typeface="Segoe UI"/>
                  <a:cs typeface="Segoe UI"/>
                </a:rPr>
                <a:t>08 / 14</a:t>
              </a:r>
            </a:p>
          </p:txBody>
        </p:sp>
      </p:grpSp>
      <p:grpSp>
        <p:nvGrpSpPr>
          <p:cNvPr id="14" name="title-1"/>
          <p:cNvGrpSpPr/>
          <p:nvPr/>
        </p:nvGrpSpPr>
        <p:grpSpPr>
          <a:xfrm>
            <a:off x="364236" y="616204"/>
            <a:ext cx="8767767" cy="645414"/>
            <a:chOff x="364236" y="616204"/>
            <a:chExt cx="8767767" cy="645414"/>
          </a:xfrm>
        </p:grpSpPr>
        <p:sp>
          <p:nvSpPr>
            <p:cNvPr id="13" name="TextBox 13"/>
            <p:cNvSpPr txBox="1"/>
            <p:nvPr/>
          </p:nvSpPr>
          <p:spPr>
            <a:xfrm>
              <a:off x="364236" y="616204"/>
              <a:ext cx="8767767" cy="645414"/>
            </a:xfrm>
            <a:prstGeom prst="rect">
              <a:avLst/>
            </a:prstGeom>
            <a:noFill/>
            <a:ln>
              <a:noFill/>
            </a:ln>
          </p:spPr>
          <p:txBody>
            <a:bodyPr wrap="none" lIns="0" tIns="0" rIns="0" bIns="0" anchor="t" anchorCtr="0">
              <a:spAutoFit/>
            </a:bodyPr>
            <a:lstStyle/>
            <a:p>
              <a:pPr algn="l"/>
              <a:r>
                <a:rPr lang="en-IN" sz="3300" b="1" dirty="0">
                  <a:solidFill>
                    <a:srgbClr val="102638"/>
                  </a:solidFill>
                  <a:latin typeface="Segoe UI"/>
                  <a:ea typeface="Segoe UI"/>
                  <a:cs typeface="Segoe UI"/>
                </a:rPr>
                <a:t>Weather: can the same colour mislead us?</a:t>
              </a:r>
            </a:p>
          </p:txBody>
        </p:sp>
      </p:grpSp>
      <p:grpSp>
        <p:nvGrpSpPr>
          <p:cNvPr id="16" name="question-1"/>
          <p:cNvGrpSpPr/>
          <p:nvPr/>
        </p:nvGrpSpPr>
        <p:grpSpPr>
          <a:xfrm>
            <a:off x="392430" y="1169670"/>
            <a:ext cx="4735717" cy="293370"/>
            <a:chOff x="392430" y="1169670"/>
            <a:chExt cx="4735717" cy="293370"/>
          </a:xfrm>
        </p:grpSpPr>
        <p:sp>
          <p:nvSpPr>
            <p:cNvPr id="15" name="TextBox 15"/>
            <p:cNvSpPr txBox="1"/>
            <p:nvPr/>
          </p:nvSpPr>
          <p:spPr>
            <a:xfrm>
              <a:off x="392430" y="1169670"/>
              <a:ext cx="4735717" cy="293370"/>
            </a:xfrm>
            <a:prstGeom prst="rect">
              <a:avLst/>
            </a:prstGeom>
            <a:noFill/>
            <a:ln>
              <a:noFill/>
            </a:ln>
          </p:spPr>
          <p:txBody>
            <a:bodyPr wrap="none" lIns="0" tIns="0" rIns="0" bIns="0" anchor="t" anchorCtr="0">
              <a:spAutoFit/>
            </a:bodyPr>
            <a:lstStyle/>
            <a:p>
              <a:pPr algn="l"/>
              <a:r>
                <a:rPr lang="en-IN" sz="1500" dirty="0">
                  <a:solidFill>
                    <a:srgbClr val="536878"/>
                  </a:solidFill>
                  <a:latin typeface="Segoe UI"/>
                  <a:ea typeface="Segoe UI"/>
                  <a:cs typeface="Segoe UI"/>
                </a:rPr>
                <a:t>NEW CASE / daily US weather, July–September 2023</a:t>
              </a:r>
            </a:p>
          </p:txBody>
        </p:sp>
      </p:grpSp>
      <p:sp>
        <p:nvSpPr>
          <p:cNvPr id="17" name="Line 17"/>
          <p:cNvSpPr/>
          <p:nvPr/>
        </p:nvSpPr>
        <p:spPr>
          <a:xfrm>
            <a:off x="381000" y="1571625"/>
            <a:ext cx="11334750" cy="9525"/>
          </a:xfrm>
          <a:custGeom>
            <a:avLst/>
            <a:gdLst/>
            <a:ahLst/>
            <a:cxnLst/>
            <a:rect l="l" t="t" r="r" b="b"/>
            <a:pathLst>
              <a:path w="11334750" h="9525">
                <a:moveTo>
                  <a:pt x="0" y="0"/>
                </a:moveTo>
                <a:lnTo>
                  <a:pt x="11334750" y="0"/>
                </a:lnTo>
              </a:path>
            </a:pathLst>
          </a:custGeom>
          <a:noFill/>
          <a:ln w="9525">
            <a:solidFill>
              <a:srgbClr val="B8C6CA"/>
            </a:solidFill>
          </a:ln>
        </p:spPr>
      </p:sp>
      <p:grpSp>
        <p:nvGrpSpPr>
          <p:cNvPr id="19" name="progress-1"/>
          <p:cNvGrpSpPr/>
          <p:nvPr/>
        </p:nvGrpSpPr>
        <p:grpSpPr>
          <a:xfrm>
            <a:off x="375666" y="6589649"/>
            <a:ext cx="723062" cy="205359"/>
            <a:chOff x="375666" y="6589649"/>
            <a:chExt cx="723062" cy="205359"/>
          </a:xfrm>
        </p:grpSpPr>
        <p:sp>
          <p:nvSpPr>
            <p:cNvPr id="18" name="TextBox 18"/>
            <p:cNvSpPr txBox="1"/>
            <p:nvPr/>
          </p:nvSpPr>
          <p:spPr>
            <a:xfrm>
              <a:off x="375666" y="6589649"/>
              <a:ext cx="72306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QUESTION</a:t>
              </a:r>
            </a:p>
          </p:txBody>
        </p:sp>
      </p:grpSp>
      <p:grpSp>
        <p:nvGrpSpPr>
          <p:cNvPr id="21" name="progress-2"/>
          <p:cNvGrpSpPr/>
          <p:nvPr/>
        </p:nvGrpSpPr>
        <p:grpSpPr>
          <a:xfrm>
            <a:off x="2099691" y="6589649"/>
            <a:ext cx="1135453" cy="205359"/>
            <a:chOff x="2099691" y="6589649"/>
            <a:chExt cx="1135453" cy="205359"/>
          </a:xfrm>
        </p:grpSpPr>
        <p:sp>
          <p:nvSpPr>
            <p:cNvPr id="20" name="TextBox 20"/>
            <p:cNvSpPr txBox="1"/>
            <p:nvPr/>
          </p:nvSpPr>
          <p:spPr>
            <a:xfrm>
              <a:off x="2099691" y="6589649"/>
              <a:ext cx="1135453" cy="205359"/>
            </a:xfrm>
            <a:prstGeom prst="rect">
              <a:avLst/>
            </a:prstGeom>
            <a:noFill/>
            <a:ln>
              <a:noFill/>
            </a:ln>
          </p:spPr>
          <p:txBody>
            <a:bodyPr wrap="none" lIns="0" tIns="0" rIns="0" bIns="0" anchor="t" anchorCtr="0">
              <a:spAutoFit/>
            </a:bodyPr>
            <a:lstStyle/>
            <a:p>
              <a:pPr algn="l"/>
              <a:r>
                <a:rPr lang="en-IN" sz="1050" b="1" dirty="0">
                  <a:solidFill>
                    <a:srgbClr val="102638"/>
                  </a:solidFill>
                  <a:latin typeface="Segoe UI"/>
                  <a:ea typeface="Segoe UI"/>
                  <a:cs typeface="Segoe UI"/>
                </a:rPr>
                <a:t>READ THE PLOT</a:t>
              </a:r>
            </a:p>
          </p:txBody>
        </p:sp>
      </p:grpSp>
      <p:grpSp>
        <p:nvGrpSpPr>
          <p:cNvPr id="23" name="progress-3"/>
          <p:cNvGrpSpPr/>
          <p:nvPr/>
        </p:nvGrpSpPr>
        <p:grpSpPr>
          <a:xfrm>
            <a:off x="3823716" y="6589649"/>
            <a:ext cx="678749" cy="205359"/>
            <a:chOff x="3823716" y="6589649"/>
            <a:chExt cx="678749" cy="205359"/>
          </a:xfrm>
        </p:grpSpPr>
        <p:sp>
          <p:nvSpPr>
            <p:cNvPr id="22" name="TextBox 22"/>
            <p:cNvSpPr txBox="1"/>
            <p:nvPr/>
          </p:nvSpPr>
          <p:spPr>
            <a:xfrm>
              <a:off x="3823716" y="6589649"/>
              <a:ext cx="678749"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EVIDENCE</a:t>
              </a:r>
            </a:p>
          </p:txBody>
        </p:sp>
      </p:grpSp>
      <p:grpSp>
        <p:nvGrpSpPr>
          <p:cNvPr id="25" name="progress-4"/>
          <p:cNvGrpSpPr/>
          <p:nvPr/>
        </p:nvGrpSpPr>
        <p:grpSpPr>
          <a:xfrm>
            <a:off x="5547741" y="6589649"/>
            <a:ext cx="936202" cy="205359"/>
            <a:chOff x="5547741" y="6589649"/>
            <a:chExt cx="936202" cy="205359"/>
          </a:xfrm>
        </p:grpSpPr>
        <p:sp>
          <p:nvSpPr>
            <p:cNvPr id="24" name="TextBox 24"/>
            <p:cNvSpPr txBox="1"/>
            <p:nvPr/>
          </p:nvSpPr>
          <p:spPr>
            <a:xfrm>
              <a:off x="5547741" y="6589649"/>
              <a:ext cx="93620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CONCLUSION</a:t>
              </a:r>
            </a:p>
          </p:txBody>
        </p:sp>
      </p:grpSp>
      <p:grpSp>
        <p:nvGrpSpPr>
          <p:cNvPr id="27" name="source-1"/>
          <p:cNvGrpSpPr/>
          <p:nvPr/>
        </p:nvGrpSpPr>
        <p:grpSpPr>
          <a:xfrm>
            <a:off x="7614666" y="6532499"/>
            <a:ext cx="1114565" cy="205359"/>
            <a:chOff x="7614666" y="6532499"/>
            <a:chExt cx="1114565" cy="205359"/>
          </a:xfrm>
        </p:grpSpPr>
        <p:sp>
          <p:nvSpPr>
            <p:cNvPr id="26" name="TextBox 26"/>
            <p:cNvSpPr txBox="1"/>
            <p:nvPr/>
          </p:nvSpPr>
          <p:spPr>
            <a:xfrm>
              <a:off x="7614666" y="6532499"/>
              <a:ext cx="1114565"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Report Fig. 17, 18</a:t>
              </a:r>
            </a:p>
          </p:txBody>
        </p:sp>
      </p:grpSp>
      <p:grpSp>
        <p:nvGrpSpPr>
          <p:cNvPr id="29" name="labels-1"/>
          <p:cNvGrpSpPr/>
          <p:nvPr/>
        </p:nvGrpSpPr>
        <p:grpSpPr>
          <a:xfrm>
            <a:off x="371856" y="1834134"/>
            <a:ext cx="1546441" cy="352044"/>
            <a:chOff x="371856" y="1834134"/>
            <a:chExt cx="1546441" cy="352044"/>
          </a:xfrm>
        </p:grpSpPr>
        <p:sp>
          <p:nvSpPr>
            <p:cNvPr id="28" name="TextBox 28"/>
            <p:cNvSpPr txBox="1"/>
            <p:nvPr/>
          </p:nvSpPr>
          <p:spPr>
            <a:xfrm>
              <a:off x="371856" y="1834134"/>
              <a:ext cx="1546441" cy="352044"/>
            </a:xfrm>
            <a:prstGeom prst="rect">
              <a:avLst/>
            </a:prstGeom>
            <a:noFill/>
            <a:ln>
              <a:noFill/>
            </a:ln>
          </p:spPr>
          <p:txBody>
            <a:bodyPr wrap="none" lIns="0" tIns="0" rIns="0" bIns="0" anchor="t" anchorCtr="0">
              <a:spAutoFit/>
            </a:bodyPr>
            <a:lstStyle/>
            <a:p>
              <a:pPr algn="l"/>
              <a:r>
                <a:rPr lang="en-IN" sz="1800" b="1" dirty="0">
                  <a:solidFill>
                    <a:srgbClr val="087F83"/>
                  </a:solidFill>
                  <a:latin typeface="Segoe UI"/>
                  <a:ea typeface="Segoe UI"/>
                  <a:cs typeface="Segoe UI"/>
                </a:rPr>
                <a:t>FIXED SCALE</a:t>
              </a:r>
            </a:p>
          </p:txBody>
        </p:sp>
      </p:grpSp>
      <p:grpSp>
        <p:nvGrpSpPr>
          <p:cNvPr id="31" name="labels-2"/>
          <p:cNvGrpSpPr/>
          <p:nvPr/>
        </p:nvGrpSpPr>
        <p:grpSpPr>
          <a:xfrm>
            <a:off x="6182106" y="1834134"/>
            <a:ext cx="1575551" cy="352044"/>
            <a:chOff x="6182106" y="1834134"/>
            <a:chExt cx="1575551" cy="352044"/>
          </a:xfrm>
        </p:grpSpPr>
        <p:sp>
          <p:nvSpPr>
            <p:cNvPr id="30" name="TextBox 30"/>
            <p:cNvSpPr txBox="1"/>
            <p:nvPr/>
          </p:nvSpPr>
          <p:spPr>
            <a:xfrm>
              <a:off x="6182106" y="1834134"/>
              <a:ext cx="1575551" cy="352044"/>
            </a:xfrm>
            <a:prstGeom prst="rect">
              <a:avLst/>
            </a:prstGeom>
            <a:noFill/>
            <a:ln>
              <a:noFill/>
            </a:ln>
          </p:spPr>
          <p:txBody>
            <a:bodyPr wrap="none" lIns="0" tIns="0" rIns="0" bIns="0" anchor="t" anchorCtr="0">
              <a:spAutoFit/>
            </a:bodyPr>
            <a:lstStyle/>
            <a:p>
              <a:pPr algn="l"/>
              <a:r>
                <a:rPr lang="en-IN" sz="1800" b="1" dirty="0">
                  <a:solidFill>
                    <a:srgbClr val="087F83"/>
                  </a:solidFill>
                  <a:latin typeface="Segoe UI"/>
                  <a:ea typeface="Segoe UI"/>
                  <a:cs typeface="Segoe UI"/>
                </a:rPr>
                <a:t>DAILY SCALE</a:t>
              </a:r>
            </a:p>
          </p:txBody>
        </p:sp>
      </p:grpSp>
      <p:grpSp>
        <p:nvGrpSpPr>
          <p:cNvPr id="33" name="animated-evidence-1"/>
          <p:cNvGrpSpPr/>
          <p:nvPr/>
        </p:nvGrpSpPr>
        <p:grpSpPr>
          <a:xfrm>
            <a:off x="458248" y="2286000"/>
            <a:ext cx="5369909" cy="3162300"/>
            <a:chOff x="458248" y="2286000"/>
            <a:chExt cx="5369909" cy="3162300"/>
          </a:xfrm>
        </p:grpSpPr>
        <p:pic>
          <p:nvPicPr>
            <p:cNvPr id="32" name="Image 32"/>
            <p:cNvPicPr>
              <a:picLocks noChangeAspect="1"/>
            </p:cNvPicPr>
            <p:nvPr/>
          </p:nvPicPr>
          <p:blipFill>
            <a:blip r:embed="rId2"/>
            <a:stretch>
              <a:fillRect/>
            </a:stretch>
          </p:blipFill>
          <p:spPr>
            <a:xfrm>
              <a:off x="458248" y="2286000"/>
              <a:ext cx="5369909" cy="3162300"/>
            </a:xfrm>
            <a:prstGeom prst="rect">
              <a:avLst/>
            </a:prstGeom>
          </p:spPr>
        </p:pic>
      </p:grpSp>
      <p:grpSp>
        <p:nvGrpSpPr>
          <p:cNvPr id="35" name="animated-evidence-2"/>
          <p:cNvGrpSpPr/>
          <p:nvPr/>
        </p:nvGrpSpPr>
        <p:grpSpPr>
          <a:xfrm>
            <a:off x="6268498" y="2286000"/>
            <a:ext cx="5369909" cy="3162300"/>
            <a:chOff x="6268498" y="2286000"/>
            <a:chExt cx="5369909" cy="3162300"/>
          </a:xfrm>
        </p:grpSpPr>
        <p:pic>
          <p:nvPicPr>
            <p:cNvPr id="34" name="Image 34"/>
            <p:cNvPicPr>
              <a:picLocks noChangeAspect="1"/>
            </p:cNvPicPr>
            <p:nvPr/>
          </p:nvPicPr>
          <p:blipFill>
            <a:blip r:embed="rId3"/>
            <a:stretch>
              <a:fillRect/>
            </a:stretch>
          </p:blipFill>
          <p:spPr>
            <a:xfrm>
              <a:off x="6268498" y="2286000"/>
              <a:ext cx="5369909" cy="3162300"/>
            </a:xfrm>
            <a:prstGeom prst="rect">
              <a:avLst/>
            </a:prstGeom>
          </p:spPr>
        </p:pic>
      </p:grpSp>
      <p:grpSp>
        <p:nvGrpSpPr>
          <p:cNvPr id="37" name="annotation-1"/>
          <p:cNvGrpSpPr/>
          <p:nvPr/>
        </p:nvGrpSpPr>
        <p:grpSpPr>
          <a:xfrm>
            <a:off x="392430" y="5589270"/>
            <a:ext cx="3663854" cy="293370"/>
            <a:chOff x="392430" y="5589270"/>
            <a:chExt cx="3663854" cy="293370"/>
          </a:xfrm>
        </p:grpSpPr>
        <p:sp>
          <p:nvSpPr>
            <p:cNvPr id="36" name="TextBox 36"/>
            <p:cNvSpPr txBox="1"/>
            <p:nvPr/>
          </p:nvSpPr>
          <p:spPr>
            <a:xfrm>
              <a:off x="392430" y="5589270"/>
              <a:ext cx="3663854" cy="293370"/>
            </a:xfrm>
            <a:prstGeom prst="rect">
              <a:avLst/>
            </a:prstGeom>
            <a:noFill/>
            <a:ln>
              <a:noFill/>
            </a:ln>
          </p:spPr>
          <p:txBody>
            <a:bodyPr wrap="none" lIns="0" tIns="0" rIns="0" bIns="0" anchor="t" anchorCtr="0">
              <a:spAutoFit/>
            </a:bodyPr>
            <a:lstStyle/>
            <a:p>
              <a:pPr algn="l"/>
              <a:r>
                <a:rPr lang="en-IN" sz="1500" b="1" dirty="0">
                  <a:solidFill>
                    <a:srgbClr val="102638"/>
                  </a:solidFill>
                  <a:latin typeface="Segoe UI"/>
                  <a:ea typeface="Segoe UI"/>
                  <a:cs typeface="Segoe UI"/>
                </a:rPr>
                <a:t>Colour keeps its temperature meaning</a:t>
              </a:r>
            </a:p>
          </p:txBody>
        </p:sp>
      </p:grpSp>
      <p:grpSp>
        <p:nvGrpSpPr>
          <p:cNvPr id="39" name="annotation-2"/>
          <p:cNvGrpSpPr/>
          <p:nvPr/>
        </p:nvGrpSpPr>
        <p:grpSpPr>
          <a:xfrm>
            <a:off x="6202680" y="5589270"/>
            <a:ext cx="3553161" cy="293370"/>
            <a:chOff x="6202680" y="5589270"/>
            <a:chExt cx="3553161" cy="293370"/>
          </a:xfrm>
        </p:grpSpPr>
        <p:sp>
          <p:nvSpPr>
            <p:cNvPr id="38" name="TextBox 38"/>
            <p:cNvSpPr txBox="1"/>
            <p:nvPr/>
          </p:nvSpPr>
          <p:spPr>
            <a:xfrm>
              <a:off x="6202680" y="5589270"/>
              <a:ext cx="3553161" cy="293370"/>
            </a:xfrm>
            <a:prstGeom prst="rect">
              <a:avLst/>
            </a:prstGeom>
            <a:noFill/>
            <a:ln>
              <a:noFill/>
            </a:ln>
          </p:spPr>
          <p:txBody>
            <a:bodyPr wrap="none" lIns="0" tIns="0" rIns="0" bIns="0" anchor="t" anchorCtr="0">
              <a:spAutoFit/>
            </a:bodyPr>
            <a:lstStyle/>
            <a:p>
              <a:pPr algn="l"/>
              <a:r>
                <a:rPr lang="en-IN" sz="1500" b="1" dirty="0">
                  <a:solidFill>
                    <a:srgbClr val="102638"/>
                  </a:solidFill>
                  <a:latin typeface="Segoe UI"/>
                  <a:ea typeface="Segoe UI"/>
                  <a:cs typeface="Segoe UI"/>
                </a:rPr>
                <a:t>Colour meaning can change each day</a:t>
              </a:r>
            </a:p>
          </p:txBody>
        </p:sp>
      </p:grpSp>
      <p:grpSp>
        <p:nvGrpSpPr>
          <p:cNvPr id="41" name="conclusion-1"/>
          <p:cNvGrpSpPr/>
          <p:nvPr/>
        </p:nvGrpSpPr>
        <p:grpSpPr>
          <a:xfrm>
            <a:off x="392430" y="6055995"/>
            <a:ext cx="5817367" cy="293370"/>
            <a:chOff x="392430" y="6055995"/>
            <a:chExt cx="5817367" cy="293370"/>
          </a:xfrm>
        </p:grpSpPr>
        <p:sp>
          <p:nvSpPr>
            <p:cNvPr id="40" name="TextBox 40"/>
            <p:cNvSpPr txBox="1"/>
            <p:nvPr/>
          </p:nvSpPr>
          <p:spPr>
            <a:xfrm>
              <a:off x="392430" y="6055995"/>
              <a:ext cx="5817367" cy="293370"/>
            </a:xfrm>
            <a:prstGeom prst="rect">
              <a:avLst/>
            </a:prstGeom>
            <a:noFill/>
            <a:ln>
              <a:noFill/>
            </a:ln>
          </p:spPr>
          <p:txBody>
            <a:bodyPr wrap="none" lIns="0" tIns="0" rIns="0" bIns="0" anchor="t" anchorCtr="0">
              <a:spAutoFit/>
            </a:bodyPr>
            <a:lstStyle/>
            <a:p>
              <a:pPr algn="l"/>
              <a:r>
                <a:rPr lang="en-IN" sz="1500" b="1" dirty="0">
                  <a:solidFill>
                    <a:srgbClr val="087F83"/>
                  </a:solidFill>
                  <a:latin typeface="Segoe UI"/>
                  <a:ea typeface="Segoe UI"/>
                  <a:cs typeface="Segoe UI"/>
                </a:rPr>
                <a:t>WATCH THE LEGENDS / same fields, different normalisation</a:t>
              </a:r>
            </a:p>
          </p:txBody>
        </p:sp>
      </p:grpSp>
    </p:spTree>
  </p:cSld>
  <p:clrMapOvr>
    <a:masterClrMapping/>
  </p:clrMapOvr>
  <p:transition xmlns:p14="http://schemas.microsoft.com/office/powerpoint/2010/main" p14:dur="3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background-1"/>
          <p:cNvSpPr/>
          <p:nvPr/>
        </p:nvSpPr>
        <p:spPr>
          <a:xfrm>
            <a:off x="0" y="0"/>
            <a:ext cx="114300" cy="6858000"/>
          </a:xfrm>
          <a:prstGeom prst="rect">
            <a:avLst/>
          </a:prstGeom>
          <a:solidFill>
            <a:srgbClr val="D65B32"/>
          </a:solidFill>
          <a:ln>
            <a:noFill/>
          </a:ln>
        </p:spPr>
      </p:sp>
      <p:sp>
        <p:nvSpPr>
          <p:cNvPr id="3" name="background-2"/>
          <p:cNvSpPr/>
          <p:nvPr/>
        </p:nvSpPr>
        <p:spPr>
          <a:xfrm>
            <a:off x="381000" y="6486525"/>
            <a:ext cx="1609725" cy="38100"/>
          </a:xfrm>
          <a:prstGeom prst="rect">
            <a:avLst/>
          </a:prstGeom>
          <a:solidFill>
            <a:srgbClr val="CFD8D7"/>
          </a:solidFill>
          <a:ln>
            <a:noFill/>
          </a:ln>
        </p:spPr>
      </p:sp>
      <p:sp>
        <p:nvSpPr>
          <p:cNvPr id="4" name="background-3"/>
          <p:cNvSpPr/>
          <p:nvPr/>
        </p:nvSpPr>
        <p:spPr>
          <a:xfrm>
            <a:off x="2105025" y="6486525"/>
            <a:ext cx="1609725" cy="38100"/>
          </a:xfrm>
          <a:prstGeom prst="rect">
            <a:avLst/>
          </a:prstGeom>
          <a:solidFill>
            <a:srgbClr val="CFD8D7"/>
          </a:solidFill>
          <a:ln>
            <a:noFill/>
          </a:ln>
        </p:spPr>
      </p:sp>
      <p:sp>
        <p:nvSpPr>
          <p:cNvPr id="5" name="background-4"/>
          <p:cNvSpPr/>
          <p:nvPr/>
        </p:nvSpPr>
        <p:spPr>
          <a:xfrm>
            <a:off x="3829050" y="6486525"/>
            <a:ext cx="1609725" cy="38100"/>
          </a:xfrm>
          <a:prstGeom prst="rect">
            <a:avLst/>
          </a:prstGeom>
          <a:solidFill>
            <a:srgbClr val="087F83"/>
          </a:solidFill>
          <a:ln>
            <a:noFill/>
          </a:ln>
        </p:spPr>
      </p:sp>
      <p:sp>
        <p:nvSpPr>
          <p:cNvPr id="6" name="background-5"/>
          <p:cNvSpPr/>
          <p:nvPr/>
        </p:nvSpPr>
        <p:spPr>
          <a:xfrm>
            <a:off x="5553075" y="6486525"/>
            <a:ext cx="1609725" cy="38100"/>
          </a:xfrm>
          <a:prstGeom prst="rect">
            <a:avLst/>
          </a:prstGeom>
          <a:solidFill>
            <a:srgbClr val="CFD8D7"/>
          </a:solidFill>
          <a:ln>
            <a:noFill/>
          </a:ln>
        </p:spPr>
      </p:sp>
      <p:sp>
        <p:nvSpPr>
          <p:cNvPr id="7" name="background-6"/>
          <p:cNvSpPr/>
          <p:nvPr/>
        </p:nvSpPr>
        <p:spPr>
          <a:xfrm>
            <a:off x="381000" y="2371725"/>
            <a:ext cx="5524500" cy="2876550"/>
          </a:xfrm>
          <a:prstGeom prst="rect">
            <a:avLst/>
          </a:prstGeom>
          <a:solidFill>
            <a:srgbClr val="FFFFFF"/>
          </a:solidFill>
          <a:ln>
            <a:noFill/>
          </a:ln>
        </p:spPr>
      </p:sp>
      <p:sp>
        <p:nvSpPr>
          <p:cNvPr id="8" name="background-7"/>
          <p:cNvSpPr/>
          <p:nvPr/>
        </p:nvSpPr>
        <p:spPr>
          <a:xfrm>
            <a:off x="6191250" y="2371725"/>
            <a:ext cx="5524500" cy="2876550"/>
          </a:xfrm>
          <a:prstGeom prst="rect">
            <a:avLst/>
          </a:prstGeom>
          <a:solidFill>
            <a:srgbClr val="FFFFFF"/>
          </a:solidFill>
          <a:ln>
            <a:noFill/>
          </a:ln>
        </p:spPr>
      </p:sp>
      <p:grpSp>
        <p:nvGrpSpPr>
          <p:cNvPr id="10" name="chapter-1"/>
          <p:cNvGrpSpPr/>
          <p:nvPr/>
        </p:nvGrpSpPr>
        <p:grpSpPr>
          <a:xfrm>
            <a:off x="374904" y="209931"/>
            <a:ext cx="827603" cy="234696"/>
            <a:chOff x="374904" y="209931"/>
            <a:chExt cx="827603" cy="234696"/>
          </a:xfrm>
        </p:grpSpPr>
        <p:sp>
          <p:nvSpPr>
            <p:cNvPr id="9" name="TextBox 9"/>
            <p:cNvSpPr txBox="1"/>
            <p:nvPr/>
          </p:nvSpPr>
          <p:spPr>
            <a:xfrm>
              <a:off x="374904" y="209931"/>
              <a:ext cx="827603" cy="234696"/>
            </a:xfrm>
            <a:prstGeom prst="rect">
              <a:avLst/>
            </a:prstGeom>
            <a:noFill/>
            <a:ln>
              <a:noFill/>
            </a:ln>
          </p:spPr>
          <p:txBody>
            <a:bodyPr wrap="none" lIns="0" tIns="0" rIns="0" bIns="0" anchor="t" anchorCtr="0">
              <a:spAutoFit/>
            </a:bodyPr>
            <a:lstStyle/>
            <a:p>
              <a:pPr algn="l"/>
              <a:r>
                <a:rPr lang="en-IN" sz="1200" b="1" dirty="0">
                  <a:solidFill>
                    <a:srgbClr val="087F83"/>
                  </a:solidFill>
                  <a:latin typeface="Segoe UI"/>
                  <a:ea typeface="Segoe UI"/>
                  <a:cs typeface="Segoe UI"/>
                </a:rPr>
                <a:t>WEATHER</a:t>
              </a:r>
            </a:p>
          </p:txBody>
        </p:sp>
      </p:grpSp>
      <p:grpSp>
        <p:nvGrpSpPr>
          <p:cNvPr id="12" name="chapter-2"/>
          <p:cNvGrpSpPr/>
          <p:nvPr/>
        </p:nvGrpSpPr>
        <p:grpSpPr>
          <a:xfrm>
            <a:off x="11042904" y="219456"/>
            <a:ext cx="511993" cy="234696"/>
            <a:chOff x="11042904" y="219456"/>
            <a:chExt cx="511993" cy="234696"/>
          </a:xfrm>
        </p:grpSpPr>
        <p:sp>
          <p:nvSpPr>
            <p:cNvPr id="11" name="TextBox 11"/>
            <p:cNvSpPr txBox="1"/>
            <p:nvPr/>
          </p:nvSpPr>
          <p:spPr>
            <a:xfrm>
              <a:off x="11042904" y="219456"/>
              <a:ext cx="511993" cy="234696"/>
            </a:xfrm>
            <a:prstGeom prst="rect">
              <a:avLst/>
            </a:prstGeom>
            <a:noFill/>
            <a:ln>
              <a:noFill/>
            </a:ln>
          </p:spPr>
          <p:txBody>
            <a:bodyPr wrap="none" lIns="0" tIns="0" rIns="0" bIns="0" anchor="t" anchorCtr="0">
              <a:spAutoFit/>
            </a:bodyPr>
            <a:lstStyle/>
            <a:p>
              <a:pPr algn="l"/>
              <a:r>
                <a:rPr lang="en-IN" sz="1200" dirty="0">
                  <a:solidFill>
                    <a:srgbClr val="536878"/>
                  </a:solidFill>
                  <a:latin typeface="Segoe UI"/>
                  <a:ea typeface="Segoe UI"/>
                  <a:cs typeface="Segoe UI"/>
                </a:rPr>
                <a:t>09 / 14</a:t>
              </a:r>
            </a:p>
          </p:txBody>
        </p:sp>
      </p:grpSp>
      <p:grpSp>
        <p:nvGrpSpPr>
          <p:cNvPr id="14" name="title-1"/>
          <p:cNvGrpSpPr/>
          <p:nvPr/>
        </p:nvGrpSpPr>
        <p:grpSpPr>
          <a:xfrm>
            <a:off x="364236" y="616204"/>
            <a:ext cx="9245090" cy="645414"/>
            <a:chOff x="364236" y="616204"/>
            <a:chExt cx="9245090" cy="645414"/>
          </a:xfrm>
        </p:grpSpPr>
        <p:sp>
          <p:nvSpPr>
            <p:cNvPr id="13" name="TextBox 13"/>
            <p:cNvSpPr txBox="1"/>
            <p:nvPr/>
          </p:nvSpPr>
          <p:spPr>
            <a:xfrm>
              <a:off x="364236" y="616204"/>
              <a:ext cx="9245090" cy="645414"/>
            </a:xfrm>
            <a:prstGeom prst="rect">
              <a:avLst/>
            </a:prstGeom>
            <a:noFill/>
            <a:ln>
              <a:noFill/>
            </a:ln>
          </p:spPr>
          <p:txBody>
            <a:bodyPr wrap="none" lIns="0" tIns="0" rIns="0" bIns="0" anchor="t" anchorCtr="0">
              <a:spAutoFit/>
            </a:bodyPr>
            <a:lstStyle/>
            <a:p>
              <a:pPr algn="l"/>
              <a:r>
                <a:rPr lang="en-IN" sz="3300" b="1" dirty="0">
                  <a:solidFill>
                    <a:srgbClr val="102638"/>
                  </a:solidFill>
                  <a:latin typeface="Segoe UI"/>
                  <a:ea typeface="Segoe UI"/>
                  <a:cs typeface="Segoe UI"/>
                </a:rPr>
                <a:t>A monthly total cannot tell us when rain fell</a:t>
              </a:r>
            </a:p>
          </p:txBody>
        </p:sp>
      </p:grpSp>
      <p:grpSp>
        <p:nvGrpSpPr>
          <p:cNvPr id="16" name="question-1"/>
          <p:cNvGrpSpPr/>
          <p:nvPr/>
        </p:nvGrpSpPr>
        <p:grpSpPr>
          <a:xfrm>
            <a:off x="392430" y="1169670"/>
            <a:ext cx="5836579" cy="293370"/>
            <a:chOff x="392430" y="1169670"/>
            <a:chExt cx="5836579" cy="293370"/>
          </a:xfrm>
        </p:grpSpPr>
        <p:sp>
          <p:nvSpPr>
            <p:cNvPr id="15" name="TextBox 15"/>
            <p:cNvSpPr txBox="1"/>
            <p:nvPr/>
          </p:nvSpPr>
          <p:spPr>
            <a:xfrm>
              <a:off x="392430" y="1169670"/>
              <a:ext cx="5836579" cy="293370"/>
            </a:xfrm>
            <a:prstGeom prst="rect">
              <a:avLst/>
            </a:prstGeom>
            <a:noFill/>
            <a:ln>
              <a:noFill/>
            </a:ln>
          </p:spPr>
          <p:txBody>
            <a:bodyPr wrap="none" lIns="0" tIns="0" rIns="0" bIns="0" anchor="t" anchorCtr="0">
              <a:spAutoFit/>
            </a:bodyPr>
            <a:lstStyle/>
            <a:p>
              <a:pPr algn="l"/>
              <a:r>
                <a:rPr lang="en-IN" sz="1500" dirty="0">
                  <a:solidFill>
                    <a:srgbClr val="536878"/>
                  </a:solidFill>
                  <a:latin typeface="Segoe UI"/>
                  <a:ea typeface="Segoe UI"/>
                  <a:cs typeface="Segoe UI"/>
                </a:rPr>
                <a:t>September 2023 / same field of locations, two different questions</a:t>
              </a:r>
            </a:p>
          </p:txBody>
        </p:sp>
      </p:grpSp>
      <p:sp>
        <p:nvSpPr>
          <p:cNvPr id="17" name="Line 17"/>
          <p:cNvSpPr/>
          <p:nvPr/>
        </p:nvSpPr>
        <p:spPr>
          <a:xfrm>
            <a:off x="381000" y="1571625"/>
            <a:ext cx="11334750" cy="9525"/>
          </a:xfrm>
          <a:custGeom>
            <a:avLst/>
            <a:gdLst/>
            <a:ahLst/>
            <a:cxnLst/>
            <a:rect l="l" t="t" r="r" b="b"/>
            <a:pathLst>
              <a:path w="11334750" h="9525">
                <a:moveTo>
                  <a:pt x="0" y="0"/>
                </a:moveTo>
                <a:lnTo>
                  <a:pt x="11334750" y="0"/>
                </a:lnTo>
              </a:path>
            </a:pathLst>
          </a:custGeom>
          <a:noFill/>
          <a:ln w="9525">
            <a:solidFill>
              <a:srgbClr val="B8C6CA"/>
            </a:solidFill>
          </a:ln>
        </p:spPr>
      </p:sp>
      <p:grpSp>
        <p:nvGrpSpPr>
          <p:cNvPr id="19" name="progress-1"/>
          <p:cNvGrpSpPr/>
          <p:nvPr/>
        </p:nvGrpSpPr>
        <p:grpSpPr>
          <a:xfrm>
            <a:off x="375666" y="6589649"/>
            <a:ext cx="723062" cy="205359"/>
            <a:chOff x="375666" y="6589649"/>
            <a:chExt cx="723062" cy="205359"/>
          </a:xfrm>
        </p:grpSpPr>
        <p:sp>
          <p:nvSpPr>
            <p:cNvPr id="18" name="TextBox 18"/>
            <p:cNvSpPr txBox="1"/>
            <p:nvPr/>
          </p:nvSpPr>
          <p:spPr>
            <a:xfrm>
              <a:off x="375666" y="6589649"/>
              <a:ext cx="72306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QUESTION</a:t>
              </a:r>
            </a:p>
          </p:txBody>
        </p:sp>
      </p:grpSp>
      <p:grpSp>
        <p:nvGrpSpPr>
          <p:cNvPr id="21" name="progress-2"/>
          <p:cNvGrpSpPr/>
          <p:nvPr/>
        </p:nvGrpSpPr>
        <p:grpSpPr>
          <a:xfrm>
            <a:off x="2099691" y="6589649"/>
            <a:ext cx="1063062" cy="205359"/>
            <a:chOff x="2099691" y="6589649"/>
            <a:chExt cx="1063062" cy="205359"/>
          </a:xfrm>
        </p:grpSpPr>
        <p:sp>
          <p:nvSpPr>
            <p:cNvPr id="20" name="TextBox 20"/>
            <p:cNvSpPr txBox="1"/>
            <p:nvPr/>
          </p:nvSpPr>
          <p:spPr>
            <a:xfrm>
              <a:off x="2099691" y="6589649"/>
              <a:ext cx="106306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READ THE PLOT</a:t>
              </a:r>
            </a:p>
          </p:txBody>
        </p:sp>
      </p:grpSp>
      <p:grpSp>
        <p:nvGrpSpPr>
          <p:cNvPr id="23" name="progress-3"/>
          <p:cNvGrpSpPr/>
          <p:nvPr/>
        </p:nvGrpSpPr>
        <p:grpSpPr>
          <a:xfrm>
            <a:off x="3823716" y="6589649"/>
            <a:ext cx="717372" cy="205359"/>
            <a:chOff x="3823716" y="6589649"/>
            <a:chExt cx="717372" cy="205359"/>
          </a:xfrm>
        </p:grpSpPr>
        <p:sp>
          <p:nvSpPr>
            <p:cNvPr id="22" name="TextBox 22"/>
            <p:cNvSpPr txBox="1"/>
            <p:nvPr/>
          </p:nvSpPr>
          <p:spPr>
            <a:xfrm>
              <a:off x="3823716" y="6589649"/>
              <a:ext cx="717372" cy="205359"/>
            </a:xfrm>
            <a:prstGeom prst="rect">
              <a:avLst/>
            </a:prstGeom>
            <a:noFill/>
            <a:ln>
              <a:noFill/>
            </a:ln>
          </p:spPr>
          <p:txBody>
            <a:bodyPr wrap="none" lIns="0" tIns="0" rIns="0" bIns="0" anchor="t" anchorCtr="0">
              <a:spAutoFit/>
            </a:bodyPr>
            <a:lstStyle/>
            <a:p>
              <a:pPr algn="l"/>
              <a:r>
                <a:rPr lang="en-IN" sz="1050" b="1" dirty="0">
                  <a:solidFill>
                    <a:srgbClr val="102638"/>
                  </a:solidFill>
                  <a:latin typeface="Segoe UI"/>
                  <a:ea typeface="Segoe UI"/>
                  <a:cs typeface="Segoe UI"/>
                </a:rPr>
                <a:t>EVIDENCE</a:t>
              </a:r>
            </a:p>
          </p:txBody>
        </p:sp>
      </p:grpSp>
      <p:grpSp>
        <p:nvGrpSpPr>
          <p:cNvPr id="25" name="progress-4"/>
          <p:cNvGrpSpPr/>
          <p:nvPr/>
        </p:nvGrpSpPr>
        <p:grpSpPr>
          <a:xfrm>
            <a:off x="5547741" y="6589649"/>
            <a:ext cx="936202" cy="205359"/>
            <a:chOff x="5547741" y="6589649"/>
            <a:chExt cx="936202" cy="205359"/>
          </a:xfrm>
        </p:grpSpPr>
        <p:sp>
          <p:nvSpPr>
            <p:cNvPr id="24" name="TextBox 24"/>
            <p:cNvSpPr txBox="1"/>
            <p:nvPr/>
          </p:nvSpPr>
          <p:spPr>
            <a:xfrm>
              <a:off x="5547741" y="6589649"/>
              <a:ext cx="93620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CONCLUSION</a:t>
              </a:r>
            </a:p>
          </p:txBody>
        </p:sp>
      </p:grpSp>
      <p:grpSp>
        <p:nvGrpSpPr>
          <p:cNvPr id="27" name="source-1"/>
          <p:cNvGrpSpPr/>
          <p:nvPr/>
        </p:nvGrpSpPr>
        <p:grpSpPr>
          <a:xfrm>
            <a:off x="7614666" y="6532499"/>
            <a:ext cx="890010" cy="205359"/>
            <a:chOff x="7614666" y="6532499"/>
            <a:chExt cx="890010" cy="205359"/>
          </a:xfrm>
        </p:grpSpPr>
        <p:sp>
          <p:nvSpPr>
            <p:cNvPr id="26" name="TextBox 26"/>
            <p:cNvSpPr txBox="1"/>
            <p:nvPr/>
          </p:nvSpPr>
          <p:spPr>
            <a:xfrm>
              <a:off x="7614666" y="6532499"/>
              <a:ext cx="890010"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Report Fig. 23</a:t>
              </a:r>
            </a:p>
          </p:txBody>
        </p:sp>
      </p:grpSp>
      <p:grpSp>
        <p:nvGrpSpPr>
          <p:cNvPr id="29" name="labels-1"/>
          <p:cNvGrpSpPr/>
          <p:nvPr/>
        </p:nvGrpSpPr>
        <p:grpSpPr>
          <a:xfrm>
            <a:off x="390906" y="1796034"/>
            <a:ext cx="1999899" cy="352044"/>
            <a:chOff x="390906" y="1796034"/>
            <a:chExt cx="1999899" cy="352044"/>
          </a:xfrm>
        </p:grpSpPr>
        <p:sp>
          <p:nvSpPr>
            <p:cNvPr id="28" name="TextBox 28"/>
            <p:cNvSpPr txBox="1"/>
            <p:nvPr/>
          </p:nvSpPr>
          <p:spPr>
            <a:xfrm>
              <a:off x="390906" y="1796034"/>
              <a:ext cx="1999899" cy="352044"/>
            </a:xfrm>
            <a:prstGeom prst="rect">
              <a:avLst/>
            </a:prstGeom>
            <a:noFill/>
            <a:ln>
              <a:noFill/>
            </a:ln>
          </p:spPr>
          <p:txBody>
            <a:bodyPr wrap="none" lIns="0" tIns="0" rIns="0" bIns="0" anchor="t" anchorCtr="0">
              <a:spAutoFit/>
            </a:bodyPr>
            <a:lstStyle/>
            <a:p>
              <a:pPr algn="l"/>
              <a:r>
                <a:rPr lang="en-IN" sz="1800" b="1" dirty="0">
                  <a:solidFill>
                    <a:srgbClr val="087F83"/>
                  </a:solidFill>
                  <a:latin typeface="Segoe UI"/>
                  <a:ea typeface="Segoe UI"/>
                  <a:cs typeface="Segoe UI"/>
                </a:rPr>
                <a:t>01 HOW MUCH?</a:t>
              </a:r>
            </a:p>
          </p:txBody>
        </p:sp>
      </p:grpSp>
      <p:grpSp>
        <p:nvGrpSpPr>
          <p:cNvPr id="31" name="labels-2"/>
          <p:cNvGrpSpPr/>
          <p:nvPr/>
        </p:nvGrpSpPr>
        <p:grpSpPr>
          <a:xfrm>
            <a:off x="6201156" y="1796034"/>
            <a:ext cx="3240502" cy="352044"/>
            <a:chOff x="6201156" y="1796034"/>
            <a:chExt cx="3240502" cy="352044"/>
          </a:xfrm>
        </p:grpSpPr>
        <p:sp>
          <p:nvSpPr>
            <p:cNvPr id="30" name="TextBox 30"/>
            <p:cNvSpPr txBox="1"/>
            <p:nvPr/>
          </p:nvSpPr>
          <p:spPr>
            <a:xfrm>
              <a:off x="6201156" y="1796034"/>
              <a:ext cx="3240502" cy="352044"/>
            </a:xfrm>
            <a:prstGeom prst="rect">
              <a:avLst/>
            </a:prstGeom>
            <a:noFill/>
            <a:ln>
              <a:noFill/>
            </a:ln>
          </p:spPr>
          <p:txBody>
            <a:bodyPr wrap="none" lIns="0" tIns="0" rIns="0" bIns="0" anchor="t" anchorCtr="0">
              <a:spAutoFit/>
            </a:bodyPr>
            <a:lstStyle/>
            <a:p>
              <a:pPr algn="l"/>
              <a:r>
                <a:rPr lang="en-IN" sz="1800" b="1" dirty="0">
                  <a:solidFill>
                    <a:srgbClr val="087F83"/>
                  </a:solidFill>
                  <a:latin typeface="Segoe UI"/>
                  <a:ea typeface="Segoe UI"/>
                  <a:cs typeface="Segoe UI"/>
                </a:rPr>
                <a:t>02 HOW CONCENTRATED?</a:t>
              </a:r>
            </a:p>
          </p:txBody>
        </p:sp>
      </p:grpSp>
      <p:grpSp>
        <p:nvGrpSpPr>
          <p:cNvPr id="33" name="labels-3"/>
          <p:cNvGrpSpPr/>
          <p:nvPr/>
        </p:nvGrpSpPr>
        <p:grpSpPr>
          <a:xfrm>
            <a:off x="6204966" y="2112899"/>
            <a:ext cx="3580707" cy="205359"/>
            <a:chOff x="6204966" y="2112899"/>
            <a:chExt cx="3580707" cy="205359"/>
          </a:xfrm>
        </p:grpSpPr>
        <p:sp>
          <p:nvSpPr>
            <p:cNvPr id="32" name="TextBox 32"/>
            <p:cNvSpPr txBox="1"/>
            <p:nvPr/>
          </p:nvSpPr>
          <p:spPr>
            <a:xfrm>
              <a:off x="6204966" y="2112899"/>
              <a:ext cx="3580707"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Legend: share of monthly rain in the wettest five days (%)</a:t>
              </a:r>
            </a:p>
          </p:txBody>
        </p:sp>
      </p:grpSp>
      <p:grpSp>
        <p:nvGrpSpPr>
          <p:cNvPr id="35" name="rain-total-1"/>
          <p:cNvGrpSpPr/>
          <p:nvPr/>
        </p:nvGrpSpPr>
        <p:grpSpPr>
          <a:xfrm>
            <a:off x="653796" y="2428875"/>
            <a:ext cx="4978813" cy="2762250"/>
            <a:chOff x="653796" y="2428875"/>
            <a:chExt cx="4978813" cy="2762250"/>
          </a:xfrm>
        </p:grpSpPr>
        <p:pic>
          <p:nvPicPr>
            <p:cNvPr id="34" name="Image 34"/>
            <p:cNvPicPr>
              <a:picLocks noChangeAspect="1"/>
            </p:cNvPicPr>
            <p:nvPr/>
          </p:nvPicPr>
          <p:blipFill>
            <a:blip r:embed="rId2"/>
            <a:stretch>
              <a:fillRect/>
            </a:stretch>
          </p:blipFill>
          <p:spPr>
            <a:xfrm>
              <a:off x="653796" y="2428875"/>
              <a:ext cx="4978813" cy="2762250"/>
            </a:xfrm>
            <a:prstGeom prst="rect">
              <a:avLst/>
            </a:prstGeom>
          </p:spPr>
        </p:pic>
      </p:grpSp>
      <p:grpSp>
        <p:nvGrpSpPr>
          <p:cNvPr id="37" name="rain-timing-1"/>
          <p:cNvGrpSpPr/>
          <p:nvPr/>
        </p:nvGrpSpPr>
        <p:grpSpPr>
          <a:xfrm>
            <a:off x="6760178" y="2428875"/>
            <a:ext cx="4386644" cy="2762250"/>
            <a:chOff x="6760178" y="2428875"/>
            <a:chExt cx="4386644" cy="2762250"/>
          </a:xfrm>
        </p:grpSpPr>
        <p:pic>
          <p:nvPicPr>
            <p:cNvPr id="36" name="Image 36"/>
            <p:cNvPicPr>
              <a:picLocks noChangeAspect="1"/>
            </p:cNvPicPr>
            <p:nvPr/>
          </p:nvPicPr>
          <p:blipFill>
            <a:blip r:embed="rId3"/>
            <a:stretch>
              <a:fillRect/>
            </a:stretch>
          </p:blipFill>
          <p:spPr>
            <a:xfrm>
              <a:off x="6760178" y="2428875"/>
              <a:ext cx="4386644" cy="2762250"/>
            </a:xfrm>
            <a:prstGeom prst="rect">
              <a:avLst/>
            </a:prstGeom>
          </p:spPr>
        </p:pic>
      </p:grpSp>
      <p:grpSp>
        <p:nvGrpSpPr>
          <p:cNvPr id="39" name="finding-1"/>
          <p:cNvGrpSpPr/>
          <p:nvPr/>
        </p:nvGrpSpPr>
        <p:grpSpPr>
          <a:xfrm>
            <a:off x="381000" y="5357749"/>
            <a:ext cx="1888619" cy="933450"/>
            <a:chOff x="381000" y="5357749"/>
            <a:chExt cx="1888619" cy="933450"/>
          </a:xfrm>
        </p:grpSpPr>
        <p:sp>
          <p:nvSpPr>
            <p:cNvPr id="38" name="TextBox 38"/>
            <p:cNvSpPr txBox="1"/>
            <p:nvPr/>
          </p:nvSpPr>
          <p:spPr>
            <a:xfrm>
              <a:off x="381000" y="5357749"/>
              <a:ext cx="1888619" cy="933450"/>
            </a:xfrm>
            <a:prstGeom prst="rect">
              <a:avLst/>
            </a:prstGeom>
            <a:noFill/>
            <a:ln>
              <a:noFill/>
            </a:ln>
          </p:spPr>
          <p:txBody>
            <a:bodyPr wrap="none" lIns="0" tIns="0" rIns="0" bIns="0" anchor="t" anchorCtr="0">
              <a:spAutoFit/>
            </a:bodyPr>
            <a:lstStyle/>
            <a:p>
              <a:pPr algn="l"/>
              <a:r>
                <a:rPr lang="en-IN" sz="4800" b="1" dirty="0">
                  <a:solidFill>
                    <a:srgbClr val="087F83"/>
                  </a:solidFill>
                  <a:latin typeface="Segoe UI"/>
                  <a:ea typeface="Segoe UI"/>
                  <a:cs typeface="Segoe UI"/>
                </a:rPr>
                <a:t>77.6%</a:t>
              </a:r>
            </a:p>
          </p:txBody>
        </p:sp>
      </p:grpSp>
      <p:grpSp>
        <p:nvGrpSpPr>
          <p:cNvPr id="42" name="finding-2"/>
          <p:cNvGrpSpPr/>
          <p:nvPr/>
        </p:nvGrpSpPr>
        <p:grpSpPr>
          <a:xfrm>
            <a:off x="3534156" y="5377434"/>
            <a:ext cx="4144736" cy="621792"/>
            <a:chOff x="3534156" y="5377434"/>
            <a:chExt cx="4144736" cy="621792"/>
          </a:xfrm>
        </p:grpSpPr>
        <p:sp>
          <p:nvSpPr>
            <p:cNvPr id="40" name="TextBox 40"/>
            <p:cNvSpPr txBox="1"/>
            <p:nvPr/>
          </p:nvSpPr>
          <p:spPr>
            <a:xfrm>
              <a:off x="3534156" y="5377434"/>
              <a:ext cx="4144736" cy="352044"/>
            </a:xfrm>
            <a:prstGeom prst="rect">
              <a:avLst/>
            </a:prstGeom>
            <a:noFill/>
            <a:ln>
              <a:noFill/>
            </a:ln>
          </p:spPr>
          <p:txBody>
            <a:bodyPr wrap="none" lIns="0" tIns="0" rIns="0" bIns="0" anchor="t" anchorCtr="0">
              <a:spAutoFit/>
            </a:bodyPr>
            <a:lstStyle/>
            <a:p>
              <a:pPr algn="l"/>
              <a:r>
                <a:rPr lang="en-IN" sz="1800" dirty="0">
                  <a:solidFill>
                    <a:srgbClr val="102638"/>
                  </a:solidFill>
                  <a:latin typeface="Segoe UI"/>
                  <a:ea typeface="Segoe UI"/>
                  <a:cs typeface="Segoe UI"/>
                </a:rPr>
                <a:t>of eligible area: ≥ half the monthly rain</a:t>
              </a:r>
            </a:p>
          </p:txBody>
        </p:sp>
        <p:sp>
          <p:nvSpPr>
            <p:cNvPr id="41" name="TextBox 41"/>
            <p:cNvSpPr txBox="1"/>
            <p:nvPr/>
          </p:nvSpPr>
          <p:spPr>
            <a:xfrm>
              <a:off x="3534156" y="5647182"/>
              <a:ext cx="2529845" cy="352044"/>
            </a:xfrm>
            <a:prstGeom prst="rect">
              <a:avLst/>
            </a:prstGeom>
            <a:noFill/>
            <a:ln>
              <a:noFill/>
            </a:ln>
          </p:spPr>
          <p:txBody>
            <a:bodyPr wrap="none" lIns="0" tIns="0" rIns="0" bIns="0" anchor="t" anchorCtr="0">
              <a:spAutoFit/>
            </a:bodyPr>
            <a:lstStyle/>
            <a:p>
              <a:pPr algn="l"/>
              <a:r>
                <a:rPr lang="en-IN" sz="1800" dirty="0">
                  <a:solidFill>
                    <a:srgbClr val="102638"/>
                  </a:solidFill>
                  <a:latin typeface="Segoe UI"/>
                  <a:ea typeface="Segoe UI"/>
                  <a:cs typeface="Segoe UI"/>
                </a:rPr>
                <a:t>in five consecutive days</a:t>
              </a:r>
            </a:p>
          </p:txBody>
        </p:sp>
      </p:grpSp>
      <p:grpSp>
        <p:nvGrpSpPr>
          <p:cNvPr id="44" name="conclusion-1"/>
          <p:cNvGrpSpPr/>
          <p:nvPr/>
        </p:nvGrpSpPr>
        <p:grpSpPr>
          <a:xfrm>
            <a:off x="3556254" y="6048756"/>
            <a:ext cx="5247653" cy="234696"/>
            <a:chOff x="3556254" y="6048756"/>
            <a:chExt cx="5247653" cy="234696"/>
          </a:xfrm>
        </p:grpSpPr>
        <p:sp>
          <p:nvSpPr>
            <p:cNvPr id="43" name="TextBox 43"/>
            <p:cNvSpPr txBox="1"/>
            <p:nvPr/>
          </p:nvSpPr>
          <p:spPr>
            <a:xfrm>
              <a:off x="3556254" y="6048756"/>
              <a:ext cx="5247653" cy="234696"/>
            </a:xfrm>
            <a:prstGeom prst="rect">
              <a:avLst/>
            </a:prstGeom>
            <a:noFill/>
            <a:ln>
              <a:noFill/>
            </a:ln>
          </p:spPr>
          <p:txBody>
            <a:bodyPr wrap="none" lIns="0" tIns="0" rIns="0" bIns="0" anchor="t" anchorCtr="0">
              <a:spAutoFit/>
            </a:bodyPr>
            <a:lstStyle/>
            <a:p>
              <a:pPr algn="l"/>
              <a:r>
                <a:rPr lang="en-IN" sz="1200" dirty="0">
                  <a:solidFill>
                    <a:srgbClr val="536878"/>
                  </a:solidFill>
                  <a:latin typeface="Segoe UI"/>
                  <a:ea typeface="Segoe UI"/>
                  <a:cs typeface="Segoe UI"/>
                </a:rPr>
                <a:t>Eligible cells: monthly rain ≥10 mm. A total alone cannot show the timing.</a:t>
              </a:r>
            </a:p>
          </p:txBody>
        </p:sp>
      </p:grpSp>
    </p:spTree>
  </p:cSld>
  <p:clrMapOvr>
    <a:masterClrMapping/>
  </p:clrMapOvr>
  <p:transition xmlns:p14="http://schemas.microsoft.com/office/powerpoint/2010/main" p14:dur="3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638"/>
        </a:solidFill>
        <a:effectLst/>
      </p:bgPr>
    </p:bg>
    <p:spTree>
      <p:nvGrpSpPr>
        <p:cNvPr id="1" name=""/>
        <p:cNvGrpSpPr/>
        <p:nvPr/>
      </p:nvGrpSpPr>
      <p:grpSpPr>
        <a:xfrm>
          <a:off x="0" y="0"/>
          <a:ext cx="0" cy="0"/>
          <a:chOff x="0" y="0"/>
          <a:chExt cx="0" cy="0"/>
        </a:xfrm>
      </p:grpSpPr>
      <p:sp>
        <p:nvSpPr>
          <p:cNvPr id="2" name="background-1"/>
          <p:cNvSpPr/>
          <p:nvPr/>
        </p:nvSpPr>
        <p:spPr>
          <a:xfrm>
            <a:off x="0" y="0"/>
            <a:ext cx="114300" cy="6858000"/>
          </a:xfrm>
          <a:prstGeom prst="rect">
            <a:avLst/>
          </a:prstGeom>
          <a:solidFill>
            <a:srgbClr val="D65B32"/>
          </a:solidFill>
          <a:ln>
            <a:noFill/>
          </a:ln>
        </p:spPr>
      </p:sp>
      <p:sp>
        <p:nvSpPr>
          <p:cNvPr id="3" name="background-2"/>
          <p:cNvSpPr/>
          <p:nvPr/>
        </p:nvSpPr>
        <p:spPr>
          <a:xfrm>
            <a:off x="381000" y="6486525"/>
            <a:ext cx="1609725" cy="38100"/>
          </a:xfrm>
          <a:prstGeom prst="rect">
            <a:avLst/>
          </a:prstGeom>
          <a:solidFill>
            <a:srgbClr val="365163"/>
          </a:solidFill>
          <a:ln>
            <a:noFill/>
          </a:ln>
        </p:spPr>
      </p:sp>
      <p:sp>
        <p:nvSpPr>
          <p:cNvPr id="4" name="background-3"/>
          <p:cNvSpPr/>
          <p:nvPr/>
        </p:nvSpPr>
        <p:spPr>
          <a:xfrm>
            <a:off x="2105025" y="6486525"/>
            <a:ext cx="1609725" cy="38100"/>
          </a:xfrm>
          <a:prstGeom prst="rect">
            <a:avLst/>
          </a:prstGeom>
          <a:solidFill>
            <a:srgbClr val="087F83"/>
          </a:solidFill>
          <a:ln>
            <a:noFill/>
          </a:ln>
        </p:spPr>
      </p:sp>
      <p:sp>
        <p:nvSpPr>
          <p:cNvPr id="5" name="background-4"/>
          <p:cNvSpPr/>
          <p:nvPr/>
        </p:nvSpPr>
        <p:spPr>
          <a:xfrm>
            <a:off x="3829050" y="6486525"/>
            <a:ext cx="1609725" cy="38100"/>
          </a:xfrm>
          <a:prstGeom prst="rect">
            <a:avLst/>
          </a:prstGeom>
          <a:solidFill>
            <a:srgbClr val="365163"/>
          </a:solidFill>
          <a:ln>
            <a:noFill/>
          </a:ln>
        </p:spPr>
      </p:sp>
      <p:sp>
        <p:nvSpPr>
          <p:cNvPr id="6" name="background-5"/>
          <p:cNvSpPr/>
          <p:nvPr/>
        </p:nvSpPr>
        <p:spPr>
          <a:xfrm>
            <a:off x="5553075" y="6486525"/>
            <a:ext cx="1609725" cy="38100"/>
          </a:xfrm>
          <a:prstGeom prst="rect">
            <a:avLst/>
          </a:prstGeom>
          <a:solidFill>
            <a:srgbClr val="365163"/>
          </a:solidFill>
          <a:ln>
            <a:noFill/>
          </a:ln>
        </p:spPr>
      </p:sp>
      <p:sp>
        <p:nvSpPr>
          <p:cNvPr id="7" name="background-6"/>
          <p:cNvSpPr/>
          <p:nvPr/>
        </p:nvSpPr>
        <p:spPr>
          <a:xfrm>
            <a:off x="381000" y="1819275"/>
            <a:ext cx="8096250" cy="4057650"/>
          </a:xfrm>
          <a:prstGeom prst="rect">
            <a:avLst/>
          </a:prstGeom>
          <a:solidFill>
            <a:srgbClr val="FFFFFF"/>
          </a:solidFill>
          <a:ln>
            <a:noFill/>
          </a:ln>
        </p:spPr>
      </p:sp>
      <p:grpSp>
        <p:nvGrpSpPr>
          <p:cNvPr id="9" name="chapter-1"/>
          <p:cNvGrpSpPr/>
          <p:nvPr/>
        </p:nvGrpSpPr>
        <p:grpSpPr>
          <a:xfrm>
            <a:off x="374904" y="209931"/>
            <a:ext cx="827603" cy="234696"/>
            <a:chOff x="374904" y="209931"/>
            <a:chExt cx="827603" cy="234696"/>
          </a:xfrm>
        </p:grpSpPr>
        <p:sp>
          <p:nvSpPr>
            <p:cNvPr id="8" name="TextBox 8"/>
            <p:cNvSpPr txBox="1"/>
            <p:nvPr/>
          </p:nvSpPr>
          <p:spPr>
            <a:xfrm>
              <a:off x="374904" y="209931"/>
              <a:ext cx="827603" cy="234696"/>
            </a:xfrm>
            <a:prstGeom prst="rect">
              <a:avLst/>
            </a:prstGeom>
            <a:noFill/>
            <a:ln>
              <a:noFill/>
            </a:ln>
          </p:spPr>
          <p:txBody>
            <a:bodyPr wrap="none" lIns="0" tIns="0" rIns="0" bIns="0" anchor="t" anchorCtr="0">
              <a:spAutoFit/>
            </a:bodyPr>
            <a:lstStyle/>
            <a:p>
              <a:pPr algn="l"/>
              <a:r>
                <a:rPr lang="en-IN" sz="1200" b="1" dirty="0">
                  <a:solidFill>
                    <a:srgbClr val="66D2CC"/>
                  </a:solidFill>
                  <a:latin typeface="Segoe UI"/>
                  <a:ea typeface="Segoe UI"/>
                  <a:cs typeface="Segoe UI"/>
                </a:rPr>
                <a:t>WEATHER</a:t>
              </a:r>
            </a:p>
          </p:txBody>
        </p:sp>
      </p:grpSp>
      <p:grpSp>
        <p:nvGrpSpPr>
          <p:cNvPr id="11" name="chapter-2"/>
          <p:cNvGrpSpPr/>
          <p:nvPr/>
        </p:nvGrpSpPr>
        <p:grpSpPr>
          <a:xfrm>
            <a:off x="11042904" y="219456"/>
            <a:ext cx="511993" cy="234696"/>
            <a:chOff x="11042904" y="219456"/>
            <a:chExt cx="511993" cy="234696"/>
          </a:xfrm>
        </p:grpSpPr>
        <p:sp>
          <p:nvSpPr>
            <p:cNvPr id="10" name="TextBox 10"/>
            <p:cNvSpPr txBox="1"/>
            <p:nvPr/>
          </p:nvSpPr>
          <p:spPr>
            <a:xfrm>
              <a:off x="11042904" y="219456"/>
              <a:ext cx="511993" cy="234696"/>
            </a:xfrm>
            <a:prstGeom prst="rect">
              <a:avLst/>
            </a:prstGeom>
            <a:noFill/>
            <a:ln>
              <a:noFill/>
            </a:ln>
          </p:spPr>
          <p:txBody>
            <a:bodyPr wrap="none" lIns="0" tIns="0" rIns="0" bIns="0" anchor="t" anchorCtr="0">
              <a:spAutoFit/>
            </a:bodyPr>
            <a:lstStyle/>
            <a:p>
              <a:pPr algn="l"/>
              <a:r>
                <a:rPr lang="en-IN" sz="1200" dirty="0">
                  <a:solidFill>
                    <a:srgbClr val="A7BCC9"/>
                  </a:solidFill>
                  <a:latin typeface="Segoe UI"/>
                  <a:ea typeface="Segoe UI"/>
                  <a:cs typeface="Segoe UI"/>
                </a:rPr>
                <a:t>10 / 14</a:t>
              </a:r>
            </a:p>
          </p:txBody>
        </p:sp>
      </p:grpSp>
      <p:grpSp>
        <p:nvGrpSpPr>
          <p:cNvPr id="13" name="title-1"/>
          <p:cNvGrpSpPr/>
          <p:nvPr/>
        </p:nvGrpSpPr>
        <p:grpSpPr>
          <a:xfrm>
            <a:off x="364236" y="616204"/>
            <a:ext cx="9835229" cy="645414"/>
            <a:chOff x="364236" y="616204"/>
            <a:chExt cx="9835229" cy="645414"/>
          </a:xfrm>
        </p:grpSpPr>
        <p:sp>
          <p:nvSpPr>
            <p:cNvPr id="12" name="TextBox 12"/>
            <p:cNvSpPr txBox="1"/>
            <p:nvPr/>
          </p:nvSpPr>
          <p:spPr>
            <a:xfrm>
              <a:off x="364236" y="616204"/>
              <a:ext cx="9835229" cy="645414"/>
            </a:xfrm>
            <a:prstGeom prst="rect">
              <a:avLst/>
            </a:prstGeom>
            <a:noFill/>
            <a:ln>
              <a:noFill/>
            </a:ln>
          </p:spPr>
          <p:txBody>
            <a:bodyPr wrap="none" lIns="0" tIns="0" rIns="0" bIns="0" anchor="t" anchorCtr="0">
              <a:spAutoFit/>
            </a:bodyPr>
            <a:lstStyle/>
            <a:p>
              <a:pPr algn="l"/>
              <a:r>
                <a:rPr lang="en-IN" sz="3300" b="1" dirty="0">
                  <a:solidFill>
                    <a:srgbClr val="F5F2EA"/>
                  </a:solidFill>
                  <a:latin typeface="Segoe UI"/>
                  <a:ea typeface="Segoe UI"/>
                  <a:cs typeface="Segoe UI"/>
                </a:rPr>
                <a:t>Contours let us follow temperature boundaries</a:t>
              </a:r>
            </a:p>
          </p:txBody>
        </p:sp>
      </p:grpSp>
      <p:grpSp>
        <p:nvGrpSpPr>
          <p:cNvPr id="15" name="question-1"/>
          <p:cNvGrpSpPr/>
          <p:nvPr/>
        </p:nvGrpSpPr>
        <p:grpSpPr>
          <a:xfrm>
            <a:off x="392430" y="1169670"/>
            <a:ext cx="5340989" cy="293370"/>
            <a:chOff x="392430" y="1169670"/>
            <a:chExt cx="5340989" cy="293370"/>
          </a:xfrm>
        </p:grpSpPr>
        <p:sp>
          <p:nvSpPr>
            <p:cNvPr id="14" name="TextBox 14"/>
            <p:cNvSpPr txBox="1"/>
            <p:nvPr/>
          </p:nvSpPr>
          <p:spPr>
            <a:xfrm>
              <a:off x="392430" y="1169670"/>
              <a:ext cx="5340989" cy="293370"/>
            </a:xfrm>
            <a:prstGeom prst="rect">
              <a:avLst/>
            </a:prstGeom>
            <a:noFill/>
            <a:ln>
              <a:noFill/>
            </a:ln>
          </p:spPr>
          <p:txBody>
            <a:bodyPr wrap="none" lIns="0" tIns="0" rIns="0" bIns="0" anchor="t" anchorCtr="0">
              <a:spAutoFit/>
            </a:bodyPr>
            <a:lstStyle/>
            <a:p>
              <a:pPr algn="l"/>
              <a:r>
                <a:rPr lang="en-IN" sz="1500" dirty="0">
                  <a:solidFill>
                    <a:srgbClr val="B3C6D0"/>
                  </a:solidFill>
                  <a:latin typeface="Segoe UI"/>
                  <a:ea typeface="Segoe UI"/>
                  <a:cs typeface="Segoe UI"/>
                </a:rPr>
                <a:t>Follow equal-temperature boundaries as the dates advance.</a:t>
              </a:r>
            </a:p>
          </p:txBody>
        </p:sp>
      </p:grpSp>
      <p:sp>
        <p:nvSpPr>
          <p:cNvPr id="16" name="Line 16"/>
          <p:cNvSpPr/>
          <p:nvPr/>
        </p:nvSpPr>
        <p:spPr>
          <a:xfrm>
            <a:off x="381000" y="1571625"/>
            <a:ext cx="11334750" cy="9525"/>
          </a:xfrm>
          <a:custGeom>
            <a:avLst/>
            <a:gdLst/>
            <a:ahLst/>
            <a:cxnLst/>
            <a:rect l="l" t="t" r="r" b="b"/>
            <a:pathLst>
              <a:path w="11334750" h="9525">
                <a:moveTo>
                  <a:pt x="0" y="0"/>
                </a:moveTo>
                <a:lnTo>
                  <a:pt x="11334750" y="0"/>
                </a:lnTo>
              </a:path>
            </a:pathLst>
          </a:custGeom>
          <a:noFill/>
          <a:ln w="9525">
            <a:solidFill>
              <a:srgbClr val="3D5668"/>
            </a:solidFill>
          </a:ln>
        </p:spPr>
      </p:sp>
      <p:grpSp>
        <p:nvGrpSpPr>
          <p:cNvPr id="18" name="progress-1"/>
          <p:cNvGrpSpPr/>
          <p:nvPr/>
        </p:nvGrpSpPr>
        <p:grpSpPr>
          <a:xfrm>
            <a:off x="375666" y="6589649"/>
            <a:ext cx="723062" cy="205359"/>
            <a:chOff x="375666" y="6589649"/>
            <a:chExt cx="723062" cy="205359"/>
          </a:xfrm>
        </p:grpSpPr>
        <p:sp>
          <p:nvSpPr>
            <p:cNvPr id="17" name="TextBox 17"/>
            <p:cNvSpPr txBox="1"/>
            <p:nvPr/>
          </p:nvSpPr>
          <p:spPr>
            <a:xfrm>
              <a:off x="375666" y="6589649"/>
              <a:ext cx="723062" cy="205359"/>
            </a:xfrm>
            <a:prstGeom prst="rect">
              <a:avLst/>
            </a:prstGeom>
            <a:noFill/>
            <a:ln>
              <a:noFill/>
            </a:ln>
          </p:spPr>
          <p:txBody>
            <a:bodyPr wrap="none" lIns="0" tIns="0" rIns="0" bIns="0" anchor="t" anchorCtr="0">
              <a:spAutoFit/>
            </a:bodyPr>
            <a:lstStyle/>
            <a:p>
              <a:pPr algn="l"/>
              <a:r>
                <a:rPr lang="en-IN" sz="1050" dirty="0">
                  <a:solidFill>
                    <a:srgbClr val="97ACB9"/>
                  </a:solidFill>
                  <a:latin typeface="Segoe UI"/>
                  <a:ea typeface="Segoe UI"/>
                  <a:cs typeface="Segoe UI"/>
                </a:rPr>
                <a:t>QUESTION</a:t>
              </a:r>
            </a:p>
          </p:txBody>
        </p:sp>
      </p:grpSp>
      <p:grpSp>
        <p:nvGrpSpPr>
          <p:cNvPr id="20" name="progress-2"/>
          <p:cNvGrpSpPr/>
          <p:nvPr/>
        </p:nvGrpSpPr>
        <p:grpSpPr>
          <a:xfrm>
            <a:off x="2099691" y="6589649"/>
            <a:ext cx="1135453" cy="205359"/>
            <a:chOff x="2099691" y="6589649"/>
            <a:chExt cx="1135453" cy="205359"/>
          </a:xfrm>
        </p:grpSpPr>
        <p:sp>
          <p:nvSpPr>
            <p:cNvPr id="19" name="TextBox 19"/>
            <p:cNvSpPr txBox="1"/>
            <p:nvPr/>
          </p:nvSpPr>
          <p:spPr>
            <a:xfrm>
              <a:off x="2099691" y="6589649"/>
              <a:ext cx="1135453" cy="205359"/>
            </a:xfrm>
            <a:prstGeom prst="rect">
              <a:avLst/>
            </a:prstGeom>
            <a:noFill/>
            <a:ln>
              <a:noFill/>
            </a:ln>
          </p:spPr>
          <p:txBody>
            <a:bodyPr wrap="none" lIns="0" tIns="0" rIns="0" bIns="0" anchor="t" anchorCtr="0">
              <a:spAutoFit/>
            </a:bodyPr>
            <a:lstStyle/>
            <a:p>
              <a:pPr algn="l"/>
              <a:r>
                <a:rPr lang="en-IN" sz="1050" b="1" dirty="0">
                  <a:solidFill>
                    <a:srgbClr val="F5F2EA"/>
                  </a:solidFill>
                  <a:latin typeface="Segoe UI"/>
                  <a:ea typeface="Segoe UI"/>
                  <a:cs typeface="Segoe UI"/>
                </a:rPr>
                <a:t>READ THE PLOT</a:t>
              </a:r>
            </a:p>
          </p:txBody>
        </p:sp>
      </p:grpSp>
      <p:grpSp>
        <p:nvGrpSpPr>
          <p:cNvPr id="22" name="progress-3"/>
          <p:cNvGrpSpPr/>
          <p:nvPr/>
        </p:nvGrpSpPr>
        <p:grpSpPr>
          <a:xfrm>
            <a:off x="3823716" y="6589649"/>
            <a:ext cx="678749" cy="205359"/>
            <a:chOff x="3823716" y="6589649"/>
            <a:chExt cx="678749" cy="205359"/>
          </a:xfrm>
        </p:grpSpPr>
        <p:sp>
          <p:nvSpPr>
            <p:cNvPr id="21" name="TextBox 21"/>
            <p:cNvSpPr txBox="1"/>
            <p:nvPr/>
          </p:nvSpPr>
          <p:spPr>
            <a:xfrm>
              <a:off x="3823716" y="6589649"/>
              <a:ext cx="678749" cy="205359"/>
            </a:xfrm>
            <a:prstGeom prst="rect">
              <a:avLst/>
            </a:prstGeom>
            <a:noFill/>
            <a:ln>
              <a:noFill/>
            </a:ln>
          </p:spPr>
          <p:txBody>
            <a:bodyPr wrap="none" lIns="0" tIns="0" rIns="0" bIns="0" anchor="t" anchorCtr="0">
              <a:spAutoFit/>
            </a:bodyPr>
            <a:lstStyle/>
            <a:p>
              <a:pPr algn="l"/>
              <a:r>
                <a:rPr lang="en-IN" sz="1050" dirty="0">
                  <a:solidFill>
                    <a:srgbClr val="97ACB9"/>
                  </a:solidFill>
                  <a:latin typeface="Segoe UI"/>
                  <a:ea typeface="Segoe UI"/>
                  <a:cs typeface="Segoe UI"/>
                </a:rPr>
                <a:t>EVIDENCE</a:t>
              </a:r>
            </a:p>
          </p:txBody>
        </p:sp>
      </p:grpSp>
      <p:grpSp>
        <p:nvGrpSpPr>
          <p:cNvPr id="24" name="progress-4"/>
          <p:cNvGrpSpPr/>
          <p:nvPr/>
        </p:nvGrpSpPr>
        <p:grpSpPr>
          <a:xfrm>
            <a:off x="5547741" y="6589649"/>
            <a:ext cx="936202" cy="205359"/>
            <a:chOff x="5547741" y="6589649"/>
            <a:chExt cx="936202" cy="205359"/>
          </a:xfrm>
        </p:grpSpPr>
        <p:sp>
          <p:nvSpPr>
            <p:cNvPr id="23" name="TextBox 23"/>
            <p:cNvSpPr txBox="1"/>
            <p:nvPr/>
          </p:nvSpPr>
          <p:spPr>
            <a:xfrm>
              <a:off x="5547741" y="6589649"/>
              <a:ext cx="936202" cy="205359"/>
            </a:xfrm>
            <a:prstGeom prst="rect">
              <a:avLst/>
            </a:prstGeom>
            <a:noFill/>
            <a:ln>
              <a:noFill/>
            </a:ln>
          </p:spPr>
          <p:txBody>
            <a:bodyPr wrap="none" lIns="0" tIns="0" rIns="0" bIns="0" anchor="t" anchorCtr="0">
              <a:spAutoFit/>
            </a:bodyPr>
            <a:lstStyle/>
            <a:p>
              <a:pPr algn="l"/>
              <a:r>
                <a:rPr lang="en-IN" sz="1050" dirty="0">
                  <a:solidFill>
                    <a:srgbClr val="97ACB9"/>
                  </a:solidFill>
                  <a:latin typeface="Segoe UI"/>
                  <a:ea typeface="Segoe UI"/>
                  <a:cs typeface="Segoe UI"/>
                </a:rPr>
                <a:t>CONCLUSION</a:t>
              </a:r>
            </a:p>
          </p:txBody>
        </p:sp>
      </p:grpSp>
      <p:grpSp>
        <p:nvGrpSpPr>
          <p:cNvPr id="26" name="source-1"/>
          <p:cNvGrpSpPr/>
          <p:nvPr/>
        </p:nvGrpSpPr>
        <p:grpSpPr>
          <a:xfrm>
            <a:off x="7614666" y="6532499"/>
            <a:ext cx="890010" cy="205359"/>
            <a:chOff x="7614666" y="6532499"/>
            <a:chExt cx="890010" cy="205359"/>
          </a:xfrm>
        </p:grpSpPr>
        <p:sp>
          <p:nvSpPr>
            <p:cNvPr id="25" name="TextBox 25"/>
            <p:cNvSpPr txBox="1"/>
            <p:nvPr/>
          </p:nvSpPr>
          <p:spPr>
            <a:xfrm>
              <a:off x="7614666" y="6532499"/>
              <a:ext cx="890010" cy="205359"/>
            </a:xfrm>
            <a:prstGeom prst="rect">
              <a:avLst/>
            </a:prstGeom>
            <a:noFill/>
            <a:ln>
              <a:noFill/>
            </a:ln>
          </p:spPr>
          <p:txBody>
            <a:bodyPr wrap="none" lIns="0" tIns="0" rIns="0" bIns="0" anchor="t" anchorCtr="0">
              <a:spAutoFit/>
            </a:bodyPr>
            <a:lstStyle/>
            <a:p>
              <a:pPr algn="l"/>
              <a:r>
                <a:rPr lang="en-IN" sz="1050" dirty="0">
                  <a:solidFill>
                    <a:srgbClr val="A7BCC9"/>
                  </a:solidFill>
                  <a:latin typeface="Segoe UI"/>
                  <a:ea typeface="Segoe UI"/>
                  <a:cs typeface="Segoe UI"/>
                </a:rPr>
                <a:t>Report Fig. 19</a:t>
              </a:r>
            </a:p>
          </p:txBody>
        </p:sp>
      </p:grpSp>
      <p:grpSp>
        <p:nvGrpSpPr>
          <p:cNvPr id="28" name="animated-evidence-1"/>
          <p:cNvGrpSpPr/>
          <p:nvPr/>
        </p:nvGrpSpPr>
        <p:grpSpPr>
          <a:xfrm>
            <a:off x="1064800" y="1866900"/>
            <a:ext cx="6728650" cy="3962400"/>
            <a:chOff x="1064800" y="1866900"/>
            <a:chExt cx="6728650" cy="3962400"/>
          </a:xfrm>
        </p:grpSpPr>
        <p:pic>
          <p:nvPicPr>
            <p:cNvPr id="27" name="Image 27"/>
            <p:cNvPicPr>
              <a:picLocks noChangeAspect="1"/>
            </p:cNvPicPr>
            <p:nvPr/>
          </p:nvPicPr>
          <p:blipFill>
            <a:blip r:embed="rId2"/>
            <a:stretch>
              <a:fillRect/>
            </a:stretch>
          </p:blipFill>
          <p:spPr>
            <a:xfrm>
              <a:off x="1064800" y="1866900"/>
              <a:ext cx="6728650" cy="3962400"/>
            </a:xfrm>
            <a:prstGeom prst="rect">
              <a:avLst/>
            </a:prstGeom>
          </p:spPr>
        </p:pic>
      </p:grpSp>
      <p:grpSp>
        <p:nvGrpSpPr>
          <p:cNvPr id="31" name="badge-1-920-213-1"/>
          <p:cNvGrpSpPr/>
          <p:nvPr/>
        </p:nvGrpSpPr>
        <p:grpSpPr>
          <a:xfrm>
            <a:off x="8763000" y="2028825"/>
            <a:ext cx="323850" cy="300990"/>
            <a:chOff x="8763000" y="2028825"/>
            <a:chExt cx="323850" cy="300990"/>
          </a:xfrm>
        </p:grpSpPr>
        <p:sp>
          <p:nvSpPr>
            <p:cNvPr id="29" name="Rectangle 29"/>
            <p:cNvSpPr/>
            <p:nvPr/>
          </p:nvSpPr>
          <p:spPr>
            <a:xfrm>
              <a:off x="8763000" y="2028825"/>
              <a:ext cx="323850" cy="285750"/>
            </a:xfrm>
            <a:prstGeom prst="rect">
              <a:avLst/>
            </a:prstGeom>
            <a:solidFill>
              <a:srgbClr val="087F83"/>
            </a:solidFill>
            <a:ln>
              <a:noFill/>
            </a:ln>
          </p:spPr>
        </p:sp>
        <p:sp>
          <p:nvSpPr>
            <p:cNvPr id="30" name="TextBox 30"/>
            <p:cNvSpPr txBox="1"/>
            <p:nvPr/>
          </p:nvSpPr>
          <p:spPr>
            <a:xfrm>
              <a:off x="8850630" y="2036445"/>
              <a:ext cx="131390" cy="293370"/>
            </a:xfrm>
            <a:prstGeom prst="rect">
              <a:avLst/>
            </a:prstGeom>
            <a:noFill/>
            <a:ln>
              <a:noFill/>
            </a:ln>
          </p:spPr>
          <p:txBody>
            <a:bodyPr wrap="none" lIns="0" tIns="0" rIns="0" bIns="0" anchor="t" anchorCtr="0">
              <a:spAutoFit/>
            </a:bodyPr>
            <a:lstStyle/>
            <a:p>
              <a:pPr algn="l"/>
              <a:r>
                <a:rPr lang="en-IN" sz="1500" b="1" dirty="0">
                  <a:solidFill>
                    <a:srgbClr val="FFFFFF"/>
                  </a:solidFill>
                  <a:latin typeface="Segoe UI"/>
                  <a:ea typeface="Segoe UI"/>
                  <a:cs typeface="Segoe UI"/>
                </a:rPr>
                <a:t>1</a:t>
              </a:r>
            </a:p>
          </p:txBody>
        </p:sp>
      </p:grpSp>
      <p:grpSp>
        <p:nvGrpSpPr>
          <p:cNvPr id="33" name="note-1"/>
          <p:cNvGrpSpPr/>
          <p:nvPr/>
        </p:nvGrpSpPr>
        <p:grpSpPr>
          <a:xfrm>
            <a:off x="9211056" y="1996059"/>
            <a:ext cx="1321359" cy="352044"/>
            <a:chOff x="9211056" y="1996059"/>
            <a:chExt cx="1321359" cy="352044"/>
          </a:xfrm>
        </p:grpSpPr>
        <p:sp>
          <p:nvSpPr>
            <p:cNvPr id="32" name="TextBox 32"/>
            <p:cNvSpPr txBox="1"/>
            <p:nvPr/>
          </p:nvSpPr>
          <p:spPr>
            <a:xfrm>
              <a:off x="9211056" y="1996059"/>
              <a:ext cx="1321359" cy="352044"/>
            </a:xfrm>
            <a:prstGeom prst="rect">
              <a:avLst/>
            </a:prstGeom>
            <a:noFill/>
            <a:ln>
              <a:noFill/>
            </a:ln>
          </p:spPr>
          <p:txBody>
            <a:bodyPr wrap="none" lIns="0" tIns="0" rIns="0" bIns="0" anchor="t" anchorCtr="0">
              <a:spAutoFit/>
            </a:bodyPr>
            <a:lstStyle/>
            <a:p>
              <a:pPr algn="l"/>
              <a:r>
                <a:rPr lang="en-IN" sz="1800" b="1" dirty="0">
                  <a:solidFill>
                    <a:srgbClr val="F5F2EA"/>
                  </a:solidFill>
                  <a:latin typeface="Segoe UI"/>
                  <a:ea typeface="Segoe UI"/>
                  <a:cs typeface="Segoe UI"/>
                </a:rPr>
                <a:t>Trace a line</a:t>
              </a:r>
            </a:p>
          </p:txBody>
        </p:sp>
      </p:grpSp>
      <p:grpSp>
        <p:nvGrpSpPr>
          <p:cNvPr id="36" name="note-2"/>
          <p:cNvGrpSpPr/>
          <p:nvPr/>
        </p:nvGrpSpPr>
        <p:grpSpPr>
          <a:xfrm>
            <a:off x="9212580" y="2388870"/>
            <a:ext cx="2386740" cy="518160"/>
            <a:chOff x="9212580" y="2388870"/>
            <a:chExt cx="2386740" cy="518160"/>
          </a:xfrm>
        </p:grpSpPr>
        <p:sp>
          <p:nvSpPr>
            <p:cNvPr id="34" name="TextBox 34"/>
            <p:cNvSpPr txBox="1"/>
            <p:nvPr/>
          </p:nvSpPr>
          <p:spPr>
            <a:xfrm>
              <a:off x="9212580" y="2388870"/>
              <a:ext cx="2386740" cy="293370"/>
            </a:xfrm>
            <a:prstGeom prst="rect">
              <a:avLst/>
            </a:prstGeom>
            <a:noFill/>
            <a:ln>
              <a:noFill/>
            </a:ln>
          </p:spPr>
          <p:txBody>
            <a:bodyPr wrap="none" lIns="0" tIns="0" rIns="0" bIns="0" anchor="t" anchorCtr="0">
              <a:spAutoFit/>
            </a:bodyPr>
            <a:lstStyle/>
            <a:p>
              <a:pPr algn="l"/>
              <a:r>
                <a:rPr lang="en-IN" sz="1500" dirty="0">
                  <a:solidFill>
                    <a:srgbClr val="F5F2EA"/>
                  </a:solidFill>
                  <a:latin typeface="Segoe UI"/>
                  <a:ea typeface="Segoe UI"/>
                  <a:cs typeface="Segoe UI"/>
                </a:rPr>
                <a:t>Same temperature along a</a:t>
              </a:r>
            </a:p>
          </p:txBody>
        </p:sp>
        <p:sp>
          <p:nvSpPr>
            <p:cNvPr id="35" name="TextBox 35"/>
            <p:cNvSpPr txBox="1"/>
            <p:nvPr/>
          </p:nvSpPr>
          <p:spPr>
            <a:xfrm>
              <a:off x="9212580" y="2613660"/>
              <a:ext cx="870393" cy="293370"/>
            </a:xfrm>
            <a:prstGeom prst="rect">
              <a:avLst/>
            </a:prstGeom>
            <a:noFill/>
            <a:ln>
              <a:noFill/>
            </a:ln>
          </p:spPr>
          <p:txBody>
            <a:bodyPr wrap="none" lIns="0" tIns="0" rIns="0" bIns="0" anchor="t" anchorCtr="0">
              <a:spAutoFit/>
            </a:bodyPr>
            <a:lstStyle/>
            <a:p>
              <a:pPr algn="l"/>
              <a:r>
                <a:rPr lang="en-IN" sz="1500" dirty="0">
                  <a:solidFill>
                    <a:srgbClr val="F5F2EA"/>
                  </a:solidFill>
                  <a:latin typeface="Segoe UI"/>
                  <a:ea typeface="Segoe UI"/>
                  <a:cs typeface="Segoe UI"/>
                </a:rPr>
                <a:t>boundary</a:t>
              </a:r>
            </a:p>
          </p:txBody>
        </p:sp>
      </p:grpSp>
      <p:grpSp>
        <p:nvGrpSpPr>
          <p:cNvPr id="38" name="note-3"/>
          <p:cNvGrpSpPr/>
          <p:nvPr/>
        </p:nvGrpSpPr>
        <p:grpSpPr>
          <a:xfrm>
            <a:off x="9211056" y="3396234"/>
            <a:ext cx="1362152" cy="352044"/>
            <a:chOff x="9211056" y="3396234"/>
            <a:chExt cx="1362152" cy="352044"/>
          </a:xfrm>
        </p:grpSpPr>
        <p:sp>
          <p:nvSpPr>
            <p:cNvPr id="37" name="TextBox 37"/>
            <p:cNvSpPr txBox="1"/>
            <p:nvPr/>
          </p:nvSpPr>
          <p:spPr>
            <a:xfrm>
              <a:off x="9211056" y="3396234"/>
              <a:ext cx="1362152" cy="352044"/>
            </a:xfrm>
            <a:prstGeom prst="rect">
              <a:avLst/>
            </a:prstGeom>
            <a:noFill/>
            <a:ln>
              <a:noFill/>
            </a:ln>
          </p:spPr>
          <p:txBody>
            <a:bodyPr wrap="none" lIns="0" tIns="0" rIns="0" bIns="0" anchor="t" anchorCtr="0">
              <a:spAutoFit/>
            </a:bodyPr>
            <a:lstStyle/>
            <a:p>
              <a:pPr algn="l"/>
              <a:r>
                <a:rPr lang="en-IN" sz="1800" b="1" dirty="0">
                  <a:solidFill>
                    <a:srgbClr val="F5F2EA"/>
                  </a:solidFill>
                  <a:latin typeface="Segoe UI"/>
                  <a:ea typeface="Segoe UI"/>
                  <a:cs typeface="Segoe UI"/>
                </a:rPr>
                <a:t>Follow time</a:t>
              </a:r>
            </a:p>
          </p:txBody>
        </p:sp>
      </p:grpSp>
      <p:grpSp>
        <p:nvGrpSpPr>
          <p:cNvPr id="41" name="note-4"/>
          <p:cNvGrpSpPr/>
          <p:nvPr/>
        </p:nvGrpSpPr>
        <p:grpSpPr>
          <a:xfrm>
            <a:off x="9212580" y="3789045"/>
            <a:ext cx="1641641" cy="518160"/>
            <a:chOff x="9212580" y="3789045"/>
            <a:chExt cx="1641641" cy="518160"/>
          </a:xfrm>
        </p:grpSpPr>
        <p:sp>
          <p:nvSpPr>
            <p:cNvPr id="39" name="TextBox 39"/>
            <p:cNvSpPr txBox="1"/>
            <p:nvPr/>
          </p:nvSpPr>
          <p:spPr>
            <a:xfrm>
              <a:off x="9212580" y="3789045"/>
              <a:ext cx="1641641" cy="293370"/>
            </a:xfrm>
            <a:prstGeom prst="rect">
              <a:avLst/>
            </a:prstGeom>
            <a:noFill/>
            <a:ln>
              <a:noFill/>
            </a:ln>
          </p:spPr>
          <p:txBody>
            <a:bodyPr wrap="none" lIns="0" tIns="0" rIns="0" bIns="0" anchor="t" anchorCtr="0">
              <a:spAutoFit/>
            </a:bodyPr>
            <a:lstStyle/>
            <a:p>
              <a:pPr algn="l"/>
              <a:r>
                <a:rPr lang="en-IN" sz="1500" dirty="0">
                  <a:solidFill>
                    <a:srgbClr val="F5F2EA"/>
                  </a:solidFill>
                  <a:latin typeface="Segoe UI"/>
                  <a:ea typeface="Segoe UI"/>
                  <a:cs typeface="Segoe UI"/>
                </a:rPr>
                <a:t>Watch boundaries</a:t>
              </a:r>
            </a:p>
          </p:txBody>
        </p:sp>
        <p:sp>
          <p:nvSpPr>
            <p:cNvPr id="40" name="TextBox 40"/>
            <p:cNvSpPr txBox="1"/>
            <p:nvPr/>
          </p:nvSpPr>
          <p:spPr>
            <a:xfrm>
              <a:off x="9212580" y="4013835"/>
              <a:ext cx="1479354" cy="293370"/>
            </a:xfrm>
            <a:prstGeom prst="rect">
              <a:avLst/>
            </a:prstGeom>
            <a:noFill/>
            <a:ln>
              <a:noFill/>
            </a:ln>
          </p:spPr>
          <p:txBody>
            <a:bodyPr wrap="none" lIns="0" tIns="0" rIns="0" bIns="0" anchor="t" anchorCtr="0">
              <a:spAutoFit/>
            </a:bodyPr>
            <a:lstStyle/>
            <a:p>
              <a:pPr algn="l"/>
              <a:r>
                <a:rPr lang="en-IN" sz="1500" dirty="0">
                  <a:solidFill>
                    <a:srgbClr val="F5F2EA"/>
                  </a:solidFill>
                  <a:latin typeface="Segoe UI"/>
                  <a:ea typeface="Segoe UI"/>
                  <a:cs typeface="Segoe UI"/>
                </a:rPr>
                <a:t>move with dates</a:t>
              </a:r>
            </a:p>
          </p:txBody>
        </p:sp>
      </p:grpSp>
      <p:grpSp>
        <p:nvGrpSpPr>
          <p:cNvPr id="44" name="badge-2-920-360-1"/>
          <p:cNvGrpSpPr/>
          <p:nvPr/>
        </p:nvGrpSpPr>
        <p:grpSpPr>
          <a:xfrm>
            <a:off x="8763000" y="3429000"/>
            <a:ext cx="323850" cy="300990"/>
            <a:chOff x="8763000" y="3429000"/>
            <a:chExt cx="323850" cy="300990"/>
          </a:xfrm>
        </p:grpSpPr>
        <p:sp>
          <p:nvSpPr>
            <p:cNvPr id="42" name="Rectangle 42"/>
            <p:cNvSpPr/>
            <p:nvPr/>
          </p:nvSpPr>
          <p:spPr>
            <a:xfrm>
              <a:off x="8763000" y="3429000"/>
              <a:ext cx="323850" cy="285750"/>
            </a:xfrm>
            <a:prstGeom prst="rect">
              <a:avLst/>
            </a:prstGeom>
            <a:solidFill>
              <a:srgbClr val="087F83"/>
            </a:solidFill>
            <a:ln>
              <a:noFill/>
            </a:ln>
          </p:spPr>
        </p:sp>
        <p:sp>
          <p:nvSpPr>
            <p:cNvPr id="43" name="TextBox 43"/>
            <p:cNvSpPr txBox="1"/>
            <p:nvPr/>
          </p:nvSpPr>
          <p:spPr>
            <a:xfrm>
              <a:off x="8850630" y="3436620"/>
              <a:ext cx="131390" cy="293370"/>
            </a:xfrm>
            <a:prstGeom prst="rect">
              <a:avLst/>
            </a:prstGeom>
            <a:noFill/>
            <a:ln>
              <a:noFill/>
            </a:ln>
          </p:spPr>
          <p:txBody>
            <a:bodyPr wrap="none" lIns="0" tIns="0" rIns="0" bIns="0" anchor="t" anchorCtr="0">
              <a:spAutoFit/>
            </a:bodyPr>
            <a:lstStyle/>
            <a:p>
              <a:pPr algn="l"/>
              <a:r>
                <a:rPr lang="en-IN" sz="1500" b="1" dirty="0">
                  <a:solidFill>
                    <a:srgbClr val="FFFFFF"/>
                  </a:solidFill>
                  <a:latin typeface="Segoe UI"/>
                  <a:ea typeface="Segoe UI"/>
                  <a:cs typeface="Segoe UI"/>
                </a:rPr>
                <a:t>2</a:t>
              </a:r>
            </a:p>
          </p:txBody>
        </p:sp>
      </p:grpSp>
      <p:grpSp>
        <p:nvGrpSpPr>
          <p:cNvPr id="46" name="conclusion-1"/>
          <p:cNvGrpSpPr/>
          <p:nvPr/>
        </p:nvGrpSpPr>
        <p:grpSpPr>
          <a:xfrm>
            <a:off x="390906" y="6053709"/>
            <a:ext cx="5614761" cy="352044"/>
            <a:chOff x="390906" y="6053709"/>
            <a:chExt cx="5614761" cy="352044"/>
          </a:xfrm>
        </p:grpSpPr>
        <p:sp>
          <p:nvSpPr>
            <p:cNvPr id="45" name="TextBox 45"/>
            <p:cNvSpPr txBox="1"/>
            <p:nvPr/>
          </p:nvSpPr>
          <p:spPr>
            <a:xfrm>
              <a:off x="390906" y="6053709"/>
              <a:ext cx="5614761"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Smaller intervals add detail—and more lines to read.</a:t>
              </a:r>
            </a:p>
          </p:txBody>
        </p:sp>
      </p:grpSp>
    </p:spTree>
  </p:cSld>
  <p:clrMapOvr>
    <a:masterClrMapping/>
  </p:clrMapOvr>
  <p:transition xmlns:p14="http://schemas.microsoft.com/office/powerpoint/2010/main" p14:dur="3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background-1"/>
          <p:cNvSpPr/>
          <p:nvPr/>
        </p:nvSpPr>
        <p:spPr>
          <a:xfrm>
            <a:off x="0" y="0"/>
            <a:ext cx="114300" cy="6858000"/>
          </a:xfrm>
          <a:prstGeom prst="rect">
            <a:avLst/>
          </a:prstGeom>
          <a:solidFill>
            <a:srgbClr val="D65B32"/>
          </a:solidFill>
          <a:ln>
            <a:noFill/>
          </a:ln>
        </p:spPr>
      </p:sp>
      <p:sp>
        <p:nvSpPr>
          <p:cNvPr id="3" name="background-2"/>
          <p:cNvSpPr/>
          <p:nvPr/>
        </p:nvSpPr>
        <p:spPr>
          <a:xfrm>
            <a:off x="381000" y="6486525"/>
            <a:ext cx="1609725" cy="38100"/>
          </a:xfrm>
          <a:prstGeom prst="rect">
            <a:avLst/>
          </a:prstGeom>
          <a:solidFill>
            <a:srgbClr val="CFD8D7"/>
          </a:solidFill>
          <a:ln>
            <a:noFill/>
          </a:ln>
        </p:spPr>
      </p:sp>
      <p:sp>
        <p:nvSpPr>
          <p:cNvPr id="4" name="background-3"/>
          <p:cNvSpPr/>
          <p:nvPr/>
        </p:nvSpPr>
        <p:spPr>
          <a:xfrm>
            <a:off x="2105025" y="6486525"/>
            <a:ext cx="1609725" cy="38100"/>
          </a:xfrm>
          <a:prstGeom prst="rect">
            <a:avLst/>
          </a:prstGeom>
          <a:solidFill>
            <a:srgbClr val="CFD8D7"/>
          </a:solidFill>
          <a:ln>
            <a:noFill/>
          </a:ln>
        </p:spPr>
      </p:sp>
      <p:sp>
        <p:nvSpPr>
          <p:cNvPr id="5" name="background-4"/>
          <p:cNvSpPr/>
          <p:nvPr/>
        </p:nvSpPr>
        <p:spPr>
          <a:xfrm>
            <a:off x="3829050" y="6486525"/>
            <a:ext cx="1609725" cy="38100"/>
          </a:xfrm>
          <a:prstGeom prst="rect">
            <a:avLst/>
          </a:prstGeom>
          <a:solidFill>
            <a:srgbClr val="087F83"/>
          </a:solidFill>
          <a:ln>
            <a:noFill/>
          </a:ln>
        </p:spPr>
      </p:sp>
      <p:sp>
        <p:nvSpPr>
          <p:cNvPr id="6" name="background-5"/>
          <p:cNvSpPr/>
          <p:nvPr/>
        </p:nvSpPr>
        <p:spPr>
          <a:xfrm>
            <a:off x="5553075" y="6486525"/>
            <a:ext cx="1609725" cy="38100"/>
          </a:xfrm>
          <a:prstGeom prst="rect">
            <a:avLst/>
          </a:prstGeom>
          <a:solidFill>
            <a:srgbClr val="CFD8D7"/>
          </a:solidFill>
          <a:ln>
            <a:noFill/>
          </a:ln>
        </p:spPr>
      </p:sp>
      <p:sp>
        <p:nvSpPr>
          <p:cNvPr id="7" name="background-6"/>
          <p:cNvSpPr/>
          <p:nvPr/>
        </p:nvSpPr>
        <p:spPr>
          <a:xfrm>
            <a:off x="381000" y="1847850"/>
            <a:ext cx="11334750" cy="3371850"/>
          </a:xfrm>
          <a:prstGeom prst="rect">
            <a:avLst/>
          </a:prstGeom>
          <a:solidFill>
            <a:srgbClr val="FFFFFF"/>
          </a:solidFill>
          <a:ln>
            <a:noFill/>
          </a:ln>
        </p:spPr>
      </p:sp>
      <p:grpSp>
        <p:nvGrpSpPr>
          <p:cNvPr id="9" name="chapter-1"/>
          <p:cNvGrpSpPr/>
          <p:nvPr/>
        </p:nvGrpSpPr>
        <p:grpSpPr>
          <a:xfrm>
            <a:off x="374904" y="209931"/>
            <a:ext cx="827603" cy="234696"/>
            <a:chOff x="374904" y="209931"/>
            <a:chExt cx="827603" cy="234696"/>
          </a:xfrm>
        </p:grpSpPr>
        <p:sp>
          <p:nvSpPr>
            <p:cNvPr id="8" name="TextBox 8"/>
            <p:cNvSpPr txBox="1"/>
            <p:nvPr/>
          </p:nvSpPr>
          <p:spPr>
            <a:xfrm>
              <a:off x="374904" y="209931"/>
              <a:ext cx="827603" cy="234696"/>
            </a:xfrm>
            <a:prstGeom prst="rect">
              <a:avLst/>
            </a:prstGeom>
            <a:noFill/>
            <a:ln>
              <a:noFill/>
            </a:ln>
          </p:spPr>
          <p:txBody>
            <a:bodyPr wrap="none" lIns="0" tIns="0" rIns="0" bIns="0" anchor="t" anchorCtr="0">
              <a:spAutoFit/>
            </a:bodyPr>
            <a:lstStyle/>
            <a:p>
              <a:pPr algn="l"/>
              <a:r>
                <a:rPr lang="en-IN" sz="1200" b="1" dirty="0">
                  <a:solidFill>
                    <a:srgbClr val="087F83"/>
                  </a:solidFill>
                  <a:latin typeface="Segoe UI"/>
                  <a:ea typeface="Segoe UI"/>
                  <a:cs typeface="Segoe UI"/>
                </a:rPr>
                <a:t>WEATHER</a:t>
              </a:r>
            </a:p>
          </p:txBody>
        </p:sp>
      </p:grpSp>
      <p:grpSp>
        <p:nvGrpSpPr>
          <p:cNvPr id="11" name="chapter-2"/>
          <p:cNvGrpSpPr/>
          <p:nvPr/>
        </p:nvGrpSpPr>
        <p:grpSpPr>
          <a:xfrm>
            <a:off x="11042904" y="219456"/>
            <a:ext cx="511993" cy="234696"/>
            <a:chOff x="11042904" y="219456"/>
            <a:chExt cx="511993" cy="234696"/>
          </a:xfrm>
        </p:grpSpPr>
        <p:sp>
          <p:nvSpPr>
            <p:cNvPr id="10" name="TextBox 10"/>
            <p:cNvSpPr txBox="1"/>
            <p:nvPr/>
          </p:nvSpPr>
          <p:spPr>
            <a:xfrm>
              <a:off x="11042904" y="219456"/>
              <a:ext cx="511993" cy="234696"/>
            </a:xfrm>
            <a:prstGeom prst="rect">
              <a:avLst/>
            </a:prstGeom>
            <a:noFill/>
            <a:ln>
              <a:noFill/>
            </a:ln>
          </p:spPr>
          <p:txBody>
            <a:bodyPr wrap="none" lIns="0" tIns="0" rIns="0" bIns="0" anchor="t" anchorCtr="0">
              <a:spAutoFit/>
            </a:bodyPr>
            <a:lstStyle/>
            <a:p>
              <a:pPr algn="l"/>
              <a:r>
                <a:rPr lang="en-IN" sz="1200" dirty="0">
                  <a:solidFill>
                    <a:srgbClr val="536878"/>
                  </a:solidFill>
                  <a:latin typeface="Segoe UI"/>
                  <a:ea typeface="Segoe UI"/>
                  <a:cs typeface="Segoe UI"/>
                </a:rPr>
                <a:t>11 / 14</a:t>
              </a:r>
            </a:p>
          </p:txBody>
        </p:sp>
      </p:grpSp>
      <p:grpSp>
        <p:nvGrpSpPr>
          <p:cNvPr id="13" name="title-1"/>
          <p:cNvGrpSpPr/>
          <p:nvPr/>
        </p:nvGrpSpPr>
        <p:grpSpPr>
          <a:xfrm>
            <a:off x="364236" y="616204"/>
            <a:ext cx="10125519" cy="645414"/>
            <a:chOff x="364236" y="616204"/>
            <a:chExt cx="10125519" cy="645414"/>
          </a:xfrm>
        </p:grpSpPr>
        <p:sp>
          <p:nvSpPr>
            <p:cNvPr id="12" name="TextBox 12"/>
            <p:cNvSpPr txBox="1"/>
            <p:nvPr/>
          </p:nvSpPr>
          <p:spPr>
            <a:xfrm>
              <a:off x="364236" y="616204"/>
              <a:ext cx="10125519" cy="645414"/>
            </a:xfrm>
            <a:prstGeom prst="rect">
              <a:avLst/>
            </a:prstGeom>
            <a:noFill/>
            <a:ln>
              <a:noFill/>
            </a:ln>
          </p:spPr>
          <p:txBody>
            <a:bodyPr wrap="none" lIns="0" tIns="0" rIns="0" bIns="0" anchor="t" anchorCtr="0">
              <a:spAutoFit/>
            </a:bodyPr>
            <a:lstStyle/>
            <a:p>
              <a:pPr algn="l"/>
              <a:r>
                <a:rPr lang="en-IN" sz="3300" b="1" dirty="0">
                  <a:solidFill>
                    <a:srgbClr val="102638"/>
                  </a:solidFill>
                  <a:latin typeface="Segoe UI"/>
                  <a:ea typeface="Segoe UI"/>
                  <a:cs typeface="Segoe UI"/>
                </a:rPr>
                <a:t>How often and how long are different questions</a:t>
              </a:r>
            </a:p>
          </p:txBody>
        </p:sp>
      </p:grpSp>
      <p:grpSp>
        <p:nvGrpSpPr>
          <p:cNvPr id="15" name="question-1"/>
          <p:cNvGrpSpPr/>
          <p:nvPr/>
        </p:nvGrpSpPr>
        <p:grpSpPr>
          <a:xfrm>
            <a:off x="392430" y="1169670"/>
            <a:ext cx="6298902" cy="293370"/>
            <a:chOff x="392430" y="1169670"/>
            <a:chExt cx="6298902" cy="293370"/>
          </a:xfrm>
        </p:grpSpPr>
        <p:sp>
          <p:nvSpPr>
            <p:cNvPr id="14" name="TextBox 14"/>
            <p:cNvSpPr txBox="1"/>
            <p:nvPr/>
          </p:nvSpPr>
          <p:spPr>
            <a:xfrm>
              <a:off x="392430" y="1169670"/>
              <a:ext cx="6298902" cy="293370"/>
            </a:xfrm>
            <a:prstGeom prst="rect">
              <a:avLst/>
            </a:prstGeom>
            <a:noFill/>
            <a:ln>
              <a:noFill/>
            </a:ln>
          </p:spPr>
          <p:txBody>
            <a:bodyPr wrap="none" lIns="0" tIns="0" rIns="0" bIns="0" anchor="t" anchorCtr="0">
              <a:spAutoFit/>
            </a:bodyPr>
            <a:lstStyle/>
            <a:p>
              <a:pPr algn="l"/>
              <a:r>
                <a:rPr lang="en-IN" sz="1500" dirty="0">
                  <a:solidFill>
                    <a:srgbClr val="536878"/>
                  </a:solidFill>
                  <a:latin typeface="Segoe UI"/>
                  <a:ea typeface="Segoe UI"/>
                  <a:cs typeface="Segoe UI"/>
                </a:rPr>
                <a:t>Same places and days / different summaries of hot-and-dry conditions</a:t>
              </a:r>
            </a:p>
          </p:txBody>
        </p:sp>
      </p:grpSp>
      <p:sp>
        <p:nvSpPr>
          <p:cNvPr id="16" name="Line 16"/>
          <p:cNvSpPr/>
          <p:nvPr/>
        </p:nvSpPr>
        <p:spPr>
          <a:xfrm>
            <a:off x="381000" y="1571625"/>
            <a:ext cx="11334750" cy="9525"/>
          </a:xfrm>
          <a:custGeom>
            <a:avLst/>
            <a:gdLst/>
            <a:ahLst/>
            <a:cxnLst/>
            <a:rect l="l" t="t" r="r" b="b"/>
            <a:pathLst>
              <a:path w="11334750" h="9525">
                <a:moveTo>
                  <a:pt x="0" y="0"/>
                </a:moveTo>
                <a:lnTo>
                  <a:pt x="11334750" y="0"/>
                </a:lnTo>
              </a:path>
            </a:pathLst>
          </a:custGeom>
          <a:noFill/>
          <a:ln w="9525">
            <a:solidFill>
              <a:srgbClr val="B8C6CA"/>
            </a:solidFill>
          </a:ln>
        </p:spPr>
      </p:sp>
      <p:grpSp>
        <p:nvGrpSpPr>
          <p:cNvPr id="18" name="progress-1"/>
          <p:cNvGrpSpPr/>
          <p:nvPr/>
        </p:nvGrpSpPr>
        <p:grpSpPr>
          <a:xfrm>
            <a:off x="375666" y="6589649"/>
            <a:ext cx="723062" cy="205359"/>
            <a:chOff x="375666" y="6589649"/>
            <a:chExt cx="723062" cy="205359"/>
          </a:xfrm>
        </p:grpSpPr>
        <p:sp>
          <p:nvSpPr>
            <p:cNvPr id="17" name="TextBox 17"/>
            <p:cNvSpPr txBox="1"/>
            <p:nvPr/>
          </p:nvSpPr>
          <p:spPr>
            <a:xfrm>
              <a:off x="375666" y="6589649"/>
              <a:ext cx="72306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QUESTION</a:t>
              </a:r>
            </a:p>
          </p:txBody>
        </p:sp>
      </p:grpSp>
      <p:grpSp>
        <p:nvGrpSpPr>
          <p:cNvPr id="20" name="progress-2"/>
          <p:cNvGrpSpPr/>
          <p:nvPr/>
        </p:nvGrpSpPr>
        <p:grpSpPr>
          <a:xfrm>
            <a:off x="2099691" y="6589649"/>
            <a:ext cx="1063062" cy="205359"/>
            <a:chOff x="2099691" y="6589649"/>
            <a:chExt cx="1063062" cy="205359"/>
          </a:xfrm>
        </p:grpSpPr>
        <p:sp>
          <p:nvSpPr>
            <p:cNvPr id="19" name="TextBox 19"/>
            <p:cNvSpPr txBox="1"/>
            <p:nvPr/>
          </p:nvSpPr>
          <p:spPr>
            <a:xfrm>
              <a:off x="2099691" y="6589649"/>
              <a:ext cx="106306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READ THE PLOT</a:t>
              </a:r>
            </a:p>
          </p:txBody>
        </p:sp>
      </p:grpSp>
      <p:grpSp>
        <p:nvGrpSpPr>
          <p:cNvPr id="22" name="progress-3"/>
          <p:cNvGrpSpPr/>
          <p:nvPr/>
        </p:nvGrpSpPr>
        <p:grpSpPr>
          <a:xfrm>
            <a:off x="3823716" y="6589649"/>
            <a:ext cx="717372" cy="205359"/>
            <a:chOff x="3823716" y="6589649"/>
            <a:chExt cx="717372" cy="205359"/>
          </a:xfrm>
        </p:grpSpPr>
        <p:sp>
          <p:nvSpPr>
            <p:cNvPr id="21" name="TextBox 21"/>
            <p:cNvSpPr txBox="1"/>
            <p:nvPr/>
          </p:nvSpPr>
          <p:spPr>
            <a:xfrm>
              <a:off x="3823716" y="6589649"/>
              <a:ext cx="717372" cy="205359"/>
            </a:xfrm>
            <a:prstGeom prst="rect">
              <a:avLst/>
            </a:prstGeom>
            <a:noFill/>
            <a:ln>
              <a:noFill/>
            </a:ln>
          </p:spPr>
          <p:txBody>
            <a:bodyPr wrap="none" lIns="0" tIns="0" rIns="0" bIns="0" anchor="t" anchorCtr="0">
              <a:spAutoFit/>
            </a:bodyPr>
            <a:lstStyle/>
            <a:p>
              <a:pPr algn="l"/>
              <a:r>
                <a:rPr lang="en-IN" sz="1050" b="1" dirty="0">
                  <a:solidFill>
                    <a:srgbClr val="102638"/>
                  </a:solidFill>
                  <a:latin typeface="Segoe UI"/>
                  <a:ea typeface="Segoe UI"/>
                  <a:cs typeface="Segoe UI"/>
                </a:rPr>
                <a:t>EVIDENCE</a:t>
              </a:r>
            </a:p>
          </p:txBody>
        </p:sp>
      </p:grpSp>
      <p:grpSp>
        <p:nvGrpSpPr>
          <p:cNvPr id="24" name="progress-4"/>
          <p:cNvGrpSpPr/>
          <p:nvPr/>
        </p:nvGrpSpPr>
        <p:grpSpPr>
          <a:xfrm>
            <a:off x="5547741" y="6589649"/>
            <a:ext cx="936202" cy="205359"/>
            <a:chOff x="5547741" y="6589649"/>
            <a:chExt cx="936202" cy="205359"/>
          </a:xfrm>
        </p:grpSpPr>
        <p:sp>
          <p:nvSpPr>
            <p:cNvPr id="23" name="TextBox 23"/>
            <p:cNvSpPr txBox="1"/>
            <p:nvPr/>
          </p:nvSpPr>
          <p:spPr>
            <a:xfrm>
              <a:off x="5547741" y="6589649"/>
              <a:ext cx="93620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CONCLUSION</a:t>
              </a:r>
            </a:p>
          </p:txBody>
        </p:sp>
      </p:grpSp>
      <p:grpSp>
        <p:nvGrpSpPr>
          <p:cNvPr id="26" name="source-1"/>
          <p:cNvGrpSpPr/>
          <p:nvPr/>
        </p:nvGrpSpPr>
        <p:grpSpPr>
          <a:xfrm>
            <a:off x="7614666" y="6532499"/>
            <a:ext cx="890010" cy="205359"/>
            <a:chOff x="7614666" y="6532499"/>
            <a:chExt cx="890010" cy="205359"/>
          </a:xfrm>
        </p:grpSpPr>
        <p:sp>
          <p:nvSpPr>
            <p:cNvPr id="25" name="TextBox 25"/>
            <p:cNvSpPr txBox="1"/>
            <p:nvPr/>
          </p:nvSpPr>
          <p:spPr>
            <a:xfrm>
              <a:off x="7614666" y="6532499"/>
              <a:ext cx="890010"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Report Fig. 30</a:t>
              </a:r>
            </a:p>
          </p:txBody>
        </p:sp>
      </p:grpSp>
      <p:grpSp>
        <p:nvGrpSpPr>
          <p:cNvPr id="28" name="source-2"/>
          <p:cNvGrpSpPr/>
          <p:nvPr/>
        </p:nvGrpSpPr>
        <p:grpSpPr>
          <a:xfrm>
            <a:off x="393954" y="6096381"/>
            <a:ext cx="5207528" cy="234696"/>
            <a:chOff x="393954" y="6096381"/>
            <a:chExt cx="5207528" cy="234696"/>
          </a:xfrm>
        </p:grpSpPr>
        <p:sp>
          <p:nvSpPr>
            <p:cNvPr id="27" name="TextBox 27"/>
            <p:cNvSpPr txBox="1"/>
            <p:nvPr/>
          </p:nvSpPr>
          <p:spPr>
            <a:xfrm>
              <a:off x="393954" y="6096381"/>
              <a:ext cx="5207528" cy="234696"/>
            </a:xfrm>
            <a:prstGeom prst="rect">
              <a:avLst/>
            </a:prstGeom>
            <a:noFill/>
            <a:ln>
              <a:noFill/>
            </a:ln>
          </p:spPr>
          <p:txBody>
            <a:bodyPr wrap="none" lIns="0" tIns="0" rIns="0" bIns="0" anchor="t" anchorCtr="0">
              <a:spAutoFit/>
            </a:bodyPr>
            <a:lstStyle/>
            <a:p>
              <a:pPr algn="l"/>
              <a:r>
                <a:rPr lang="en-IN" sz="1200" dirty="0">
                  <a:solidFill>
                    <a:srgbClr val="536878"/>
                  </a:solidFill>
                  <a:latin typeface="Segoe UI"/>
                  <a:ea typeface="Segoe UI"/>
                  <a:cs typeface="Segoe UI"/>
                </a:rPr>
                <a:t>Hot: Tmax ≥35°C / Dry: rain &lt;1 mm per day / Different legends and units</a:t>
              </a:r>
            </a:p>
          </p:txBody>
        </p:sp>
      </p:grpSp>
      <p:grpSp>
        <p:nvGrpSpPr>
          <p:cNvPr id="30" name="persistence-1"/>
          <p:cNvGrpSpPr/>
          <p:nvPr/>
        </p:nvGrpSpPr>
        <p:grpSpPr>
          <a:xfrm>
            <a:off x="756571" y="1905000"/>
            <a:ext cx="10583704" cy="3257550"/>
            <a:chOff x="756571" y="1905000"/>
            <a:chExt cx="10583704" cy="3257550"/>
          </a:xfrm>
        </p:grpSpPr>
        <p:pic>
          <p:nvPicPr>
            <p:cNvPr id="29" name="Image 29"/>
            <p:cNvPicPr>
              <a:picLocks noChangeAspect="1"/>
            </p:cNvPicPr>
            <p:nvPr/>
          </p:nvPicPr>
          <p:blipFill>
            <a:blip r:embed="rId2"/>
            <a:stretch>
              <a:fillRect/>
            </a:stretch>
          </p:blipFill>
          <p:spPr>
            <a:xfrm>
              <a:off x="756571" y="1905000"/>
              <a:ext cx="10583704" cy="3257550"/>
            </a:xfrm>
            <a:prstGeom prst="rect">
              <a:avLst/>
            </a:prstGeom>
          </p:spPr>
        </p:pic>
      </p:grpSp>
      <p:grpSp>
        <p:nvGrpSpPr>
          <p:cNvPr id="32" name="annotation-1"/>
          <p:cNvGrpSpPr/>
          <p:nvPr/>
        </p:nvGrpSpPr>
        <p:grpSpPr>
          <a:xfrm>
            <a:off x="390906" y="5310759"/>
            <a:ext cx="1552329" cy="352044"/>
            <a:chOff x="390906" y="5310759"/>
            <a:chExt cx="1552329" cy="352044"/>
          </a:xfrm>
        </p:grpSpPr>
        <p:sp>
          <p:nvSpPr>
            <p:cNvPr id="31" name="TextBox 31"/>
            <p:cNvSpPr txBox="1"/>
            <p:nvPr/>
          </p:nvSpPr>
          <p:spPr>
            <a:xfrm>
              <a:off x="390906" y="5310759"/>
              <a:ext cx="1552329" cy="352044"/>
            </a:xfrm>
            <a:prstGeom prst="rect">
              <a:avLst/>
            </a:prstGeom>
            <a:noFill/>
            <a:ln>
              <a:noFill/>
            </a:ln>
          </p:spPr>
          <p:txBody>
            <a:bodyPr wrap="none" lIns="0" tIns="0" rIns="0" bIns="0" anchor="t" anchorCtr="0">
              <a:spAutoFit/>
            </a:bodyPr>
            <a:lstStyle/>
            <a:p>
              <a:pPr algn="l"/>
              <a:r>
                <a:rPr lang="en-IN" sz="1800" b="1" dirty="0">
                  <a:solidFill>
                    <a:srgbClr val="087F83"/>
                  </a:solidFill>
                  <a:latin typeface="Segoe UI"/>
                  <a:ea typeface="Segoe UI"/>
                  <a:cs typeface="Segoe UI"/>
                </a:rPr>
                <a:t>HOW OFTEN</a:t>
              </a:r>
            </a:p>
          </p:txBody>
        </p:sp>
      </p:grpSp>
      <p:grpSp>
        <p:nvGrpSpPr>
          <p:cNvPr id="34" name="annotation-2"/>
          <p:cNvGrpSpPr/>
          <p:nvPr/>
        </p:nvGrpSpPr>
        <p:grpSpPr>
          <a:xfrm>
            <a:off x="6229731" y="5310759"/>
            <a:ext cx="3865322" cy="352044"/>
            <a:chOff x="6229731" y="5310759"/>
            <a:chExt cx="3865322" cy="352044"/>
          </a:xfrm>
        </p:grpSpPr>
        <p:sp>
          <p:nvSpPr>
            <p:cNvPr id="33" name="TextBox 33"/>
            <p:cNvSpPr txBox="1"/>
            <p:nvPr/>
          </p:nvSpPr>
          <p:spPr>
            <a:xfrm>
              <a:off x="6229731" y="5310759"/>
              <a:ext cx="3865322" cy="352044"/>
            </a:xfrm>
            <a:prstGeom prst="rect">
              <a:avLst/>
            </a:prstGeom>
            <a:noFill/>
            <a:ln>
              <a:noFill/>
            </a:ln>
          </p:spPr>
          <p:txBody>
            <a:bodyPr wrap="none" lIns="0" tIns="0" rIns="0" bIns="0" anchor="t" anchorCtr="0">
              <a:spAutoFit/>
            </a:bodyPr>
            <a:lstStyle/>
            <a:p>
              <a:pPr algn="l"/>
              <a:r>
                <a:rPr lang="en-IN" sz="1800" b="1" dirty="0">
                  <a:solidFill>
                    <a:srgbClr val="087F83"/>
                  </a:solidFill>
                  <a:latin typeface="Segoe UI"/>
                  <a:ea typeface="Segoe UI"/>
                  <a:cs typeface="Segoe UI"/>
                </a:rPr>
                <a:t>HOW LONG WITHOUT A BREAK</a:t>
              </a:r>
            </a:p>
          </p:txBody>
        </p:sp>
      </p:grpSp>
      <p:grpSp>
        <p:nvGrpSpPr>
          <p:cNvPr id="36" name="finding-1"/>
          <p:cNvGrpSpPr/>
          <p:nvPr/>
        </p:nvGrpSpPr>
        <p:grpSpPr>
          <a:xfrm>
            <a:off x="392430" y="5694045"/>
            <a:ext cx="3025338" cy="293370"/>
            <a:chOff x="392430" y="5694045"/>
            <a:chExt cx="3025338" cy="293370"/>
          </a:xfrm>
        </p:grpSpPr>
        <p:sp>
          <p:nvSpPr>
            <p:cNvPr id="35" name="TextBox 35"/>
            <p:cNvSpPr txBox="1"/>
            <p:nvPr/>
          </p:nvSpPr>
          <p:spPr>
            <a:xfrm>
              <a:off x="392430" y="5694045"/>
              <a:ext cx="3025338" cy="293370"/>
            </a:xfrm>
            <a:prstGeom prst="rect">
              <a:avLst/>
            </a:prstGeom>
            <a:noFill/>
            <a:ln>
              <a:noFill/>
            </a:ln>
          </p:spPr>
          <p:txBody>
            <a:bodyPr wrap="none" lIns="0" tIns="0" rIns="0" bIns="0" anchor="t" anchorCtr="0">
              <a:spAutoFit/>
            </a:bodyPr>
            <a:lstStyle/>
            <a:p>
              <a:pPr algn="l"/>
              <a:r>
                <a:rPr lang="en-IN" sz="1500" dirty="0">
                  <a:solidFill>
                    <a:srgbClr val="102638"/>
                  </a:solidFill>
                  <a:latin typeface="Segoe UI"/>
                  <a:ea typeface="Segoe UI"/>
                  <a:cs typeface="Segoe UI"/>
                </a:rPr>
                <a:t>Frequency counts qualifying days.</a:t>
              </a:r>
            </a:p>
          </p:txBody>
        </p:sp>
      </p:grpSp>
      <p:grpSp>
        <p:nvGrpSpPr>
          <p:cNvPr id="38" name="finding-2"/>
          <p:cNvGrpSpPr/>
          <p:nvPr/>
        </p:nvGrpSpPr>
        <p:grpSpPr>
          <a:xfrm>
            <a:off x="6231255" y="5694045"/>
            <a:ext cx="3709376" cy="293370"/>
            <a:chOff x="6231255" y="5694045"/>
            <a:chExt cx="3709376" cy="293370"/>
          </a:xfrm>
        </p:grpSpPr>
        <p:sp>
          <p:nvSpPr>
            <p:cNvPr id="37" name="TextBox 37"/>
            <p:cNvSpPr txBox="1"/>
            <p:nvPr/>
          </p:nvSpPr>
          <p:spPr>
            <a:xfrm>
              <a:off x="6231255" y="5694045"/>
              <a:ext cx="3709376" cy="293370"/>
            </a:xfrm>
            <a:prstGeom prst="rect">
              <a:avLst/>
            </a:prstGeom>
            <a:noFill/>
            <a:ln>
              <a:noFill/>
            </a:ln>
          </p:spPr>
          <p:txBody>
            <a:bodyPr wrap="none" lIns="0" tIns="0" rIns="0" bIns="0" anchor="t" anchorCtr="0">
              <a:spAutoFit/>
            </a:bodyPr>
            <a:lstStyle/>
            <a:p>
              <a:pPr algn="l"/>
              <a:r>
                <a:rPr lang="en-IN" sz="1500" dirty="0">
                  <a:solidFill>
                    <a:srgbClr val="102638"/>
                  </a:solidFill>
                  <a:latin typeface="Segoe UI"/>
                  <a:ea typeface="Segoe UI"/>
                  <a:cs typeface="Segoe UI"/>
                </a:rPr>
                <a:t>Longest local run: 67 days in this window.</a:t>
              </a:r>
            </a:p>
          </p:txBody>
        </p:sp>
      </p:grpSp>
    </p:spTree>
  </p:cSld>
  <p:clrMapOvr>
    <a:masterClrMapping/>
  </p:clrMapOvr>
  <p:transition xmlns:p14="http://schemas.microsoft.com/office/powerpoint/2010/main" p14:dur="3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background-1"/>
          <p:cNvSpPr/>
          <p:nvPr/>
        </p:nvSpPr>
        <p:spPr>
          <a:xfrm>
            <a:off x="0" y="0"/>
            <a:ext cx="114300" cy="6858000"/>
          </a:xfrm>
          <a:prstGeom prst="rect">
            <a:avLst/>
          </a:prstGeom>
          <a:solidFill>
            <a:srgbClr val="D65B32"/>
          </a:solidFill>
          <a:ln>
            <a:noFill/>
          </a:ln>
        </p:spPr>
      </p:sp>
      <p:sp>
        <p:nvSpPr>
          <p:cNvPr id="3" name="background-2"/>
          <p:cNvSpPr/>
          <p:nvPr/>
        </p:nvSpPr>
        <p:spPr>
          <a:xfrm>
            <a:off x="381000" y="6486525"/>
            <a:ext cx="1609725" cy="38100"/>
          </a:xfrm>
          <a:prstGeom prst="rect">
            <a:avLst/>
          </a:prstGeom>
          <a:solidFill>
            <a:srgbClr val="CFD8D7"/>
          </a:solidFill>
          <a:ln>
            <a:noFill/>
          </a:ln>
        </p:spPr>
      </p:sp>
      <p:sp>
        <p:nvSpPr>
          <p:cNvPr id="4" name="background-3"/>
          <p:cNvSpPr/>
          <p:nvPr/>
        </p:nvSpPr>
        <p:spPr>
          <a:xfrm>
            <a:off x="2105025" y="6486525"/>
            <a:ext cx="1609725" cy="38100"/>
          </a:xfrm>
          <a:prstGeom prst="rect">
            <a:avLst/>
          </a:prstGeom>
          <a:solidFill>
            <a:srgbClr val="087F83"/>
          </a:solidFill>
          <a:ln>
            <a:noFill/>
          </a:ln>
        </p:spPr>
      </p:sp>
      <p:sp>
        <p:nvSpPr>
          <p:cNvPr id="5" name="background-4"/>
          <p:cNvSpPr/>
          <p:nvPr/>
        </p:nvSpPr>
        <p:spPr>
          <a:xfrm>
            <a:off x="3829050" y="6486525"/>
            <a:ext cx="1609725" cy="38100"/>
          </a:xfrm>
          <a:prstGeom prst="rect">
            <a:avLst/>
          </a:prstGeom>
          <a:solidFill>
            <a:srgbClr val="CFD8D7"/>
          </a:solidFill>
          <a:ln>
            <a:noFill/>
          </a:ln>
        </p:spPr>
      </p:sp>
      <p:sp>
        <p:nvSpPr>
          <p:cNvPr id="6" name="background-5"/>
          <p:cNvSpPr/>
          <p:nvPr/>
        </p:nvSpPr>
        <p:spPr>
          <a:xfrm>
            <a:off x="5553075" y="6486525"/>
            <a:ext cx="1609725" cy="38100"/>
          </a:xfrm>
          <a:prstGeom prst="rect">
            <a:avLst/>
          </a:prstGeom>
          <a:solidFill>
            <a:srgbClr val="CFD8D7"/>
          </a:solidFill>
          <a:ln>
            <a:noFill/>
          </a:ln>
        </p:spPr>
      </p:sp>
      <p:sp>
        <p:nvSpPr>
          <p:cNvPr id="7" name="background-6"/>
          <p:cNvSpPr/>
          <p:nvPr/>
        </p:nvSpPr>
        <p:spPr>
          <a:xfrm>
            <a:off x="381000" y="2200275"/>
            <a:ext cx="4933950" cy="3333750"/>
          </a:xfrm>
          <a:prstGeom prst="rect">
            <a:avLst/>
          </a:prstGeom>
          <a:solidFill>
            <a:srgbClr val="FFFFFF"/>
          </a:solidFill>
          <a:ln>
            <a:noFill/>
          </a:ln>
        </p:spPr>
      </p:sp>
      <p:sp>
        <p:nvSpPr>
          <p:cNvPr id="8" name="background-7"/>
          <p:cNvSpPr/>
          <p:nvPr/>
        </p:nvSpPr>
        <p:spPr>
          <a:xfrm>
            <a:off x="5524500" y="2200275"/>
            <a:ext cx="4933950" cy="3333750"/>
          </a:xfrm>
          <a:prstGeom prst="rect">
            <a:avLst/>
          </a:prstGeom>
          <a:solidFill>
            <a:srgbClr val="FFFFFF"/>
          </a:solidFill>
          <a:ln>
            <a:noFill/>
          </a:ln>
        </p:spPr>
      </p:sp>
      <p:sp>
        <p:nvSpPr>
          <p:cNvPr id="9" name="background-8"/>
          <p:cNvSpPr/>
          <p:nvPr/>
        </p:nvSpPr>
        <p:spPr>
          <a:xfrm>
            <a:off x="10648950" y="2200275"/>
            <a:ext cx="1066800" cy="3333750"/>
          </a:xfrm>
          <a:prstGeom prst="rect">
            <a:avLst/>
          </a:prstGeom>
          <a:solidFill>
            <a:srgbClr val="FFFFFF"/>
          </a:solidFill>
          <a:ln>
            <a:noFill/>
          </a:ln>
        </p:spPr>
      </p:sp>
      <p:grpSp>
        <p:nvGrpSpPr>
          <p:cNvPr id="11" name="chapter-1"/>
          <p:cNvGrpSpPr/>
          <p:nvPr/>
        </p:nvGrpSpPr>
        <p:grpSpPr>
          <a:xfrm>
            <a:off x="374904" y="209931"/>
            <a:ext cx="827603" cy="234696"/>
            <a:chOff x="374904" y="209931"/>
            <a:chExt cx="827603" cy="234696"/>
          </a:xfrm>
        </p:grpSpPr>
        <p:sp>
          <p:nvSpPr>
            <p:cNvPr id="10" name="TextBox 10"/>
            <p:cNvSpPr txBox="1"/>
            <p:nvPr/>
          </p:nvSpPr>
          <p:spPr>
            <a:xfrm>
              <a:off x="374904" y="209931"/>
              <a:ext cx="827603" cy="234696"/>
            </a:xfrm>
            <a:prstGeom prst="rect">
              <a:avLst/>
            </a:prstGeom>
            <a:noFill/>
            <a:ln>
              <a:noFill/>
            </a:ln>
          </p:spPr>
          <p:txBody>
            <a:bodyPr wrap="none" lIns="0" tIns="0" rIns="0" bIns="0" anchor="t" anchorCtr="0">
              <a:spAutoFit/>
            </a:bodyPr>
            <a:lstStyle/>
            <a:p>
              <a:pPr algn="l"/>
              <a:r>
                <a:rPr lang="en-IN" sz="1200" b="1" dirty="0">
                  <a:solidFill>
                    <a:srgbClr val="087F83"/>
                  </a:solidFill>
                  <a:latin typeface="Segoe UI"/>
                  <a:ea typeface="Segoe UI"/>
                  <a:cs typeface="Segoe UI"/>
                </a:rPr>
                <a:t>WEATHER</a:t>
              </a:r>
            </a:p>
          </p:txBody>
        </p:sp>
      </p:grpSp>
      <p:grpSp>
        <p:nvGrpSpPr>
          <p:cNvPr id="13" name="chapter-2"/>
          <p:cNvGrpSpPr/>
          <p:nvPr/>
        </p:nvGrpSpPr>
        <p:grpSpPr>
          <a:xfrm>
            <a:off x="11042904" y="219456"/>
            <a:ext cx="511993" cy="234696"/>
            <a:chOff x="11042904" y="219456"/>
            <a:chExt cx="511993" cy="234696"/>
          </a:xfrm>
        </p:grpSpPr>
        <p:sp>
          <p:nvSpPr>
            <p:cNvPr id="12" name="TextBox 12"/>
            <p:cNvSpPr txBox="1"/>
            <p:nvPr/>
          </p:nvSpPr>
          <p:spPr>
            <a:xfrm>
              <a:off x="11042904" y="219456"/>
              <a:ext cx="511993" cy="234696"/>
            </a:xfrm>
            <a:prstGeom prst="rect">
              <a:avLst/>
            </a:prstGeom>
            <a:noFill/>
            <a:ln>
              <a:noFill/>
            </a:ln>
          </p:spPr>
          <p:txBody>
            <a:bodyPr wrap="none" lIns="0" tIns="0" rIns="0" bIns="0" anchor="t" anchorCtr="0">
              <a:spAutoFit/>
            </a:bodyPr>
            <a:lstStyle/>
            <a:p>
              <a:pPr algn="l"/>
              <a:r>
                <a:rPr lang="en-IN" sz="1200" dirty="0">
                  <a:solidFill>
                    <a:srgbClr val="536878"/>
                  </a:solidFill>
                  <a:latin typeface="Segoe UI"/>
                  <a:ea typeface="Segoe UI"/>
                  <a:cs typeface="Segoe UI"/>
                </a:rPr>
                <a:t>12 / 14</a:t>
              </a:r>
            </a:p>
          </p:txBody>
        </p:sp>
      </p:grpSp>
      <p:grpSp>
        <p:nvGrpSpPr>
          <p:cNvPr id="15" name="title-1"/>
          <p:cNvGrpSpPr/>
          <p:nvPr/>
        </p:nvGrpSpPr>
        <p:grpSpPr>
          <a:xfrm>
            <a:off x="364236" y="616204"/>
            <a:ext cx="9239741" cy="645414"/>
            <a:chOff x="364236" y="616204"/>
            <a:chExt cx="9239741" cy="645414"/>
          </a:xfrm>
        </p:grpSpPr>
        <p:sp>
          <p:nvSpPr>
            <p:cNvPr id="14" name="TextBox 14"/>
            <p:cNvSpPr txBox="1"/>
            <p:nvPr/>
          </p:nvSpPr>
          <p:spPr>
            <a:xfrm>
              <a:off x="364236" y="616204"/>
              <a:ext cx="9239741" cy="645414"/>
            </a:xfrm>
            <a:prstGeom prst="rect">
              <a:avLst/>
            </a:prstGeom>
            <a:noFill/>
            <a:ln>
              <a:noFill/>
            </a:ln>
          </p:spPr>
          <p:txBody>
            <a:bodyPr wrap="none" lIns="0" tIns="0" rIns="0" bIns="0" anchor="t" anchorCtr="0">
              <a:spAutoFit/>
            </a:bodyPr>
            <a:lstStyle/>
            <a:p>
              <a:pPr algn="l"/>
              <a:r>
                <a:rPr lang="en-IN" sz="3300" b="1" dirty="0">
                  <a:solidFill>
                    <a:srgbClr val="102638"/>
                  </a:solidFill>
                  <a:latin typeface="Segoe UI"/>
                  <a:ea typeface="Segoe UI"/>
                  <a:cs typeface="Segoe UI"/>
                </a:rPr>
                <a:t>Arrow length changes the pattern we notice</a:t>
              </a:r>
            </a:p>
          </p:txBody>
        </p:sp>
      </p:grpSp>
      <p:grpSp>
        <p:nvGrpSpPr>
          <p:cNvPr id="17" name="question-1"/>
          <p:cNvGrpSpPr/>
          <p:nvPr/>
        </p:nvGrpSpPr>
        <p:grpSpPr>
          <a:xfrm>
            <a:off x="392430" y="1169670"/>
            <a:ext cx="4874075" cy="293370"/>
            <a:chOff x="392430" y="1169670"/>
            <a:chExt cx="4874075" cy="293370"/>
          </a:xfrm>
        </p:grpSpPr>
        <p:sp>
          <p:nvSpPr>
            <p:cNvPr id="16" name="TextBox 16"/>
            <p:cNvSpPr txBox="1"/>
            <p:nvPr/>
          </p:nvSpPr>
          <p:spPr>
            <a:xfrm>
              <a:off x="392430" y="1169670"/>
              <a:ext cx="4874075" cy="293370"/>
            </a:xfrm>
            <a:prstGeom prst="rect">
              <a:avLst/>
            </a:prstGeom>
            <a:noFill/>
            <a:ln>
              <a:noFill/>
            </a:ln>
          </p:spPr>
          <p:txBody>
            <a:bodyPr wrap="none" lIns="0" tIns="0" rIns="0" bIns="0" anchor="t" anchorCtr="0">
              <a:spAutoFit/>
            </a:bodyPr>
            <a:lstStyle/>
            <a:p>
              <a:pPr algn="l"/>
              <a:r>
                <a:rPr lang="en-IN" sz="1500" dirty="0">
                  <a:solidFill>
                    <a:srgbClr val="536878"/>
                  </a:solidFill>
                  <a:latin typeface="Segoe UI"/>
                  <a:ea typeface="Segoe UI"/>
                  <a:cs typeface="Segoe UI"/>
                </a:rPr>
                <a:t>Same field • same sampled locations • 22 August 2023</a:t>
              </a:r>
            </a:p>
          </p:txBody>
        </p:sp>
      </p:grpSp>
      <p:sp>
        <p:nvSpPr>
          <p:cNvPr id="18" name="Line 18"/>
          <p:cNvSpPr/>
          <p:nvPr/>
        </p:nvSpPr>
        <p:spPr>
          <a:xfrm>
            <a:off x="381000" y="1571625"/>
            <a:ext cx="11334750" cy="9525"/>
          </a:xfrm>
          <a:custGeom>
            <a:avLst/>
            <a:gdLst/>
            <a:ahLst/>
            <a:cxnLst/>
            <a:rect l="l" t="t" r="r" b="b"/>
            <a:pathLst>
              <a:path w="11334750" h="9525">
                <a:moveTo>
                  <a:pt x="0" y="0"/>
                </a:moveTo>
                <a:lnTo>
                  <a:pt x="11334750" y="0"/>
                </a:lnTo>
              </a:path>
            </a:pathLst>
          </a:custGeom>
          <a:noFill/>
          <a:ln w="9525">
            <a:solidFill>
              <a:srgbClr val="B8C6CA"/>
            </a:solidFill>
          </a:ln>
        </p:spPr>
      </p:sp>
      <p:grpSp>
        <p:nvGrpSpPr>
          <p:cNvPr id="20" name="progress-1"/>
          <p:cNvGrpSpPr/>
          <p:nvPr/>
        </p:nvGrpSpPr>
        <p:grpSpPr>
          <a:xfrm>
            <a:off x="375666" y="6589649"/>
            <a:ext cx="723062" cy="205359"/>
            <a:chOff x="375666" y="6589649"/>
            <a:chExt cx="723062" cy="205359"/>
          </a:xfrm>
        </p:grpSpPr>
        <p:sp>
          <p:nvSpPr>
            <p:cNvPr id="19" name="TextBox 19"/>
            <p:cNvSpPr txBox="1"/>
            <p:nvPr/>
          </p:nvSpPr>
          <p:spPr>
            <a:xfrm>
              <a:off x="375666" y="6589649"/>
              <a:ext cx="72306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QUESTION</a:t>
              </a:r>
            </a:p>
          </p:txBody>
        </p:sp>
      </p:grpSp>
      <p:grpSp>
        <p:nvGrpSpPr>
          <p:cNvPr id="22" name="progress-2"/>
          <p:cNvGrpSpPr/>
          <p:nvPr/>
        </p:nvGrpSpPr>
        <p:grpSpPr>
          <a:xfrm>
            <a:off x="2099691" y="6589649"/>
            <a:ext cx="1135453" cy="205359"/>
            <a:chOff x="2099691" y="6589649"/>
            <a:chExt cx="1135453" cy="205359"/>
          </a:xfrm>
        </p:grpSpPr>
        <p:sp>
          <p:nvSpPr>
            <p:cNvPr id="21" name="TextBox 21"/>
            <p:cNvSpPr txBox="1"/>
            <p:nvPr/>
          </p:nvSpPr>
          <p:spPr>
            <a:xfrm>
              <a:off x="2099691" y="6589649"/>
              <a:ext cx="1135453" cy="205359"/>
            </a:xfrm>
            <a:prstGeom prst="rect">
              <a:avLst/>
            </a:prstGeom>
            <a:noFill/>
            <a:ln>
              <a:noFill/>
            </a:ln>
          </p:spPr>
          <p:txBody>
            <a:bodyPr wrap="none" lIns="0" tIns="0" rIns="0" bIns="0" anchor="t" anchorCtr="0">
              <a:spAutoFit/>
            </a:bodyPr>
            <a:lstStyle/>
            <a:p>
              <a:pPr algn="l"/>
              <a:r>
                <a:rPr lang="en-IN" sz="1050" b="1" dirty="0">
                  <a:solidFill>
                    <a:srgbClr val="102638"/>
                  </a:solidFill>
                  <a:latin typeface="Segoe UI"/>
                  <a:ea typeface="Segoe UI"/>
                  <a:cs typeface="Segoe UI"/>
                </a:rPr>
                <a:t>READ THE PLOT</a:t>
              </a:r>
            </a:p>
          </p:txBody>
        </p:sp>
      </p:grpSp>
      <p:grpSp>
        <p:nvGrpSpPr>
          <p:cNvPr id="24" name="progress-3"/>
          <p:cNvGrpSpPr/>
          <p:nvPr/>
        </p:nvGrpSpPr>
        <p:grpSpPr>
          <a:xfrm>
            <a:off x="3823716" y="6589649"/>
            <a:ext cx="678749" cy="205359"/>
            <a:chOff x="3823716" y="6589649"/>
            <a:chExt cx="678749" cy="205359"/>
          </a:xfrm>
        </p:grpSpPr>
        <p:sp>
          <p:nvSpPr>
            <p:cNvPr id="23" name="TextBox 23"/>
            <p:cNvSpPr txBox="1"/>
            <p:nvPr/>
          </p:nvSpPr>
          <p:spPr>
            <a:xfrm>
              <a:off x="3823716" y="6589649"/>
              <a:ext cx="678749"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EVIDENCE</a:t>
              </a:r>
            </a:p>
          </p:txBody>
        </p:sp>
      </p:grpSp>
      <p:grpSp>
        <p:nvGrpSpPr>
          <p:cNvPr id="26" name="progress-4"/>
          <p:cNvGrpSpPr/>
          <p:nvPr/>
        </p:nvGrpSpPr>
        <p:grpSpPr>
          <a:xfrm>
            <a:off x="5547741" y="6589649"/>
            <a:ext cx="936202" cy="205359"/>
            <a:chOff x="5547741" y="6589649"/>
            <a:chExt cx="936202" cy="205359"/>
          </a:xfrm>
        </p:grpSpPr>
        <p:sp>
          <p:nvSpPr>
            <p:cNvPr id="25" name="TextBox 25"/>
            <p:cNvSpPr txBox="1"/>
            <p:nvPr/>
          </p:nvSpPr>
          <p:spPr>
            <a:xfrm>
              <a:off x="5547741" y="6589649"/>
              <a:ext cx="936202"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CONCLUSION</a:t>
              </a:r>
            </a:p>
          </p:txBody>
        </p:sp>
      </p:grpSp>
      <p:grpSp>
        <p:nvGrpSpPr>
          <p:cNvPr id="28" name="source-1"/>
          <p:cNvGrpSpPr/>
          <p:nvPr/>
        </p:nvGrpSpPr>
        <p:grpSpPr>
          <a:xfrm>
            <a:off x="7614666" y="6532499"/>
            <a:ext cx="890010" cy="205359"/>
            <a:chOff x="7614666" y="6532499"/>
            <a:chExt cx="890010" cy="205359"/>
          </a:xfrm>
        </p:grpSpPr>
        <p:sp>
          <p:nvSpPr>
            <p:cNvPr id="27" name="TextBox 27"/>
            <p:cNvSpPr txBox="1"/>
            <p:nvPr/>
          </p:nvSpPr>
          <p:spPr>
            <a:xfrm>
              <a:off x="7614666" y="6532499"/>
              <a:ext cx="890010" cy="205359"/>
            </a:xfrm>
            <a:prstGeom prst="rect">
              <a:avLst/>
            </a:prstGeom>
            <a:noFill/>
            <a:ln>
              <a:noFill/>
            </a:ln>
          </p:spPr>
          <p:txBody>
            <a:bodyPr wrap="none" lIns="0" tIns="0" rIns="0" bIns="0" anchor="t" anchorCtr="0">
              <a:spAutoFit/>
            </a:bodyPr>
            <a:lstStyle/>
            <a:p>
              <a:pPr algn="l"/>
              <a:r>
                <a:rPr lang="en-IN" sz="1050" dirty="0">
                  <a:solidFill>
                    <a:srgbClr val="536878"/>
                  </a:solidFill>
                  <a:latin typeface="Segoe UI"/>
                  <a:ea typeface="Segoe UI"/>
                  <a:cs typeface="Segoe UI"/>
                </a:rPr>
                <a:t>Report Fig. 26</a:t>
              </a:r>
            </a:p>
          </p:txBody>
        </p:sp>
      </p:grpSp>
      <p:grpSp>
        <p:nvGrpSpPr>
          <p:cNvPr id="30" name="labels-1"/>
          <p:cNvGrpSpPr/>
          <p:nvPr/>
        </p:nvGrpSpPr>
        <p:grpSpPr>
          <a:xfrm>
            <a:off x="371856" y="1805559"/>
            <a:ext cx="2100238" cy="352044"/>
            <a:chOff x="371856" y="1805559"/>
            <a:chExt cx="2100238" cy="352044"/>
          </a:xfrm>
        </p:grpSpPr>
        <p:sp>
          <p:nvSpPr>
            <p:cNvPr id="29" name="TextBox 29"/>
            <p:cNvSpPr txBox="1"/>
            <p:nvPr/>
          </p:nvSpPr>
          <p:spPr>
            <a:xfrm>
              <a:off x="371856" y="1805559"/>
              <a:ext cx="2100238" cy="352044"/>
            </a:xfrm>
            <a:prstGeom prst="rect">
              <a:avLst/>
            </a:prstGeom>
            <a:noFill/>
            <a:ln>
              <a:noFill/>
            </a:ln>
          </p:spPr>
          <p:txBody>
            <a:bodyPr wrap="none" lIns="0" tIns="0" rIns="0" bIns="0" anchor="t" anchorCtr="0">
              <a:spAutoFit/>
            </a:bodyPr>
            <a:lstStyle/>
            <a:p>
              <a:pPr algn="l"/>
              <a:r>
                <a:rPr lang="en-IN" sz="1800" b="1" dirty="0">
                  <a:solidFill>
                    <a:srgbClr val="087F83"/>
                  </a:solidFill>
                  <a:latin typeface="Segoe UI"/>
                  <a:ea typeface="Segoe UI"/>
                  <a:cs typeface="Segoe UI"/>
                </a:rPr>
                <a:t>LENGTH = SPEED</a:t>
              </a:r>
            </a:p>
          </p:txBody>
        </p:sp>
      </p:grpSp>
      <p:grpSp>
        <p:nvGrpSpPr>
          <p:cNvPr id="32" name="labels-2"/>
          <p:cNvGrpSpPr/>
          <p:nvPr/>
        </p:nvGrpSpPr>
        <p:grpSpPr>
          <a:xfrm>
            <a:off x="5515356" y="1805559"/>
            <a:ext cx="2056456" cy="352044"/>
            <a:chOff x="5515356" y="1805559"/>
            <a:chExt cx="2056456" cy="352044"/>
          </a:xfrm>
        </p:grpSpPr>
        <p:sp>
          <p:nvSpPr>
            <p:cNvPr id="31" name="TextBox 31"/>
            <p:cNvSpPr txBox="1"/>
            <p:nvPr/>
          </p:nvSpPr>
          <p:spPr>
            <a:xfrm>
              <a:off x="5515356" y="1805559"/>
              <a:ext cx="2056456" cy="352044"/>
            </a:xfrm>
            <a:prstGeom prst="rect">
              <a:avLst/>
            </a:prstGeom>
            <a:noFill/>
            <a:ln>
              <a:noFill/>
            </a:ln>
          </p:spPr>
          <p:txBody>
            <a:bodyPr wrap="none" lIns="0" tIns="0" rIns="0" bIns="0" anchor="t" anchorCtr="0">
              <a:spAutoFit/>
            </a:bodyPr>
            <a:lstStyle/>
            <a:p>
              <a:pPr algn="l"/>
              <a:r>
                <a:rPr lang="en-IN" sz="1800" b="1" dirty="0">
                  <a:solidFill>
                    <a:srgbClr val="087F83"/>
                  </a:solidFill>
                  <a:latin typeface="Segoe UI"/>
                  <a:ea typeface="Segoe UI"/>
                  <a:cs typeface="Segoe UI"/>
                </a:rPr>
                <a:t>EQUAL LENGTHS</a:t>
              </a:r>
            </a:p>
          </p:txBody>
        </p:sp>
      </p:grpSp>
      <p:grpSp>
        <p:nvGrpSpPr>
          <p:cNvPr id="34" name="wind-1"/>
          <p:cNvGrpSpPr/>
          <p:nvPr/>
        </p:nvGrpSpPr>
        <p:grpSpPr>
          <a:xfrm>
            <a:off x="1147191" y="2238375"/>
            <a:ext cx="3401473" cy="3257550"/>
            <a:chOff x="1147191" y="2238375"/>
            <a:chExt cx="3401473" cy="3257550"/>
          </a:xfrm>
        </p:grpSpPr>
        <p:pic>
          <p:nvPicPr>
            <p:cNvPr id="33" name="Image 33"/>
            <p:cNvPicPr>
              <a:picLocks noChangeAspect="1"/>
            </p:cNvPicPr>
            <p:nvPr/>
          </p:nvPicPr>
          <p:blipFill>
            <a:blip r:embed="rId2"/>
            <a:stretch>
              <a:fillRect/>
            </a:stretch>
          </p:blipFill>
          <p:spPr>
            <a:xfrm>
              <a:off x="1147191" y="2238375"/>
              <a:ext cx="3401473" cy="3257550"/>
            </a:xfrm>
            <a:prstGeom prst="rect">
              <a:avLst/>
            </a:prstGeom>
          </p:spPr>
        </p:pic>
      </p:grpSp>
      <p:grpSp>
        <p:nvGrpSpPr>
          <p:cNvPr id="36" name="wind-2"/>
          <p:cNvGrpSpPr/>
          <p:nvPr/>
        </p:nvGrpSpPr>
        <p:grpSpPr>
          <a:xfrm>
            <a:off x="6295358" y="2238375"/>
            <a:ext cx="3392329" cy="3257550"/>
            <a:chOff x="6295358" y="2238375"/>
            <a:chExt cx="3392329" cy="3257550"/>
          </a:xfrm>
        </p:grpSpPr>
        <p:pic>
          <p:nvPicPr>
            <p:cNvPr id="35" name="Image 35"/>
            <p:cNvPicPr>
              <a:picLocks noChangeAspect="1"/>
            </p:cNvPicPr>
            <p:nvPr/>
          </p:nvPicPr>
          <p:blipFill>
            <a:blip r:embed="rId3"/>
            <a:stretch>
              <a:fillRect/>
            </a:stretch>
          </p:blipFill>
          <p:spPr>
            <a:xfrm>
              <a:off x="6295358" y="2238375"/>
              <a:ext cx="3392329" cy="3257550"/>
            </a:xfrm>
            <a:prstGeom prst="rect">
              <a:avLst/>
            </a:prstGeom>
          </p:spPr>
        </p:pic>
      </p:grpSp>
      <p:grpSp>
        <p:nvGrpSpPr>
          <p:cNvPr id="38" name="key-1"/>
          <p:cNvGrpSpPr/>
          <p:nvPr/>
        </p:nvGrpSpPr>
        <p:grpSpPr>
          <a:xfrm>
            <a:off x="10963561" y="2247900"/>
            <a:ext cx="437578" cy="3238500"/>
            <a:chOff x="10963561" y="2247900"/>
            <a:chExt cx="437578" cy="3238500"/>
          </a:xfrm>
        </p:grpSpPr>
        <p:pic>
          <p:nvPicPr>
            <p:cNvPr id="37" name="Image 37"/>
            <p:cNvPicPr>
              <a:picLocks noChangeAspect="1"/>
            </p:cNvPicPr>
            <p:nvPr/>
          </p:nvPicPr>
          <p:blipFill>
            <a:blip r:embed="rId4"/>
            <a:stretch>
              <a:fillRect/>
            </a:stretch>
          </p:blipFill>
          <p:spPr>
            <a:xfrm>
              <a:off x="10963561" y="2247900"/>
              <a:ext cx="437578" cy="3238500"/>
            </a:xfrm>
            <a:prstGeom prst="rect">
              <a:avLst/>
            </a:prstGeom>
          </p:spPr>
        </p:pic>
      </p:grpSp>
      <p:grpSp>
        <p:nvGrpSpPr>
          <p:cNvPr id="40" name="annotation-1"/>
          <p:cNvGrpSpPr/>
          <p:nvPr/>
        </p:nvGrpSpPr>
        <p:grpSpPr>
          <a:xfrm>
            <a:off x="392430" y="5646420"/>
            <a:ext cx="2671215" cy="293370"/>
            <a:chOff x="392430" y="5646420"/>
            <a:chExt cx="2671215" cy="293370"/>
          </a:xfrm>
        </p:grpSpPr>
        <p:sp>
          <p:nvSpPr>
            <p:cNvPr id="39" name="TextBox 39"/>
            <p:cNvSpPr txBox="1"/>
            <p:nvPr/>
          </p:nvSpPr>
          <p:spPr>
            <a:xfrm>
              <a:off x="392430" y="5646420"/>
              <a:ext cx="2671215" cy="293370"/>
            </a:xfrm>
            <a:prstGeom prst="rect">
              <a:avLst/>
            </a:prstGeom>
            <a:noFill/>
            <a:ln>
              <a:noFill/>
            </a:ln>
          </p:spPr>
          <p:txBody>
            <a:bodyPr wrap="none" lIns="0" tIns="0" rIns="0" bIns="0" anchor="t" anchorCtr="0">
              <a:spAutoFit/>
            </a:bodyPr>
            <a:lstStyle/>
            <a:p>
              <a:pPr algn="l"/>
              <a:r>
                <a:rPr lang="en-IN" sz="1500" b="1" dirty="0">
                  <a:solidFill>
                    <a:srgbClr val="102638"/>
                  </a:solidFill>
                  <a:latin typeface="Segoe UI"/>
                  <a:ea typeface="Segoe UI"/>
                  <a:cs typeface="Segoe UI"/>
                </a:rPr>
                <a:t>Speed differences stand out</a:t>
              </a:r>
            </a:p>
          </p:txBody>
        </p:sp>
      </p:grpSp>
      <p:grpSp>
        <p:nvGrpSpPr>
          <p:cNvPr id="42" name="annotation-2"/>
          <p:cNvGrpSpPr/>
          <p:nvPr/>
        </p:nvGrpSpPr>
        <p:grpSpPr>
          <a:xfrm>
            <a:off x="5535930" y="5646420"/>
            <a:ext cx="3312404" cy="293370"/>
            <a:chOff x="5535930" y="5646420"/>
            <a:chExt cx="3312404" cy="293370"/>
          </a:xfrm>
        </p:grpSpPr>
        <p:sp>
          <p:nvSpPr>
            <p:cNvPr id="41" name="TextBox 41"/>
            <p:cNvSpPr txBox="1"/>
            <p:nvPr/>
          </p:nvSpPr>
          <p:spPr>
            <a:xfrm>
              <a:off x="5535930" y="5646420"/>
              <a:ext cx="3312404" cy="293370"/>
            </a:xfrm>
            <a:prstGeom prst="rect">
              <a:avLst/>
            </a:prstGeom>
            <a:noFill/>
            <a:ln>
              <a:noFill/>
            </a:ln>
          </p:spPr>
          <p:txBody>
            <a:bodyPr wrap="none" lIns="0" tIns="0" rIns="0" bIns="0" anchor="t" anchorCtr="0">
              <a:spAutoFit/>
            </a:bodyPr>
            <a:lstStyle/>
            <a:p>
              <a:pPr algn="l"/>
              <a:r>
                <a:rPr lang="en-IN" sz="1500" b="1" dirty="0">
                  <a:solidFill>
                    <a:srgbClr val="102638"/>
                  </a:solidFill>
                  <a:latin typeface="Segoe UI"/>
                  <a:ea typeface="Segoe UI"/>
                  <a:cs typeface="Segoe UI"/>
                </a:rPr>
                <a:t>Directions become easier to follow</a:t>
              </a:r>
            </a:p>
          </p:txBody>
        </p:sp>
      </p:grpSp>
      <p:grpSp>
        <p:nvGrpSpPr>
          <p:cNvPr id="44" name="conclusion-1"/>
          <p:cNvGrpSpPr/>
          <p:nvPr/>
        </p:nvGrpSpPr>
        <p:grpSpPr>
          <a:xfrm>
            <a:off x="390906" y="6072759"/>
            <a:ext cx="6606013" cy="352044"/>
            <a:chOff x="390906" y="6072759"/>
            <a:chExt cx="6606013" cy="352044"/>
          </a:xfrm>
        </p:grpSpPr>
        <p:sp>
          <p:nvSpPr>
            <p:cNvPr id="43" name="TextBox 43"/>
            <p:cNvSpPr txBox="1"/>
            <p:nvPr/>
          </p:nvSpPr>
          <p:spPr>
            <a:xfrm>
              <a:off x="390906" y="6072759"/>
              <a:ext cx="6606013" cy="352044"/>
            </a:xfrm>
            <a:prstGeom prst="rect">
              <a:avLst/>
            </a:prstGeom>
            <a:noFill/>
            <a:ln>
              <a:noFill/>
            </a:ln>
          </p:spPr>
          <p:txBody>
            <a:bodyPr wrap="none" lIns="0" tIns="0" rIns="0" bIns="0" anchor="t" anchorCtr="0">
              <a:spAutoFit/>
            </a:bodyPr>
            <a:lstStyle/>
            <a:p>
              <a:pPr algn="l"/>
              <a:r>
                <a:rPr lang="en-IN" sz="1800" b="1" dirty="0">
                  <a:solidFill>
                    <a:srgbClr val="087F83"/>
                  </a:solidFill>
                  <a:latin typeface="Segoe UI"/>
                  <a:ea typeface="Segoe UI"/>
                  <a:cs typeface="Segoe UI"/>
                </a:rPr>
                <a:t>Arrows show flow TO. Colour retains speed in both views.</a:t>
              </a:r>
            </a:p>
          </p:txBody>
        </p:sp>
      </p:grpSp>
    </p:spTree>
  </p:cSld>
  <p:clrMapOvr>
    <a:masterClrMapping/>
  </p:clrMapOvr>
  <p:transition xmlns:p14="http://schemas.microsoft.com/office/powerpoint/2010/main" p14:dur="3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638"/>
        </a:solidFill>
        <a:effectLst/>
      </p:bgPr>
    </p:bg>
    <p:spTree>
      <p:nvGrpSpPr>
        <p:cNvPr id="1" name=""/>
        <p:cNvGrpSpPr/>
        <p:nvPr/>
      </p:nvGrpSpPr>
      <p:grpSpPr>
        <a:xfrm>
          <a:off x="0" y="0"/>
          <a:ext cx="0" cy="0"/>
          <a:chOff x="0" y="0"/>
          <a:chExt cx="0" cy="0"/>
        </a:xfrm>
      </p:grpSpPr>
      <p:sp>
        <p:nvSpPr>
          <p:cNvPr id="2" name="background-1"/>
          <p:cNvSpPr/>
          <p:nvPr/>
        </p:nvSpPr>
        <p:spPr>
          <a:xfrm>
            <a:off x="0" y="0"/>
            <a:ext cx="114300" cy="6858000"/>
          </a:xfrm>
          <a:prstGeom prst="rect">
            <a:avLst/>
          </a:prstGeom>
          <a:solidFill>
            <a:srgbClr val="D65B32"/>
          </a:solidFill>
          <a:ln>
            <a:noFill/>
          </a:ln>
        </p:spPr>
      </p:sp>
      <p:sp>
        <p:nvSpPr>
          <p:cNvPr id="3" name="background-2"/>
          <p:cNvSpPr/>
          <p:nvPr/>
        </p:nvSpPr>
        <p:spPr>
          <a:xfrm>
            <a:off x="381000" y="6486525"/>
            <a:ext cx="1609725" cy="38100"/>
          </a:xfrm>
          <a:prstGeom prst="rect">
            <a:avLst/>
          </a:prstGeom>
          <a:solidFill>
            <a:srgbClr val="365163"/>
          </a:solidFill>
          <a:ln>
            <a:noFill/>
          </a:ln>
        </p:spPr>
      </p:sp>
      <p:sp>
        <p:nvSpPr>
          <p:cNvPr id="4" name="background-3"/>
          <p:cNvSpPr/>
          <p:nvPr/>
        </p:nvSpPr>
        <p:spPr>
          <a:xfrm>
            <a:off x="2105025" y="6486525"/>
            <a:ext cx="1609725" cy="38100"/>
          </a:xfrm>
          <a:prstGeom prst="rect">
            <a:avLst/>
          </a:prstGeom>
          <a:solidFill>
            <a:srgbClr val="365163"/>
          </a:solidFill>
          <a:ln>
            <a:noFill/>
          </a:ln>
        </p:spPr>
      </p:sp>
      <p:sp>
        <p:nvSpPr>
          <p:cNvPr id="5" name="background-4"/>
          <p:cNvSpPr/>
          <p:nvPr/>
        </p:nvSpPr>
        <p:spPr>
          <a:xfrm>
            <a:off x="3829050" y="6486525"/>
            <a:ext cx="1609725" cy="38100"/>
          </a:xfrm>
          <a:prstGeom prst="rect">
            <a:avLst/>
          </a:prstGeom>
          <a:solidFill>
            <a:srgbClr val="365163"/>
          </a:solidFill>
          <a:ln>
            <a:noFill/>
          </a:ln>
        </p:spPr>
      </p:sp>
      <p:sp>
        <p:nvSpPr>
          <p:cNvPr id="6" name="background-5"/>
          <p:cNvSpPr/>
          <p:nvPr/>
        </p:nvSpPr>
        <p:spPr>
          <a:xfrm>
            <a:off x="5553075" y="6486525"/>
            <a:ext cx="1609725" cy="38100"/>
          </a:xfrm>
          <a:prstGeom prst="rect">
            <a:avLst/>
          </a:prstGeom>
          <a:solidFill>
            <a:srgbClr val="087F83"/>
          </a:solidFill>
          <a:ln>
            <a:noFill/>
          </a:ln>
        </p:spPr>
      </p:sp>
      <p:sp>
        <p:nvSpPr>
          <p:cNvPr id="7" name="background-6"/>
          <p:cNvSpPr/>
          <p:nvPr/>
        </p:nvSpPr>
        <p:spPr>
          <a:xfrm>
            <a:off x="381000" y="1914525"/>
            <a:ext cx="5524500" cy="3228975"/>
          </a:xfrm>
          <a:prstGeom prst="rect">
            <a:avLst/>
          </a:prstGeom>
          <a:solidFill>
            <a:srgbClr val="1A3B4B"/>
          </a:solidFill>
          <a:ln>
            <a:noFill/>
          </a:ln>
        </p:spPr>
      </p:sp>
      <p:sp>
        <p:nvSpPr>
          <p:cNvPr id="8" name="background-7"/>
          <p:cNvSpPr/>
          <p:nvPr/>
        </p:nvSpPr>
        <p:spPr>
          <a:xfrm>
            <a:off x="6191250" y="1914525"/>
            <a:ext cx="5524500" cy="3228975"/>
          </a:xfrm>
          <a:prstGeom prst="rect">
            <a:avLst/>
          </a:prstGeom>
          <a:solidFill>
            <a:srgbClr val="1A3B4B"/>
          </a:solidFill>
          <a:ln>
            <a:noFill/>
          </a:ln>
        </p:spPr>
      </p:sp>
      <p:sp>
        <p:nvSpPr>
          <p:cNvPr id="9" name="background-8"/>
          <p:cNvSpPr/>
          <p:nvPr/>
        </p:nvSpPr>
        <p:spPr>
          <a:xfrm>
            <a:off x="381000" y="5753100"/>
            <a:ext cx="11334750" cy="514350"/>
          </a:xfrm>
          <a:prstGeom prst="rect">
            <a:avLst/>
          </a:prstGeom>
          <a:solidFill>
            <a:srgbClr val="1F4856"/>
          </a:solidFill>
          <a:ln>
            <a:noFill/>
          </a:ln>
        </p:spPr>
      </p:sp>
      <p:grpSp>
        <p:nvGrpSpPr>
          <p:cNvPr id="11" name="chapter-1"/>
          <p:cNvGrpSpPr/>
          <p:nvPr/>
        </p:nvGrpSpPr>
        <p:grpSpPr>
          <a:xfrm>
            <a:off x="374904" y="209931"/>
            <a:ext cx="827603" cy="234696"/>
            <a:chOff x="374904" y="209931"/>
            <a:chExt cx="827603" cy="234696"/>
          </a:xfrm>
        </p:grpSpPr>
        <p:sp>
          <p:nvSpPr>
            <p:cNvPr id="10" name="TextBox 10"/>
            <p:cNvSpPr txBox="1"/>
            <p:nvPr/>
          </p:nvSpPr>
          <p:spPr>
            <a:xfrm>
              <a:off x="374904" y="209931"/>
              <a:ext cx="827603" cy="234696"/>
            </a:xfrm>
            <a:prstGeom prst="rect">
              <a:avLst/>
            </a:prstGeom>
            <a:noFill/>
            <a:ln>
              <a:noFill/>
            </a:ln>
          </p:spPr>
          <p:txBody>
            <a:bodyPr wrap="none" lIns="0" tIns="0" rIns="0" bIns="0" anchor="t" anchorCtr="0">
              <a:spAutoFit/>
            </a:bodyPr>
            <a:lstStyle/>
            <a:p>
              <a:pPr algn="l"/>
              <a:r>
                <a:rPr lang="en-IN" sz="1200" b="1" dirty="0">
                  <a:solidFill>
                    <a:srgbClr val="66D2CC"/>
                  </a:solidFill>
                  <a:latin typeface="Segoe UI"/>
                  <a:ea typeface="Segoe UI"/>
                  <a:cs typeface="Segoe UI"/>
                </a:rPr>
                <a:t>WEATHER</a:t>
              </a:r>
            </a:p>
          </p:txBody>
        </p:sp>
      </p:grpSp>
      <p:grpSp>
        <p:nvGrpSpPr>
          <p:cNvPr id="13" name="chapter-2"/>
          <p:cNvGrpSpPr/>
          <p:nvPr/>
        </p:nvGrpSpPr>
        <p:grpSpPr>
          <a:xfrm>
            <a:off x="11042904" y="219456"/>
            <a:ext cx="511993" cy="234696"/>
            <a:chOff x="11042904" y="219456"/>
            <a:chExt cx="511993" cy="234696"/>
          </a:xfrm>
        </p:grpSpPr>
        <p:sp>
          <p:nvSpPr>
            <p:cNvPr id="12" name="TextBox 12"/>
            <p:cNvSpPr txBox="1"/>
            <p:nvPr/>
          </p:nvSpPr>
          <p:spPr>
            <a:xfrm>
              <a:off x="11042904" y="219456"/>
              <a:ext cx="511993" cy="234696"/>
            </a:xfrm>
            <a:prstGeom prst="rect">
              <a:avLst/>
            </a:prstGeom>
            <a:noFill/>
            <a:ln>
              <a:noFill/>
            </a:ln>
          </p:spPr>
          <p:txBody>
            <a:bodyPr wrap="none" lIns="0" tIns="0" rIns="0" bIns="0" anchor="t" anchorCtr="0">
              <a:spAutoFit/>
            </a:bodyPr>
            <a:lstStyle/>
            <a:p>
              <a:pPr algn="l"/>
              <a:r>
                <a:rPr lang="en-IN" sz="1200" dirty="0">
                  <a:solidFill>
                    <a:srgbClr val="A7BCC9"/>
                  </a:solidFill>
                  <a:latin typeface="Segoe UI"/>
                  <a:ea typeface="Segoe UI"/>
                  <a:cs typeface="Segoe UI"/>
                </a:rPr>
                <a:t>13 / 14</a:t>
              </a:r>
            </a:p>
          </p:txBody>
        </p:sp>
      </p:grpSp>
      <p:grpSp>
        <p:nvGrpSpPr>
          <p:cNvPr id="15" name="title-1"/>
          <p:cNvGrpSpPr/>
          <p:nvPr/>
        </p:nvGrpSpPr>
        <p:grpSpPr>
          <a:xfrm>
            <a:off x="364236" y="616204"/>
            <a:ext cx="9162229" cy="645414"/>
            <a:chOff x="364236" y="616204"/>
            <a:chExt cx="9162229" cy="645414"/>
          </a:xfrm>
        </p:grpSpPr>
        <p:sp>
          <p:nvSpPr>
            <p:cNvPr id="14" name="TextBox 14"/>
            <p:cNvSpPr txBox="1"/>
            <p:nvPr/>
          </p:nvSpPr>
          <p:spPr>
            <a:xfrm>
              <a:off x="364236" y="616204"/>
              <a:ext cx="9162229" cy="645414"/>
            </a:xfrm>
            <a:prstGeom prst="rect">
              <a:avLst/>
            </a:prstGeom>
            <a:noFill/>
            <a:ln>
              <a:noFill/>
            </a:ln>
          </p:spPr>
          <p:txBody>
            <a:bodyPr wrap="none" lIns="0" tIns="0" rIns="0" bIns="0" anchor="t" anchorCtr="0">
              <a:spAutoFit/>
            </a:bodyPr>
            <a:lstStyle/>
            <a:p>
              <a:pPr algn="l"/>
              <a:r>
                <a:rPr lang="en-IN" sz="3300" b="1" dirty="0">
                  <a:solidFill>
                    <a:srgbClr val="F5F2EA"/>
                  </a:solidFill>
                  <a:latin typeface="Segoe UI"/>
                  <a:ea typeface="Segoe UI"/>
                  <a:cs typeface="Segoe UI"/>
                </a:rPr>
                <a:t>What do averages and snapshots leave out?</a:t>
              </a:r>
            </a:p>
          </p:txBody>
        </p:sp>
      </p:grpSp>
      <p:grpSp>
        <p:nvGrpSpPr>
          <p:cNvPr id="17" name="question-1"/>
          <p:cNvGrpSpPr/>
          <p:nvPr/>
        </p:nvGrpSpPr>
        <p:grpSpPr>
          <a:xfrm>
            <a:off x="392430" y="1169670"/>
            <a:ext cx="5084874" cy="293370"/>
            <a:chOff x="392430" y="1169670"/>
            <a:chExt cx="5084874" cy="293370"/>
          </a:xfrm>
        </p:grpSpPr>
        <p:sp>
          <p:nvSpPr>
            <p:cNvPr id="16" name="TextBox 16"/>
            <p:cNvSpPr txBox="1"/>
            <p:nvPr/>
          </p:nvSpPr>
          <p:spPr>
            <a:xfrm>
              <a:off x="392430" y="1169670"/>
              <a:ext cx="5084874" cy="293370"/>
            </a:xfrm>
            <a:prstGeom prst="rect">
              <a:avLst/>
            </a:prstGeom>
            <a:noFill/>
            <a:ln>
              <a:noFill/>
            </a:ln>
          </p:spPr>
          <p:txBody>
            <a:bodyPr wrap="none" lIns="0" tIns="0" rIns="0" bIns="0" anchor="t" anchorCtr="0">
              <a:spAutoFit/>
            </a:bodyPr>
            <a:lstStyle/>
            <a:p>
              <a:pPr algn="l"/>
              <a:r>
                <a:rPr lang="en-IN" sz="1500" dirty="0">
                  <a:solidFill>
                    <a:srgbClr val="B3C6D0"/>
                  </a:solidFill>
                  <a:latin typeface="Segoe UI"/>
                  <a:ea typeface="Segoe UI"/>
                  <a:cs typeface="Segoe UI"/>
                </a:rPr>
                <a:t>The conclusion follows from the evidence already shown.</a:t>
              </a:r>
            </a:p>
          </p:txBody>
        </p:sp>
      </p:grpSp>
      <p:sp>
        <p:nvSpPr>
          <p:cNvPr id="18" name="Line 18"/>
          <p:cNvSpPr/>
          <p:nvPr/>
        </p:nvSpPr>
        <p:spPr>
          <a:xfrm>
            <a:off x="381000" y="1571625"/>
            <a:ext cx="11334750" cy="9525"/>
          </a:xfrm>
          <a:custGeom>
            <a:avLst/>
            <a:gdLst/>
            <a:ahLst/>
            <a:cxnLst/>
            <a:rect l="l" t="t" r="r" b="b"/>
            <a:pathLst>
              <a:path w="11334750" h="9525">
                <a:moveTo>
                  <a:pt x="0" y="0"/>
                </a:moveTo>
                <a:lnTo>
                  <a:pt x="11334750" y="0"/>
                </a:lnTo>
              </a:path>
            </a:pathLst>
          </a:custGeom>
          <a:noFill/>
          <a:ln w="9525">
            <a:solidFill>
              <a:srgbClr val="3D5668"/>
            </a:solidFill>
          </a:ln>
        </p:spPr>
      </p:sp>
      <p:grpSp>
        <p:nvGrpSpPr>
          <p:cNvPr id="20" name="progress-1"/>
          <p:cNvGrpSpPr/>
          <p:nvPr/>
        </p:nvGrpSpPr>
        <p:grpSpPr>
          <a:xfrm>
            <a:off x="375666" y="6589649"/>
            <a:ext cx="723062" cy="205359"/>
            <a:chOff x="375666" y="6589649"/>
            <a:chExt cx="723062" cy="205359"/>
          </a:xfrm>
        </p:grpSpPr>
        <p:sp>
          <p:nvSpPr>
            <p:cNvPr id="19" name="TextBox 19"/>
            <p:cNvSpPr txBox="1"/>
            <p:nvPr/>
          </p:nvSpPr>
          <p:spPr>
            <a:xfrm>
              <a:off x="375666" y="6589649"/>
              <a:ext cx="723062" cy="205359"/>
            </a:xfrm>
            <a:prstGeom prst="rect">
              <a:avLst/>
            </a:prstGeom>
            <a:noFill/>
            <a:ln>
              <a:noFill/>
            </a:ln>
          </p:spPr>
          <p:txBody>
            <a:bodyPr wrap="none" lIns="0" tIns="0" rIns="0" bIns="0" anchor="t" anchorCtr="0">
              <a:spAutoFit/>
            </a:bodyPr>
            <a:lstStyle/>
            <a:p>
              <a:pPr algn="l"/>
              <a:r>
                <a:rPr lang="en-IN" sz="1050" dirty="0">
                  <a:solidFill>
                    <a:srgbClr val="97ACB9"/>
                  </a:solidFill>
                  <a:latin typeface="Segoe UI"/>
                  <a:ea typeface="Segoe UI"/>
                  <a:cs typeface="Segoe UI"/>
                </a:rPr>
                <a:t>QUESTION</a:t>
              </a:r>
            </a:p>
          </p:txBody>
        </p:sp>
      </p:grpSp>
      <p:grpSp>
        <p:nvGrpSpPr>
          <p:cNvPr id="22" name="progress-2"/>
          <p:cNvGrpSpPr/>
          <p:nvPr/>
        </p:nvGrpSpPr>
        <p:grpSpPr>
          <a:xfrm>
            <a:off x="2099691" y="6589649"/>
            <a:ext cx="1063062" cy="205359"/>
            <a:chOff x="2099691" y="6589649"/>
            <a:chExt cx="1063062" cy="205359"/>
          </a:xfrm>
        </p:grpSpPr>
        <p:sp>
          <p:nvSpPr>
            <p:cNvPr id="21" name="TextBox 21"/>
            <p:cNvSpPr txBox="1"/>
            <p:nvPr/>
          </p:nvSpPr>
          <p:spPr>
            <a:xfrm>
              <a:off x="2099691" y="6589649"/>
              <a:ext cx="1063062" cy="205359"/>
            </a:xfrm>
            <a:prstGeom prst="rect">
              <a:avLst/>
            </a:prstGeom>
            <a:noFill/>
            <a:ln>
              <a:noFill/>
            </a:ln>
          </p:spPr>
          <p:txBody>
            <a:bodyPr wrap="none" lIns="0" tIns="0" rIns="0" bIns="0" anchor="t" anchorCtr="0">
              <a:spAutoFit/>
            </a:bodyPr>
            <a:lstStyle/>
            <a:p>
              <a:pPr algn="l"/>
              <a:r>
                <a:rPr lang="en-IN" sz="1050" dirty="0">
                  <a:solidFill>
                    <a:srgbClr val="97ACB9"/>
                  </a:solidFill>
                  <a:latin typeface="Segoe UI"/>
                  <a:ea typeface="Segoe UI"/>
                  <a:cs typeface="Segoe UI"/>
                </a:rPr>
                <a:t>READ THE PLOT</a:t>
              </a:r>
            </a:p>
          </p:txBody>
        </p:sp>
      </p:grpSp>
      <p:grpSp>
        <p:nvGrpSpPr>
          <p:cNvPr id="24" name="progress-3"/>
          <p:cNvGrpSpPr/>
          <p:nvPr/>
        </p:nvGrpSpPr>
        <p:grpSpPr>
          <a:xfrm>
            <a:off x="3823716" y="6589649"/>
            <a:ext cx="678749" cy="205359"/>
            <a:chOff x="3823716" y="6589649"/>
            <a:chExt cx="678749" cy="205359"/>
          </a:xfrm>
        </p:grpSpPr>
        <p:sp>
          <p:nvSpPr>
            <p:cNvPr id="23" name="TextBox 23"/>
            <p:cNvSpPr txBox="1"/>
            <p:nvPr/>
          </p:nvSpPr>
          <p:spPr>
            <a:xfrm>
              <a:off x="3823716" y="6589649"/>
              <a:ext cx="678749" cy="205359"/>
            </a:xfrm>
            <a:prstGeom prst="rect">
              <a:avLst/>
            </a:prstGeom>
            <a:noFill/>
            <a:ln>
              <a:noFill/>
            </a:ln>
          </p:spPr>
          <p:txBody>
            <a:bodyPr wrap="none" lIns="0" tIns="0" rIns="0" bIns="0" anchor="t" anchorCtr="0">
              <a:spAutoFit/>
            </a:bodyPr>
            <a:lstStyle/>
            <a:p>
              <a:pPr algn="l"/>
              <a:r>
                <a:rPr lang="en-IN" sz="1050" dirty="0">
                  <a:solidFill>
                    <a:srgbClr val="97ACB9"/>
                  </a:solidFill>
                  <a:latin typeface="Segoe UI"/>
                  <a:ea typeface="Segoe UI"/>
                  <a:cs typeface="Segoe UI"/>
                </a:rPr>
                <a:t>EVIDENCE</a:t>
              </a:r>
            </a:p>
          </p:txBody>
        </p:sp>
      </p:grpSp>
      <p:grpSp>
        <p:nvGrpSpPr>
          <p:cNvPr id="26" name="progress-4"/>
          <p:cNvGrpSpPr/>
          <p:nvPr/>
        </p:nvGrpSpPr>
        <p:grpSpPr>
          <a:xfrm>
            <a:off x="5547741" y="6589649"/>
            <a:ext cx="974929" cy="205359"/>
            <a:chOff x="5547741" y="6589649"/>
            <a:chExt cx="974929" cy="205359"/>
          </a:xfrm>
        </p:grpSpPr>
        <p:sp>
          <p:nvSpPr>
            <p:cNvPr id="25" name="TextBox 25"/>
            <p:cNvSpPr txBox="1"/>
            <p:nvPr/>
          </p:nvSpPr>
          <p:spPr>
            <a:xfrm>
              <a:off x="5547741" y="6589649"/>
              <a:ext cx="974929" cy="205359"/>
            </a:xfrm>
            <a:prstGeom prst="rect">
              <a:avLst/>
            </a:prstGeom>
            <a:noFill/>
            <a:ln>
              <a:noFill/>
            </a:ln>
          </p:spPr>
          <p:txBody>
            <a:bodyPr wrap="none" lIns="0" tIns="0" rIns="0" bIns="0" anchor="t" anchorCtr="0">
              <a:spAutoFit/>
            </a:bodyPr>
            <a:lstStyle/>
            <a:p>
              <a:pPr algn="l"/>
              <a:r>
                <a:rPr lang="en-IN" sz="1050" b="1" dirty="0">
                  <a:solidFill>
                    <a:srgbClr val="F5F2EA"/>
                  </a:solidFill>
                  <a:latin typeface="Segoe UI"/>
                  <a:ea typeface="Segoe UI"/>
                  <a:cs typeface="Segoe UI"/>
                </a:rPr>
                <a:t>CONCLUSION</a:t>
              </a:r>
            </a:p>
          </p:txBody>
        </p:sp>
      </p:grpSp>
      <p:grpSp>
        <p:nvGrpSpPr>
          <p:cNvPr id="28" name="source-1"/>
          <p:cNvGrpSpPr/>
          <p:nvPr/>
        </p:nvGrpSpPr>
        <p:grpSpPr>
          <a:xfrm>
            <a:off x="7614666" y="6532499"/>
            <a:ext cx="1633908" cy="205359"/>
            <a:chOff x="7614666" y="6532499"/>
            <a:chExt cx="1633908" cy="205359"/>
          </a:xfrm>
        </p:grpSpPr>
        <p:sp>
          <p:nvSpPr>
            <p:cNvPr id="27" name="TextBox 27"/>
            <p:cNvSpPr txBox="1"/>
            <p:nvPr/>
          </p:nvSpPr>
          <p:spPr>
            <a:xfrm>
              <a:off x="7614666" y="6532499"/>
              <a:ext cx="1633908" cy="205359"/>
            </a:xfrm>
            <a:prstGeom prst="rect">
              <a:avLst/>
            </a:prstGeom>
            <a:noFill/>
            <a:ln>
              <a:noFill/>
            </a:ln>
          </p:spPr>
          <p:txBody>
            <a:bodyPr wrap="none" lIns="0" tIns="0" rIns="0" bIns="0" anchor="t" anchorCtr="0">
              <a:spAutoFit/>
            </a:bodyPr>
            <a:lstStyle/>
            <a:p>
              <a:pPr algn="l"/>
              <a:r>
                <a:rPr lang="en-IN" sz="1050" dirty="0">
                  <a:solidFill>
                    <a:srgbClr val="A7BCC9"/>
                  </a:solidFill>
                  <a:latin typeface="Segoe UI"/>
                  <a:ea typeface="Segoe UI"/>
                  <a:cs typeface="Segoe UI"/>
                </a:rPr>
                <a:t>Report Fig. 3, 5, 16, 23, 30</a:t>
              </a:r>
            </a:p>
          </p:txBody>
        </p:sp>
      </p:grpSp>
      <p:grpSp>
        <p:nvGrpSpPr>
          <p:cNvPr id="30" name="labels-1"/>
          <p:cNvGrpSpPr/>
          <p:nvPr/>
        </p:nvGrpSpPr>
        <p:grpSpPr>
          <a:xfrm>
            <a:off x="582930" y="2112645"/>
            <a:ext cx="1036360" cy="293370"/>
            <a:chOff x="582930" y="2112645"/>
            <a:chExt cx="1036360" cy="293370"/>
          </a:xfrm>
        </p:grpSpPr>
        <p:sp>
          <p:nvSpPr>
            <p:cNvPr id="29" name="TextBox 29"/>
            <p:cNvSpPr txBox="1"/>
            <p:nvPr/>
          </p:nvSpPr>
          <p:spPr>
            <a:xfrm>
              <a:off x="582930" y="2112645"/>
              <a:ext cx="1036360" cy="293370"/>
            </a:xfrm>
            <a:prstGeom prst="rect">
              <a:avLst/>
            </a:prstGeom>
            <a:noFill/>
            <a:ln>
              <a:noFill/>
            </a:ln>
          </p:spPr>
          <p:txBody>
            <a:bodyPr wrap="none" lIns="0" tIns="0" rIns="0" bIns="0" anchor="t" anchorCtr="0">
              <a:spAutoFit/>
            </a:bodyPr>
            <a:lstStyle/>
            <a:p>
              <a:pPr algn="l"/>
              <a:r>
                <a:rPr lang="en-IN" sz="1500" b="1" dirty="0">
                  <a:solidFill>
                    <a:srgbClr val="74D9D2"/>
                  </a:solidFill>
                  <a:latin typeface="Segoe UI"/>
                  <a:ea typeface="Segoe UI"/>
                  <a:cs typeface="Segoe UI"/>
                </a:rPr>
                <a:t>INTERNET</a:t>
              </a:r>
            </a:p>
          </p:txBody>
        </p:sp>
      </p:grpSp>
      <p:grpSp>
        <p:nvGrpSpPr>
          <p:cNvPr id="32" name="labels-2"/>
          <p:cNvGrpSpPr/>
          <p:nvPr/>
        </p:nvGrpSpPr>
        <p:grpSpPr>
          <a:xfrm>
            <a:off x="6393180" y="2112645"/>
            <a:ext cx="1034503" cy="293370"/>
            <a:chOff x="6393180" y="2112645"/>
            <a:chExt cx="1034503" cy="293370"/>
          </a:xfrm>
        </p:grpSpPr>
        <p:sp>
          <p:nvSpPr>
            <p:cNvPr id="31" name="TextBox 31"/>
            <p:cNvSpPr txBox="1"/>
            <p:nvPr/>
          </p:nvSpPr>
          <p:spPr>
            <a:xfrm>
              <a:off x="6393180" y="2112645"/>
              <a:ext cx="1034503" cy="293370"/>
            </a:xfrm>
            <a:prstGeom prst="rect">
              <a:avLst/>
            </a:prstGeom>
            <a:noFill/>
            <a:ln>
              <a:noFill/>
            </a:ln>
          </p:spPr>
          <p:txBody>
            <a:bodyPr wrap="none" lIns="0" tIns="0" rIns="0" bIns="0" anchor="t" anchorCtr="0">
              <a:spAutoFit/>
            </a:bodyPr>
            <a:lstStyle/>
            <a:p>
              <a:pPr algn="l"/>
              <a:r>
                <a:rPr lang="en-IN" sz="1500" b="1" dirty="0">
                  <a:solidFill>
                    <a:srgbClr val="74D9D2"/>
                  </a:solidFill>
                  <a:latin typeface="Segoe UI"/>
                  <a:ea typeface="Segoe UI"/>
                  <a:cs typeface="Segoe UI"/>
                </a:rPr>
                <a:t>WEATHER</a:t>
              </a:r>
            </a:p>
          </p:txBody>
        </p:sp>
      </p:grpSp>
      <p:grpSp>
        <p:nvGrpSpPr>
          <p:cNvPr id="34" name="finding-1"/>
          <p:cNvGrpSpPr/>
          <p:nvPr/>
        </p:nvGrpSpPr>
        <p:grpSpPr>
          <a:xfrm>
            <a:off x="578358" y="2556637"/>
            <a:ext cx="4822068" cy="469392"/>
            <a:chOff x="578358" y="2556637"/>
            <a:chExt cx="4822068" cy="469392"/>
          </a:xfrm>
        </p:grpSpPr>
        <p:sp>
          <p:nvSpPr>
            <p:cNvPr id="33" name="TextBox 33"/>
            <p:cNvSpPr txBox="1"/>
            <p:nvPr/>
          </p:nvSpPr>
          <p:spPr>
            <a:xfrm>
              <a:off x="578358" y="2556637"/>
              <a:ext cx="4822068" cy="469392"/>
            </a:xfrm>
            <a:prstGeom prst="rect">
              <a:avLst/>
            </a:prstGeom>
            <a:noFill/>
            <a:ln>
              <a:noFill/>
            </a:ln>
          </p:spPr>
          <p:txBody>
            <a:bodyPr wrap="none" lIns="0" tIns="0" rIns="0" bIns="0" anchor="t" anchorCtr="0">
              <a:spAutoFit/>
            </a:bodyPr>
            <a:lstStyle/>
            <a:p>
              <a:pPr algn="l"/>
              <a:r>
                <a:rPr lang="en-IN" sz="2400" b="1" dirty="0">
                  <a:solidFill>
                    <a:srgbClr val="F5F2EA"/>
                  </a:solidFill>
                  <a:latin typeface="Segoe UI"/>
                  <a:ea typeface="Segoe UI"/>
                  <a:cs typeface="Segoe UI"/>
                </a:rPr>
                <a:t>Differences inside the summary</a:t>
              </a:r>
            </a:p>
          </p:txBody>
        </p:sp>
      </p:grpSp>
      <p:grpSp>
        <p:nvGrpSpPr>
          <p:cNvPr id="38" name="finding-2"/>
          <p:cNvGrpSpPr/>
          <p:nvPr/>
        </p:nvGrpSpPr>
        <p:grpSpPr>
          <a:xfrm>
            <a:off x="581406" y="3443859"/>
            <a:ext cx="3511657" cy="891540"/>
            <a:chOff x="581406" y="3443859"/>
            <a:chExt cx="3511657" cy="891540"/>
          </a:xfrm>
        </p:grpSpPr>
        <p:sp>
          <p:nvSpPr>
            <p:cNvPr id="35" name="TextBox 35"/>
            <p:cNvSpPr txBox="1"/>
            <p:nvPr/>
          </p:nvSpPr>
          <p:spPr>
            <a:xfrm>
              <a:off x="581406" y="3443859"/>
              <a:ext cx="2906754"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Same group: unequal links.</a:t>
              </a:r>
            </a:p>
          </p:txBody>
        </p:sp>
        <p:sp>
          <p:nvSpPr>
            <p:cNvPr id="36" name="TextBox 36"/>
            <p:cNvSpPr txBox="1"/>
            <p:nvPr/>
          </p:nvSpPr>
          <p:spPr>
            <a:xfrm>
              <a:off x="581406" y="3713607"/>
              <a:ext cx="3511657"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High adoption: different profiles.</a:t>
              </a:r>
            </a:p>
          </p:txBody>
        </p:sp>
        <p:sp>
          <p:nvSpPr>
            <p:cNvPr id="37" name="TextBox 37"/>
            <p:cNvSpPr txBox="1"/>
            <p:nvPr/>
          </p:nvSpPr>
          <p:spPr>
            <a:xfrm>
              <a:off x="581406" y="3983355"/>
              <a:ext cx="2773339"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Progress: remaining gaps.</a:t>
              </a:r>
            </a:p>
          </p:txBody>
        </p:sp>
      </p:grpSp>
      <p:grpSp>
        <p:nvGrpSpPr>
          <p:cNvPr id="40" name="finding-3"/>
          <p:cNvGrpSpPr/>
          <p:nvPr/>
        </p:nvGrpSpPr>
        <p:grpSpPr>
          <a:xfrm>
            <a:off x="6388608" y="2556637"/>
            <a:ext cx="3851338" cy="469392"/>
            <a:chOff x="6388608" y="2556637"/>
            <a:chExt cx="3851338" cy="469392"/>
          </a:xfrm>
        </p:grpSpPr>
        <p:sp>
          <p:nvSpPr>
            <p:cNvPr id="39" name="TextBox 39"/>
            <p:cNvSpPr txBox="1"/>
            <p:nvPr/>
          </p:nvSpPr>
          <p:spPr>
            <a:xfrm>
              <a:off x="6388608" y="2556637"/>
              <a:ext cx="3851338" cy="469392"/>
            </a:xfrm>
            <a:prstGeom prst="rect">
              <a:avLst/>
            </a:prstGeom>
            <a:noFill/>
            <a:ln>
              <a:noFill/>
            </a:ln>
          </p:spPr>
          <p:txBody>
            <a:bodyPr wrap="none" lIns="0" tIns="0" rIns="0" bIns="0" anchor="t" anchorCtr="0">
              <a:spAutoFit/>
            </a:bodyPr>
            <a:lstStyle/>
            <a:p>
              <a:pPr algn="l"/>
              <a:r>
                <a:rPr lang="en-IN" sz="2400" b="1" dirty="0">
                  <a:solidFill>
                    <a:srgbClr val="F5F2EA"/>
                  </a:solidFill>
                  <a:latin typeface="Segoe UI"/>
                  <a:ea typeface="Segoe UI"/>
                  <a:cs typeface="Segoe UI"/>
                </a:rPr>
                <a:t>Time inside the summary</a:t>
              </a:r>
            </a:p>
          </p:txBody>
        </p:sp>
      </p:grpSp>
      <p:grpSp>
        <p:nvGrpSpPr>
          <p:cNvPr id="44" name="finding-4"/>
          <p:cNvGrpSpPr/>
          <p:nvPr/>
        </p:nvGrpSpPr>
        <p:grpSpPr>
          <a:xfrm>
            <a:off x="6391656" y="3443859"/>
            <a:ext cx="3924539" cy="891540"/>
            <a:chOff x="6391656" y="3443859"/>
            <a:chExt cx="3924539" cy="891540"/>
          </a:xfrm>
        </p:grpSpPr>
        <p:sp>
          <p:nvSpPr>
            <p:cNvPr id="41" name="TextBox 41"/>
            <p:cNvSpPr txBox="1"/>
            <p:nvPr/>
          </p:nvSpPr>
          <p:spPr>
            <a:xfrm>
              <a:off x="6391656" y="3443859"/>
              <a:ext cx="2824797"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Monthly rain: short bursts.</a:t>
              </a:r>
            </a:p>
          </p:txBody>
        </p:sp>
        <p:sp>
          <p:nvSpPr>
            <p:cNvPr id="42" name="TextBox 42"/>
            <p:cNvSpPr txBox="1"/>
            <p:nvPr/>
          </p:nvSpPr>
          <p:spPr>
            <a:xfrm>
              <a:off x="6391656" y="3713607"/>
              <a:ext cx="3749445"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Event counts: different run lengths.</a:t>
              </a:r>
            </a:p>
          </p:txBody>
        </p:sp>
        <p:sp>
          <p:nvSpPr>
            <p:cNvPr id="43" name="TextBox 43"/>
            <p:cNvSpPr txBox="1"/>
            <p:nvPr/>
          </p:nvSpPr>
          <p:spPr>
            <a:xfrm>
              <a:off x="6391656" y="3983355"/>
              <a:ext cx="3924539" cy="352044"/>
            </a:xfrm>
            <a:prstGeom prst="rect">
              <a:avLst/>
            </a:prstGeom>
            <a:noFill/>
            <a:ln>
              <a:noFill/>
            </a:ln>
          </p:spPr>
          <p:txBody>
            <a:bodyPr wrap="none" lIns="0" tIns="0" rIns="0" bIns="0" anchor="t" anchorCtr="0">
              <a:spAutoFit/>
            </a:bodyPr>
            <a:lstStyle/>
            <a:p>
              <a:pPr algn="l"/>
              <a:r>
                <a:rPr lang="en-IN" sz="1800" dirty="0">
                  <a:solidFill>
                    <a:srgbClr val="F5F2EA"/>
                  </a:solidFill>
                  <a:latin typeface="Segoe UI"/>
                  <a:ea typeface="Segoe UI"/>
                  <a:cs typeface="Segoe UI"/>
                </a:rPr>
                <a:t>Drawing choices: different emphasis.</a:t>
              </a:r>
            </a:p>
          </p:txBody>
        </p:sp>
      </p:grpSp>
      <p:grpSp>
        <p:nvGrpSpPr>
          <p:cNvPr id="46" name="conclusion-1"/>
          <p:cNvGrpSpPr/>
          <p:nvPr/>
        </p:nvGrpSpPr>
        <p:grpSpPr>
          <a:xfrm>
            <a:off x="543306" y="5853684"/>
            <a:ext cx="7397977" cy="352044"/>
            <a:chOff x="543306" y="5853684"/>
            <a:chExt cx="7397977" cy="352044"/>
          </a:xfrm>
        </p:grpSpPr>
        <p:sp>
          <p:nvSpPr>
            <p:cNvPr id="45" name="TextBox 45"/>
            <p:cNvSpPr txBox="1"/>
            <p:nvPr/>
          </p:nvSpPr>
          <p:spPr>
            <a:xfrm>
              <a:off x="543306" y="5853684"/>
              <a:ext cx="7397977" cy="352044"/>
            </a:xfrm>
            <a:prstGeom prst="rect">
              <a:avLst/>
            </a:prstGeom>
            <a:noFill/>
            <a:ln>
              <a:noFill/>
            </a:ln>
          </p:spPr>
          <p:txBody>
            <a:bodyPr wrap="none" lIns="0" tIns="0" rIns="0" bIns="0" anchor="t" anchorCtr="0">
              <a:spAutoFit/>
            </a:bodyPr>
            <a:lstStyle/>
            <a:p>
              <a:pPr algn="l"/>
              <a:r>
                <a:rPr lang="en-IN" sz="1800" b="1" dirty="0">
                  <a:solidFill>
                    <a:srgbClr val="F5F2EA"/>
                  </a:solidFill>
                  <a:latin typeface="Segoe UI"/>
                  <a:ea typeface="Segoe UI"/>
                  <a:cs typeface="Segoe UI"/>
                </a:rPr>
                <a:t>Pair the summary with the detail needed to answer the question.</a:t>
              </a:r>
            </a:p>
          </p:txBody>
        </p:sp>
      </p:grpSp>
    </p:spTree>
  </p:cSld>
  <p:clrMapOvr>
    <a:masterClrMapping/>
  </p:clrMapOvr>
  <p:transition xmlns:p14="http://schemas.microsoft.com/office/powerpoint/2010/main" p14:dur="3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2638"/>
        </a:solidFill>
        <a:effectLst/>
      </p:bgPr>
    </p:bg>
    <p:spTree>
      <p:nvGrpSpPr>
        <p:cNvPr id="1" name=""/>
        <p:cNvGrpSpPr/>
        <p:nvPr/>
      </p:nvGrpSpPr>
      <p:grpSpPr>
        <a:xfrm>
          <a:off x="0" y="0"/>
          <a:ext cx="0" cy="0"/>
          <a:chOff x="0" y="0"/>
          <a:chExt cx="0" cy="0"/>
        </a:xfrm>
      </p:grpSpPr>
      <p:sp>
        <p:nvSpPr>
          <p:cNvPr id="2" name="background-1"/>
          <p:cNvSpPr/>
          <p:nvPr/>
        </p:nvSpPr>
        <p:spPr>
          <a:xfrm>
            <a:off x="0" y="0"/>
            <a:ext cx="12192000" cy="142875"/>
          </a:xfrm>
          <a:prstGeom prst="rect">
            <a:avLst/>
          </a:prstGeom>
          <a:solidFill>
            <a:srgbClr val="087F83"/>
          </a:solidFill>
          <a:ln>
            <a:noFill/>
          </a:ln>
        </p:spPr>
      </p:sp>
      <p:grpSp>
        <p:nvGrpSpPr>
          <p:cNvPr id="4" name="identity-1"/>
          <p:cNvGrpSpPr/>
          <p:nvPr/>
        </p:nvGrpSpPr>
        <p:grpSpPr>
          <a:xfrm>
            <a:off x="449580" y="512445"/>
            <a:ext cx="2592586" cy="293370"/>
            <a:chOff x="449580" y="512445"/>
            <a:chExt cx="2592586" cy="293370"/>
          </a:xfrm>
        </p:grpSpPr>
        <p:sp>
          <p:nvSpPr>
            <p:cNvPr id="3" name="TextBox 3"/>
            <p:cNvSpPr txBox="1"/>
            <p:nvPr/>
          </p:nvSpPr>
          <p:spPr>
            <a:xfrm>
              <a:off x="449580" y="512445"/>
              <a:ext cx="2592586" cy="293370"/>
            </a:xfrm>
            <a:prstGeom prst="rect">
              <a:avLst/>
            </a:prstGeom>
            <a:noFill/>
            <a:ln>
              <a:noFill/>
            </a:ln>
          </p:spPr>
          <p:txBody>
            <a:bodyPr wrap="none" lIns="0" tIns="0" rIns="0" bIns="0" anchor="t" anchorCtr="0">
              <a:spAutoFit/>
            </a:bodyPr>
            <a:lstStyle/>
            <a:p>
              <a:pPr algn="l"/>
              <a:r>
                <a:rPr lang="en-IN" sz="1500" b="1" dirty="0">
                  <a:solidFill>
                    <a:srgbClr val="8FD4D0"/>
                  </a:solidFill>
                  <a:latin typeface="Segoe UI"/>
                  <a:ea typeface="Segoe UI"/>
                  <a:cs typeface="Segoe UI"/>
                </a:rPr>
                <a:t>DAS732 / ASSIGNMENT 2</a:t>
              </a:r>
            </a:p>
          </p:txBody>
        </p:sp>
      </p:grpSp>
      <p:grpSp>
        <p:nvGrpSpPr>
          <p:cNvPr id="6" name="identity-2"/>
          <p:cNvGrpSpPr/>
          <p:nvPr/>
        </p:nvGrpSpPr>
        <p:grpSpPr>
          <a:xfrm>
            <a:off x="456057" y="2711323"/>
            <a:ext cx="2785271" cy="410718"/>
            <a:chOff x="456057" y="2711323"/>
            <a:chExt cx="2785271" cy="410718"/>
          </a:xfrm>
        </p:grpSpPr>
        <p:sp>
          <p:nvSpPr>
            <p:cNvPr id="5" name="TextBox 5"/>
            <p:cNvSpPr txBox="1"/>
            <p:nvPr/>
          </p:nvSpPr>
          <p:spPr>
            <a:xfrm>
              <a:off x="456057" y="2711323"/>
              <a:ext cx="2785271" cy="410718"/>
            </a:xfrm>
            <a:prstGeom prst="rect">
              <a:avLst/>
            </a:prstGeom>
            <a:noFill/>
            <a:ln>
              <a:noFill/>
            </a:ln>
          </p:spPr>
          <p:txBody>
            <a:bodyPr wrap="none" lIns="0" tIns="0" rIns="0" bIns="0" anchor="t" anchorCtr="0">
              <a:spAutoFit/>
            </a:bodyPr>
            <a:lstStyle/>
            <a:p>
              <a:pPr algn="l"/>
              <a:r>
                <a:rPr lang="en-IN" sz="2100" b="1" dirty="0">
                  <a:solidFill>
                    <a:srgbClr val="F5F2EA"/>
                  </a:solidFill>
                  <a:latin typeface="Segoe UI"/>
                  <a:ea typeface="Segoe UI"/>
                  <a:cs typeface="Segoe UI"/>
                </a:rPr>
                <a:t>Parikshith Aithal K V</a:t>
              </a:r>
            </a:p>
          </p:txBody>
        </p:sp>
      </p:grpSp>
      <p:grpSp>
        <p:nvGrpSpPr>
          <p:cNvPr id="8" name="identity-3"/>
          <p:cNvGrpSpPr/>
          <p:nvPr/>
        </p:nvGrpSpPr>
        <p:grpSpPr>
          <a:xfrm>
            <a:off x="459105" y="3074670"/>
            <a:ext cx="1054495" cy="293370"/>
            <a:chOff x="459105" y="3074670"/>
            <a:chExt cx="1054495" cy="293370"/>
          </a:xfrm>
        </p:grpSpPr>
        <p:sp>
          <p:nvSpPr>
            <p:cNvPr id="7" name="TextBox 7"/>
            <p:cNvSpPr txBox="1"/>
            <p:nvPr/>
          </p:nvSpPr>
          <p:spPr>
            <a:xfrm>
              <a:off x="459105" y="3074670"/>
              <a:ext cx="1054495" cy="293370"/>
            </a:xfrm>
            <a:prstGeom prst="rect">
              <a:avLst/>
            </a:prstGeom>
            <a:noFill/>
            <a:ln>
              <a:noFill/>
            </a:ln>
          </p:spPr>
          <p:txBody>
            <a:bodyPr wrap="none" lIns="0" tIns="0" rIns="0" bIns="0" anchor="t" anchorCtr="0">
              <a:spAutoFit/>
            </a:bodyPr>
            <a:lstStyle/>
            <a:p>
              <a:pPr algn="l"/>
              <a:r>
                <a:rPr lang="en-IN" sz="1500" dirty="0">
                  <a:solidFill>
                    <a:srgbClr val="A4BBC7"/>
                  </a:solidFill>
                  <a:latin typeface="Segoe UI"/>
                  <a:ea typeface="Segoe UI"/>
                  <a:cs typeface="Segoe UI"/>
                </a:rPr>
                <a:t>BT2024249</a:t>
              </a:r>
            </a:p>
          </p:txBody>
        </p:sp>
      </p:grpSp>
      <p:grpSp>
        <p:nvGrpSpPr>
          <p:cNvPr id="10" name="identity-4"/>
          <p:cNvGrpSpPr/>
          <p:nvPr/>
        </p:nvGrpSpPr>
        <p:grpSpPr>
          <a:xfrm>
            <a:off x="7848981" y="2796159"/>
            <a:ext cx="2400545" cy="352044"/>
            <a:chOff x="7848981" y="2796159"/>
            <a:chExt cx="2400545" cy="352044"/>
          </a:xfrm>
        </p:grpSpPr>
        <p:sp>
          <p:nvSpPr>
            <p:cNvPr id="9" name="TextBox 9"/>
            <p:cNvSpPr txBox="1"/>
            <p:nvPr/>
          </p:nvSpPr>
          <p:spPr>
            <a:xfrm>
              <a:off x="7848981" y="2796159"/>
              <a:ext cx="2400545" cy="352044"/>
            </a:xfrm>
            <a:prstGeom prst="rect">
              <a:avLst/>
            </a:prstGeom>
            <a:noFill/>
            <a:ln>
              <a:noFill/>
            </a:ln>
          </p:spPr>
          <p:txBody>
            <a:bodyPr wrap="none" lIns="0" tIns="0" rIns="0" bIns="0" anchor="t" anchorCtr="0">
              <a:spAutoFit/>
            </a:bodyPr>
            <a:lstStyle/>
            <a:p>
              <a:pPr algn="l"/>
              <a:r>
                <a:rPr lang="en-IN" sz="1800" dirty="0">
                  <a:solidFill>
                    <a:srgbClr val="A4BBC7"/>
                  </a:solidFill>
                  <a:latin typeface="Segoe UI"/>
                  <a:ea typeface="Segoe UI"/>
                  <a:cs typeface="Segoe UI"/>
                </a:rPr>
                <a:t>Network / scalar fields</a:t>
              </a:r>
            </a:p>
          </p:txBody>
        </p:sp>
      </p:grpSp>
      <p:grpSp>
        <p:nvGrpSpPr>
          <p:cNvPr id="12" name="identity-5"/>
          <p:cNvGrpSpPr/>
          <p:nvPr/>
        </p:nvGrpSpPr>
        <p:grpSpPr>
          <a:xfrm>
            <a:off x="456057" y="3711448"/>
            <a:ext cx="3655090" cy="410718"/>
            <a:chOff x="456057" y="3711448"/>
            <a:chExt cx="3655090" cy="410718"/>
          </a:xfrm>
        </p:grpSpPr>
        <p:sp>
          <p:nvSpPr>
            <p:cNvPr id="11" name="TextBox 11"/>
            <p:cNvSpPr txBox="1"/>
            <p:nvPr/>
          </p:nvSpPr>
          <p:spPr>
            <a:xfrm>
              <a:off x="456057" y="3711448"/>
              <a:ext cx="3655090" cy="410718"/>
            </a:xfrm>
            <a:prstGeom prst="rect">
              <a:avLst/>
            </a:prstGeom>
            <a:noFill/>
            <a:ln>
              <a:noFill/>
            </a:ln>
          </p:spPr>
          <p:txBody>
            <a:bodyPr wrap="none" lIns="0" tIns="0" rIns="0" bIns="0" anchor="t" anchorCtr="0">
              <a:spAutoFit/>
            </a:bodyPr>
            <a:lstStyle/>
            <a:p>
              <a:pPr algn="l"/>
              <a:r>
                <a:rPr lang="en-IN" sz="2100" b="1" dirty="0">
                  <a:solidFill>
                    <a:srgbClr val="F5F2EA"/>
                  </a:solidFill>
                  <a:latin typeface="Segoe UI"/>
                  <a:ea typeface="Segoe UI"/>
                  <a:cs typeface="Segoe UI"/>
                </a:rPr>
                <a:t>Sindhoor Ganapathi Hegde</a:t>
              </a:r>
            </a:p>
          </p:txBody>
        </p:sp>
      </p:grpSp>
      <p:grpSp>
        <p:nvGrpSpPr>
          <p:cNvPr id="14" name="identity-6"/>
          <p:cNvGrpSpPr/>
          <p:nvPr/>
        </p:nvGrpSpPr>
        <p:grpSpPr>
          <a:xfrm>
            <a:off x="459105" y="4074795"/>
            <a:ext cx="1054495" cy="293370"/>
            <a:chOff x="459105" y="4074795"/>
            <a:chExt cx="1054495" cy="293370"/>
          </a:xfrm>
        </p:grpSpPr>
        <p:sp>
          <p:nvSpPr>
            <p:cNvPr id="13" name="TextBox 13"/>
            <p:cNvSpPr txBox="1"/>
            <p:nvPr/>
          </p:nvSpPr>
          <p:spPr>
            <a:xfrm>
              <a:off x="459105" y="4074795"/>
              <a:ext cx="1054495" cy="293370"/>
            </a:xfrm>
            <a:prstGeom prst="rect">
              <a:avLst/>
            </a:prstGeom>
            <a:noFill/>
            <a:ln>
              <a:noFill/>
            </a:ln>
          </p:spPr>
          <p:txBody>
            <a:bodyPr wrap="none" lIns="0" tIns="0" rIns="0" bIns="0" anchor="t" anchorCtr="0">
              <a:spAutoFit/>
            </a:bodyPr>
            <a:lstStyle/>
            <a:p>
              <a:pPr algn="l"/>
              <a:r>
                <a:rPr lang="en-IN" sz="1500" dirty="0">
                  <a:solidFill>
                    <a:srgbClr val="A4BBC7"/>
                  </a:solidFill>
                  <a:latin typeface="Segoe UI"/>
                  <a:ea typeface="Segoe UI"/>
                  <a:cs typeface="Segoe UI"/>
                </a:rPr>
                <a:t>BT2024014</a:t>
              </a:r>
            </a:p>
          </p:txBody>
        </p:sp>
      </p:grpSp>
      <p:grpSp>
        <p:nvGrpSpPr>
          <p:cNvPr id="16" name="identity-7"/>
          <p:cNvGrpSpPr/>
          <p:nvPr/>
        </p:nvGrpSpPr>
        <p:grpSpPr>
          <a:xfrm>
            <a:off x="7848981" y="3796284"/>
            <a:ext cx="2851235" cy="352044"/>
            <a:chOff x="7848981" y="3796284"/>
            <a:chExt cx="2851235" cy="352044"/>
          </a:xfrm>
        </p:grpSpPr>
        <p:sp>
          <p:nvSpPr>
            <p:cNvPr id="15" name="TextBox 15"/>
            <p:cNvSpPr txBox="1"/>
            <p:nvPr/>
          </p:nvSpPr>
          <p:spPr>
            <a:xfrm>
              <a:off x="7848981" y="3796284"/>
              <a:ext cx="2851235" cy="352044"/>
            </a:xfrm>
            <a:prstGeom prst="rect">
              <a:avLst/>
            </a:prstGeom>
            <a:noFill/>
            <a:ln>
              <a:noFill/>
            </a:ln>
          </p:spPr>
          <p:txBody>
            <a:bodyPr wrap="none" lIns="0" tIns="0" rIns="0" bIns="0" anchor="t" anchorCtr="0">
              <a:spAutoFit/>
            </a:bodyPr>
            <a:lstStyle/>
            <a:p>
              <a:pPr algn="l"/>
              <a:r>
                <a:rPr lang="en-IN" sz="1800" dirty="0">
                  <a:solidFill>
                    <a:srgbClr val="A4BBC7"/>
                  </a:solidFill>
                  <a:latin typeface="Segoe UI"/>
                  <a:ea typeface="Segoe UI"/>
                  <a:cs typeface="Segoe UI"/>
                </a:rPr>
                <a:t>Temporal views / contours</a:t>
              </a:r>
            </a:p>
          </p:txBody>
        </p:sp>
      </p:grpSp>
      <p:grpSp>
        <p:nvGrpSpPr>
          <p:cNvPr id="18" name="identity-8"/>
          <p:cNvGrpSpPr/>
          <p:nvPr/>
        </p:nvGrpSpPr>
        <p:grpSpPr>
          <a:xfrm>
            <a:off x="456057" y="4711573"/>
            <a:ext cx="2512392" cy="410718"/>
            <a:chOff x="456057" y="4711573"/>
            <a:chExt cx="2512392" cy="410718"/>
          </a:xfrm>
        </p:grpSpPr>
        <p:sp>
          <p:nvSpPr>
            <p:cNvPr id="17" name="TextBox 17"/>
            <p:cNvSpPr txBox="1"/>
            <p:nvPr/>
          </p:nvSpPr>
          <p:spPr>
            <a:xfrm>
              <a:off x="456057" y="4711573"/>
              <a:ext cx="2512392" cy="410718"/>
            </a:xfrm>
            <a:prstGeom prst="rect">
              <a:avLst/>
            </a:prstGeom>
            <a:noFill/>
            <a:ln>
              <a:noFill/>
            </a:ln>
          </p:spPr>
          <p:txBody>
            <a:bodyPr wrap="none" lIns="0" tIns="0" rIns="0" bIns="0" anchor="t" anchorCtr="0">
              <a:spAutoFit/>
            </a:bodyPr>
            <a:lstStyle/>
            <a:p>
              <a:pPr algn="l"/>
              <a:r>
                <a:rPr lang="en-IN" sz="2100" b="1" dirty="0">
                  <a:solidFill>
                    <a:srgbClr val="F5F2EA"/>
                  </a:solidFill>
                  <a:latin typeface="Segoe UI"/>
                  <a:ea typeface="Segoe UI"/>
                  <a:cs typeface="Segoe UI"/>
                </a:rPr>
                <a:t>Varshith M Gowda</a:t>
              </a:r>
            </a:p>
          </p:txBody>
        </p:sp>
      </p:grpSp>
      <p:grpSp>
        <p:nvGrpSpPr>
          <p:cNvPr id="20" name="identity-9"/>
          <p:cNvGrpSpPr/>
          <p:nvPr/>
        </p:nvGrpSpPr>
        <p:grpSpPr>
          <a:xfrm>
            <a:off x="459105" y="5074920"/>
            <a:ext cx="1054495" cy="293370"/>
            <a:chOff x="459105" y="5074920"/>
            <a:chExt cx="1054495" cy="293370"/>
          </a:xfrm>
        </p:grpSpPr>
        <p:sp>
          <p:nvSpPr>
            <p:cNvPr id="19" name="TextBox 19"/>
            <p:cNvSpPr txBox="1"/>
            <p:nvPr/>
          </p:nvSpPr>
          <p:spPr>
            <a:xfrm>
              <a:off x="459105" y="5074920"/>
              <a:ext cx="1054495" cy="293370"/>
            </a:xfrm>
            <a:prstGeom prst="rect">
              <a:avLst/>
            </a:prstGeom>
            <a:noFill/>
            <a:ln>
              <a:noFill/>
            </a:ln>
          </p:spPr>
          <p:txBody>
            <a:bodyPr wrap="none" lIns="0" tIns="0" rIns="0" bIns="0" anchor="t" anchorCtr="0">
              <a:spAutoFit/>
            </a:bodyPr>
            <a:lstStyle/>
            <a:p>
              <a:pPr algn="l"/>
              <a:r>
                <a:rPr lang="en-IN" sz="1500" dirty="0">
                  <a:solidFill>
                    <a:srgbClr val="A4BBC7"/>
                  </a:solidFill>
                  <a:latin typeface="Segoe UI"/>
                  <a:ea typeface="Segoe UI"/>
                  <a:cs typeface="Segoe UI"/>
                </a:rPr>
                <a:t>BT2024227</a:t>
              </a:r>
            </a:p>
          </p:txBody>
        </p:sp>
      </p:grpSp>
      <p:grpSp>
        <p:nvGrpSpPr>
          <p:cNvPr id="22" name="identity-10"/>
          <p:cNvGrpSpPr/>
          <p:nvPr/>
        </p:nvGrpSpPr>
        <p:grpSpPr>
          <a:xfrm>
            <a:off x="7848981" y="4796409"/>
            <a:ext cx="2839394" cy="352044"/>
            <a:chOff x="7848981" y="4796409"/>
            <a:chExt cx="2839394" cy="352044"/>
          </a:xfrm>
        </p:grpSpPr>
        <p:sp>
          <p:nvSpPr>
            <p:cNvPr id="21" name="TextBox 21"/>
            <p:cNvSpPr txBox="1"/>
            <p:nvPr/>
          </p:nvSpPr>
          <p:spPr>
            <a:xfrm>
              <a:off x="7848981" y="4796409"/>
              <a:ext cx="2839394" cy="352044"/>
            </a:xfrm>
            <a:prstGeom prst="rect">
              <a:avLst/>
            </a:prstGeom>
            <a:noFill/>
            <a:ln>
              <a:noFill/>
            </a:ln>
          </p:spPr>
          <p:txBody>
            <a:bodyPr wrap="none" lIns="0" tIns="0" rIns="0" bIns="0" anchor="t" anchorCtr="0">
              <a:spAutoFit/>
            </a:bodyPr>
            <a:lstStyle/>
            <a:p>
              <a:pPr algn="l"/>
              <a:r>
                <a:rPr lang="en-IN" sz="1800" dirty="0">
                  <a:solidFill>
                    <a:srgbClr val="A4BBC7"/>
                  </a:solidFill>
                  <a:latin typeface="Segoe UI"/>
                  <a:ea typeface="Segoe UI"/>
                  <a:cs typeface="Segoe UI"/>
                </a:rPr>
                <a:t>JavaScript profiles / quiver</a:t>
              </a:r>
            </a:p>
          </p:txBody>
        </p:sp>
      </p:grpSp>
      <p:grpSp>
        <p:nvGrpSpPr>
          <p:cNvPr id="24" name="title-1"/>
          <p:cNvGrpSpPr/>
          <p:nvPr/>
        </p:nvGrpSpPr>
        <p:grpSpPr>
          <a:xfrm>
            <a:off x="419100" y="1328674"/>
            <a:ext cx="4966316" cy="933450"/>
            <a:chOff x="419100" y="1328674"/>
            <a:chExt cx="4966316" cy="933450"/>
          </a:xfrm>
        </p:grpSpPr>
        <p:sp>
          <p:nvSpPr>
            <p:cNvPr id="23" name="TextBox 23"/>
            <p:cNvSpPr txBox="1"/>
            <p:nvPr/>
          </p:nvSpPr>
          <p:spPr>
            <a:xfrm>
              <a:off x="419100" y="1328674"/>
              <a:ext cx="4966316" cy="933450"/>
            </a:xfrm>
            <a:prstGeom prst="rect">
              <a:avLst/>
            </a:prstGeom>
            <a:noFill/>
            <a:ln>
              <a:noFill/>
            </a:ln>
          </p:spPr>
          <p:txBody>
            <a:bodyPr wrap="none" lIns="0" tIns="0" rIns="0" bIns="0" anchor="t" anchorCtr="0">
              <a:spAutoFit/>
            </a:bodyPr>
            <a:lstStyle/>
            <a:p>
              <a:pPr algn="l"/>
              <a:r>
                <a:rPr lang="en-IN" sz="4800" b="1" dirty="0">
                  <a:solidFill>
                    <a:srgbClr val="F5F2EA"/>
                  </a:solidFill>
                  <a:latin typeface="Segoe UI"/>
                  <a:ea typeface="Segoe UI"/>
                  <a:cs typeface="Segoe UI"/>
                </a:rPr>
                <a:t>Team Plot Twist</a:t>
              </a:r>
            </a:p>
          </p:txBody>
        </p:sp>
      </p:grpSp>
      <p:grpSp>
        <p:nvGrpSpPr>
          <p:cNvPr id="26" name="source-1"/>
          <p:cNvGrpSpPr/>
          <p:nvPr/>
        </p:nvGrpSpPr>
        <p:grpSpPr>
          <a:xfrm>
            <a:off x="460629" y="6182106"/>
            <a:ext cx="6071356" cy="234696"/>
            <a:chOff x="460629" y="6182106"/>
            <a:chExt cx="6071356" cy="234696"/>
          </a:xfrm>
        </p:grpSpPr>
        <p:sp>
          <p:nvSpPr>
            <p:cNvPr id="25" name="TextBox 25"/>
            <p:cNvSpPr txBox="1"/>
            <p:nvPr/>
          </p:nvSpPr>
          <p:spPr>
            <a:xfrm>
              <a:off x="460629" y="6182106"/>
              <a:ext cx="6071356" cy="234696"/>
            </a:xfrm>
            <a:prstGeom prst="rect">
              <a:avLst/>
            </a:prstGeom>
            <a:noFill/>
            <a:ln>
              <a:noFill/>
            </a:ln>
          </p:spPr>
          <p:txBody>
            <a:bodyPr wrap="none" lIns="0" tIns="0" rIns="0" bIns="0" anchor="t" anchorCtr="0">
              <a:spAutoFit/>
            </a:bodyPr>
            <a:lstStyle/>
            <a:p>
              <a:pPr algn="l"/>
              <a:r>
                <a:rPr lang="en-IN" sz="1200" dirty="0">
                  <a:solidFill>
                    <a:srgbClr val="A4BBC7"/>
                  </a:solidFill>
                  <a:latin typeface="Segoe UI"/>
                  <a:ea typeface="Segoe UI"/>
                  <a:cs typeface="Segoe UI"/>
                </a:rPr>
                <a:t>OWID / ITU country data • gridMET weather • sources and full methods in the report</a:t>
              </a:r>
            </a:p>
          </p:txBody>
        </p:sp>
      </p:grpSp>
    </p:spTree>
  </p:cSld>
  <p:clrMapOvr>
    <a:masterClrMapping/>
  </p:clrMapOvr>
  <p:transition xmlns:p14="http://schemas.microsoft.com/office/powerpoint/2010/main" p14:dur="300">
    <p:fade/>
  </p:transition>
</p:sld>
</file>

<file path=ppt/theme/theme1.xml><?xml version="1.0" encoding="utf-8"?>
<a:theme xmlns:a="http://schemas.openxmlformats.org/drawingml/2006/main" name="focused_story">
  <a:themeElements>
    <a:clrScheme name="focused_story">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ocused_story">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ocused_sto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focused_story">
  <a:themeElements>
    <a:clrScheme name="focused_story">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ocused_story">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ocused_sto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en-IN</dc:language>
  <cp:lastModifiedBy/>
  <cp:revision>1</cp:revision>
  <dcterms:created xsi:type="dcterms:W3CDTF">2026-10-24T14:51:40Z</dcterms:created>
  <dcterms:modified xsi:type="dcterms:W3CDTF">2026-10-24T14:51:40Z</dcterms:modified>
  <cp:category/>
  <cp:contentStatus/>
</cp:coreProperties>
</file>